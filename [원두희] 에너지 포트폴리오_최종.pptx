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2"/>
  </p:notesMasterIdLst>
  <p:sldIdLst>
    <p:sldId id="256" r:id="rId2"/>
    <p:sldId id="398" r:id="rId3"/>
    <p:sldId id="263" r:id="rId4"/>
    <p:sldId id="399" r:id="rId5"/>
    <p:sldId id="257" r:id="rId6"/>
    <p:sldId id="306" r:id="rId7"/>
    <p:sldId id="258" r:id="rId8"/>
    <p:sldId id="276" r:id="rId9"/>
    <p:sldId id="277" r:id="rId10"/>
    <p:sldId id="260" r:id="rId11"/>
    <p:sldId id="259" r:id="rId12"/>
    <p:sldId id="279" r:id="rId13"/>
    <p:sldId id="280" r:id="rId14"/>
    <p:sldId id="282" r:id="rId15"/>
    <p:sldId id="283" r:id="rId16"/>
    <p:sldId id="304" r:id="rId17"/>
    <p:sldId id="303" r:id="rId18"/>
    <p:sldId id="287" r:id="rId19"/>
    <p:sldId id="288" r:id="rId20"/>
    <p:sldId id="290" r:id="rId21"/>
    <p:sldId id="262" r:id="rId22"/>
    <p:sldId id="272" r:id="rId23"/>
    <p:sldId id="289" r:id="rId24"/>
    <p:sldId id="297" r:id="rId25"/>
    <p:sldId id="298" r:id="rId26"/>
    <p:sldId id="405" r:id="rId27"/>
    <p:sldId id="406" r:id="rId28"/>
    <p:sldId id="407" r:id="rId29"/>
    <p:sldId id="408" r:id="rId30"/>
    <p:sldId id="409" r:id="rId31"/>
    <p:sldId id="299" r:id="rId32"/>
    <p:sldId id="300" r:id="rId33"/>
    <p:sldId id="301" r:id="rId34"/>
    <p:sldId id="305" r:id="rId35"/>
    <p:sldId id="377" r:id="rId36"/>
    <p:sldId id="375" r:id="rId37"/>
    <p:sldId id="378" r:id="rId38"/>
    <p:sldId id="384" r:id="rId39"/>
    <p:sldId id="385" r:id="rId40"/>
    <p:sldId id="386" r:id="rId41"/>
    <p:sldId id="395" r:id="rId42"/>
    <p:sldId id="281" r:id="rId43"/>
    <p:sldId id="284" r:id="rId44"/>
    <p:sldId id="396" r:id="rId45"/>
    <p:sldId id="397" r:id="rId46"/>
    <p:sldId id="400" r:id="rId47"/>
    <p:sldId id="401" r:id="rId48"/>
    <p:sldId id="402" r:id="rId49"/>
    <p:sldId id="403" r:id="rId50"/>
    <p:sldId id="404" r:id="rId51"/>
  </p:sldIdLst>
  <p:sldSz cx="24384000" cy="13716000"/>
  <p:notesSz cx="6858000" cy="9144000"/>
  <p:embeddedFontLst>
    <p:embeddedFont>
      <p:font typeface="Gmarket Sans Bold" panose="020B0600000101010101" charset="-127"/>
      <p:bold r:id="rId53"/>
    </p:embeddedFont>
    <p:embeddedFont>
      <p:font typeface="Pretendard ExtraLight" panose="020B0600000101010101" charset="-127"/>
      <p:regular r:id="rId54"/>
    </p:embeddedFont>
    <p:embeddedFont>
      <p:font typeface="Pretendard Medium" panose="020B0600000101010101" charset="-127"/>
      <p:bold r:id="rId55"/>
    </p:embeddedFont>
    <p:embeddedFont>
      <p:font typeface="Pretendard Regular" panose="020B0600000101010101" charset="-127"/>
      <p:regular r:id="rId56"/>
    </p:embeddedFont>
    <p:embeddedFont>
      <p:font typeface="Pretendard SemiBold" panose="020B0600000101010101" charset="-127"/>
      <p:bold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Noto Sans" panose="020B0502040504020204" pitchFamily="34" charset="0"/>
      <p:regular r:id="rId62"/>
      <p:bold r:id="rId63"/>
      <p:italic r:id="rId64"/>
      <p:boldItalic r:id="rId65"/>
    </p:embeddedFont>
    <p:embeddedFont>
      <p:font typeface="나눔고딕" panose="020D0604000000000000" pitchFamily="50" charset="-127"/>
      <p:regular r:id="rId66"/>
      <p:bold r:id="rId67"/>
    </p:embeddedFont>
    <p:embeddedFont>
      <p:font typeface="맑은 고딕" panose="020B0503020000020004" pitchFamily="50" charset="-127"/>
      <p:regular r:id="rId68"/>
      <p:bold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D3"/>
    <a:srgbClr val="FDEA9D"/>
    <a:srgbClr val="FFFFFF"/>
    <a:srgbClr val="FFDE65"/>
    <a:srgbClr val="D2D2D2"/>
    <a:srgbClr val="D2CDB9"/>
    <a:srgbClr val="D8D8D8"/>
    <a:srgbClr val="8C2828"/>
    <a:srgbClr val="D1D1D1"/>
    <a:srgbClr val="C2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86885" autoAdjust="0"/>
  </p:normalViewPr>
  <p:slideViewPr>
    <p:cSldViewPr>
      <p:cViewPr varScale="1">
        <p:scale>
          <a:sx n="44" d="100"/>
          <a:sy n="44" d="100"/>
        </p:scale>
        <p:origin x="672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E91E6-2E4D-47B7-81DC-8C85D214B0D6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E2CF0-E396-46AF-983E-21BE5E969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33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, </a:t>
            </a:r>
            <a:r>
              <a:rPr lang="ko-KR" altLang="en-US" dirty="0"/>
              <a:t>에너지의 </a:t>
            </a:r>
            <a:r>
              <a:rPr lang="en-US" altLang="ko-KR" dirty="0"/>
              <a:t>"</a:t>
            </a:r>
            <a:r>
              <a:rPr lang="ko-KR" altLang="en-US" dirty="0"/>
              <a:t>양</a:t>
            </a:r>
            <a:r>
              <a:rPr lang="en-US" altLang="ko-KR" dirty="0"/>
              <a:t>"</a:t>
            </a:r>
            <a:r>
              <a:rPr lang="ko-KR" altLang="en-US" dirty="0"/>
              <a:t>이 아닌 </a:t>
            </a:r>
            <a:r>
              <a:rPr lang="en-US" altLang="ko-KR" dirty="0"/>
              <a:t>"</a:t>
            </a:r>
            <a:r>
              <a:rPr lang="ko-KR" altLang="en-US" dirty="0"/>
              <a:t>시간</a:t>
            </a:r>
            <a:r>
              <a:rPr lang="en-US" altLang="ko-KR" dirty="0"/>
              <a:t>"</a:t>
            </a:r>
            <a:r>
              <a:rPr lang="ko-KR" altLang="en-US" dirty="0"/>
              <a:t>을 설계하는 에너지 </a:t>
            </a:r>
            <a:r>
              <a:rPr lang="ko-KR" altLang="en-US" dirty="0" err="1"/>
              <a:t>기획가</a:t>
            </a:r>
            <a:r>
              <a:rPr lang="ko-KR" altLang="en-US" dirty="0"/>
              <a:t> </a:t>
            </a:r>
            <a:r>
              <a:rPr lang="ko-KR" altLang="en-US" dirty="0" err="1"/>
              <a:t>원두희입니다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오늘 발표의 핵심 질문은 **</a:t>
            </a:r>
            <a:r>
              <a:rPr lang="en-US" altLang="ko-KR" dirty="0"/>
              <a:t>"</a:t>
            </a:r>
            <a:r>
              <a:rPr lang="ko-KR" altLang="en-US" dirty="0"/>
              <a:t>전력이 충분한데 왜 위험이 생기는가</a:t>
            </a:r>
            <a:r>
              <a:rPr lang="en-US" altLang="ko-KR" dirty="0"/>
              <a:t>?"**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질문에 대한 답을 </a:t>
            </a:r>
            <a:r>
              <a:rPr lang="ko-KR" altLang="en-US" b="1" dirty="0"/>
              <a:t>시간대 불일치</a:t>
            </a:r>
            <a:r>
              <a:rPr lang="ko-KR" altLang="en-US" dirty="0"/>
              <a:t> 관점에서 제시하겠습니다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492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본격적인 분석에 앞서</a:t>
            </a:r>
            <a:r>
              <a:rPr lang="en-US" altLang="ko-KR" dirty="0"/>
              <a:t>, </a:t>
            </a:r>
            <a:r>
              <a:rPr lang="ko-KR" altLang="en-US" dirty="0"/>
              <a:t>이 발표를 어떤 관점에서 보면 좋을지 정리하겠습니다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전력 문제를 이야기할 때</a:t>
            </a:r>
            <a:r>
              <a:rPr lang="en-US" altLang="ko-KR" dirty="0"/>
              <a:t>, </a:t>
            </a:r>
            <a:r>
              <a:rPr lang="ko-KR" altLang="en-US" dirty="0"/>
              <a:t>우리는 보통 </a:t>
            </a:r>
            <a:r>
              <a:rPr lang="en-US" altLang="ko-KR" dirty="0"/>
              <a:t>"</a:t>
            </a:r>
            <a:r>
              <a:rPr lang="ko-KR" altLang="en-US" dirty="0"/>
              <a:t>얼마나 많이 발전하느냐</a:t>
            </a:r>
            <a:r>
              <a:rPr lang="en-US" altLang="ko-KR" dirty="0"/>
              <a:t>"</a:t>
            </a:r>
            <a:r>
              <a:rPr lang="ko-KR" altLang="en-US" dirty="0"/>
              <a:t>에 집중합니다</a:t>
            </a:r>
            <a:r>
              <a:rPr lang="en-US" altLang="ko-KR" dirty="0"/>
              <a:t>. </a:t>
            </a:r>
            <a:r>
              <a:rPr lang="ko-KR" altLang="en-US" dirty="0"/>
              <a:t>하지만 실제 전력 시스템에서 반복되는 문제는 총량이 아니라 </a:t>
            </a:r>
            <a:r>
              <a:rPr lang="ko-KR" altLang="en-US" b="1" dirty="0"/>
              <a:t>시간대 불일치</a:t>
            </a:r>
            <a:r>
              <a:rPr lang="ko-KR" altLang="en-US" dirty="0"/>
              <a:t>에서 발생합니다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전력 문제는 </a:t>
            </a:r>
            <a:r>
              <a:rPr lang="en-US" altLang="ko-KR" b="1" dirty="0"/>
              <a:t>"</a:t>
            </a:r>
            <a:r>
              <a:rPr lang="ko-KR" altLang="en-US" b="1" dirty="0"/>
              <a:t>얼마나 발전하는가</a:t>
            </a:r>
            <a:r>
              <a:rPr lang="en-US" altLang="ko-KR" b="1" dirty="0"/>
              <a:t>"</a:t>
            </a:r>
            <a:r>
              <a:rPr lang="ko-KR" altLang="en-US" b="1" dirty="0"/>
              <a:t>가 아니라 </a:t>
            </a:r>
            <a:r>
              <a:rPr lang="en-US" altLang="ko-KR" b="1" dirty="0"/>
              <a:t>"</a:t>
            </a:r>
            <a:r>
              <a:rPr lang="ko-KR" altLang="en-US" b="1" dirty="0"/>
              <a:t>언제 겹치지 않는가</a:t>
            </a:r>
            <a:r>
              <a:rPr lang="en-US" altLang="ko-KR" b="1" dirty="0"/>
              <a:t>"</a:t>
            </a:r>
            <a:r>
              <a:rPr lang="ko-KR" altLang="en-US" b="1" dirty="0"/>
              <a:t>의 문제입니다</a:t>
            </a:r>
            <a:r>
              <a:rPr lang="en-US" altLang="ko-KR" b="1" dirty="0"/>
              <a:t>.</a:t>
            </a:r>
            <a:r>
              <a:rPr lang="ko-KR" altLang="en-US" dirty="0"/>
              <a:t> 그래서 이 발표는 총량이나 평균이 아니라 </a:t>
            </a:r>
            <a:r>
              <a:rPr lang="ko-KR" altLang="en-US" b="1" dirty="0"/>
              <a:t>시간대 구조</a:t>
            </a:r>
            <a:r>
              <a:rPr lang="ko-KR" altLang="en-US" dirty="0"/>
              <a:t>를 기준으로 전력 문제를 분석합니다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DC18F-6C87-4510-AFD9-79D0378A704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97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이 분석에서는 평균 수치나 연간 총량을 기준으로 삼지 않았습니다</a:t>
            </a:r>
            <a:r>
              <a:rPr lang="en-US" altLang="ko-KR" dirty="0"/>
              <a:t>. </a:t>
            </a:r>
            <a:r>
              <a:rPr lang="ko-KR" altLang="en-US" dirty="0"/>
              <a:t>수요와 공급을 </a:t>
            </a:r>
            <a:r>
              <a:rPr lang="ko-KR" altLang="en-US" b="1" dirty="0"/>
              <a:t>같은 시간 축에서 겹쳐보고</a:t>
            </a:r>
            <a:r>
              <a:rPr lang="en-US" altLang="ko-KR" dirty="0"/>
              <a:t>, </a:t>
            </a:r>
            <a:r>
              <a:rPr lang="ko-KR" altLang="en-US" dirty="0"/>
              <a:t>실제 운영 부담이 발생하는 특정 시간대에 집중했습니다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분석의 기준은 **</a:t>
            </a:r>
            <a:r>
              <a:rPr lang="en-US" altLang="ko-KR" dirty="0"/>
              <a:t>"</a:t>
            </a:r>
            <a:r>
              <a:rPr lang="ko-KR" altLang="en-US" dirty="0"/>
              <a:t>얼마나</a:t>
            </a:r>
            <a:r>
              <a:rPr lang="en-US" altLang="ko-KR" dirty="0"/>
              <a:t>"</a:t>
            </a:r>
            <a:r>
              <a:rPr lang="ko-KR" altLang="en-US" dirty="0"/>
              <a:t>가 아니라 </a:t>
            </a:r>
            <a:r>
              <a:rPr lang="en-US" altLang="ko-KR" dirty="0"/>
              <a:t>"</a:t>
            </a:r>
            <a:r>
              <a:rPr lang="ko-KR" altLang="en-US" dirty="0"/>
              <a:t>언제 발생하는가</a:t>
            </a:r>
            <a:r>
              <a:rPr lang="en-US" altLang="ko-KR" dirty="0"/>
              <a:t>"**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529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기준으로 보면</a:t>
            </a:r>
            <a:r>
              <a:rPr lang="en-US" altLang="ko-KR" dirty="0"/>
              <a:t>, </a:t>
            </a:r>
            <a:r>
              <a:rPr lang="ko-KR" altLang="en-US" dirty="0"/>
              <a:t>전력 수요는 시간대 성향에 따라 서로 다른 유형으로 나타납니다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Type A</a:t>
            </a:r>
            <a:r>
              <a:rPr lang="en-US" altLang="ko-KR" dirty="0"/>
              <a:t>: </a:t>
            </a:r>
            <a:r>
              <a:rPr lang="ko-KR" altLang="en-US" dirty="0"/>
              <a:t>주간에 전력 사용이 많은 유형</a:t>
            </a:r>
          </a:p>
          <a:p>
            <a:r>
              <a:rPr lang="en-US" altLang="ko-KR" b="1" dirty="0"/>
              <a:t>Type B</a:t>
            </a:r>
            <a:r>
              <a:rPr lang="en-US" altLang="ko-KR" dirty="0"/>
              <a:t>: </a:t>
            </a:r>
            <a:r>
              <a:rPr lang="ko-KR" altLang="en-US" dirty="0"/>
              <a:t>저녁 시간대에 피크가 집중되는 유형</a:t>
            </a:r>
          </a:p>
          <a:p>
            <a:r>
              <a:rPr lang="en-US" altLang="ko-KR" b="1" dirty="0"/>
              <a:t>Type C</a:t>
            </a:r>
            <a:r>
              <a:rPr lang="en-US" altLang="ko-KR" dirty="0"/>
              <a:t>: </a:t>
            </a:r>
            <a:r>
              <a:rPr lang="ko-KR" altLang="en-US" dirty="0"/>
              <a:t>두 특성이 혼재된 유형</a:t>
            </a:r>
          </a:p>
          <a:p>
            <a:r>
              <a:rPr lang="ko-KR" altLang="en-US" dirty="0"/>
              <a:t>이 분류는 이후 분석과 자원 개입 전략을 결정하는 </a:t>
            </a:r>
            <a:r>
              <a:rPr lang="ko-KR" altLang="en-US" b="1" dirty="0"/>
              <a:t>기준 프레임</a:t>
            </a:r>
            <a:r>
              <a:rPr lang="ko-KR" altLang="en-US" dirty="0"/>
              <a:t>으로 사용됩니다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444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이제부터 전력 시스템을 어떻게 진단하고</a:t>
            </a:r>
            <a:r>
              <a:rPr lang="en-US" altLang="ko-KR" dirty="0"/>
              <a:t>, </a:t>
            </a:r>
            <a:r>
              <a:rPr lang="ko-KR" altLang="en-US" dirty="0"/>
              <a:t>어디를 고치고</a:t>
            </a:r>
            <a:r>
              <a:rPr lang="en-US" altLang="ko-KR" dirty="0"/>
              <a:t>, </a:t>
            </a:r>
            <a:r>
              <a:rPr lang="ko-KR" altLang="en-US" dirty="0"/>
              <a:t>어떤 해법을 적용하며</a:t>
            </a:r>
            <a:r>
              <a:rPr lang="en-US" altLang="ko-KR" dirty="0"/>
              <a:t>, </a:t>
            </a:r>
            <a:r>
              <a:rPr lang="ko-KR" altLang="en-US" dirty="0"/>
              <a:t>실제로 효과가 </a:t>
            </a:r>
            <a:r>
              <a:rPr lang="ko-KR" altLang="en-US" dirty="0" err="1"/>
              <a:t>있는지까지</a:t>
            </a:r>
            <a:r>
              <a:rPr lang="ko-KR" altLang="en-US" dirty="0"/>
              <a:t> 살펴보겠습니다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발표는 </a:t>
            </a:r>
            <a:r>
              <a:rPr lang="ko-KR" altLang="en-US" b="1" dirty="0"/>
              <a:t>진단 → 타겟팅 → 솔루션 → 검증 → 결론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단계로 구성됩니다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266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재생에너지</a:t>
            </a:r>
            <a:r>
              <a:rPr lang="en-US" altLang="ko-KR" dirty="0"/>
              <a:t>, </a:t>
            </a:r>
            <a:r>
              <a:rPr lang="ko-KR" altLang="en-US" dirty="0"/>
              <a:t>특히 태양광이 확대되면서 전력 시스템에서는 </a:t>
            </a:r>
            <a:r>
              <a:rPr lang="ko-KR" altLang="en-US" b="1" dirty="0"/>
              <a:t>덕 커브</a:t>
            </a:r>
            <a:r>
              <a:rPr lang="ko-KR" altLang="en-US" dirty="0"/>
              <a:t>라는 현상이 반복적으로 나타납니다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낮 시간대에는 태양광 발전으로 인해 </a:t>
            </a:r>
            <a:r>
              <a:rPr lang="ko-KR" altLang="en-US" b="1" dirty="0" err="1"/>
              <a:t>순부하</a:t>
            </a:r>
            <a:r>
              <a:rPr lang="en-US" altLang="ko-KR" dirty="0"/>
              <a:t>, </a:t>
            </a:r>
            <a:r>
              <a:rPr lang="ko-KR" altLang="en-US" dirty="0"/>
              <a:t>즉 총 부하에서 재생에너지를 뺀 값이 크게 감소합니다</a:t>
            </a:r>
            <a:r>
              <a:rPr lang="en-US" altLang="ko-KR" dirty="0"/>
              <a:t>. </a:t>
            </a:r>
            <a:r>
              <a:rPr lang="ko-KR" altLang="en-US" dirty="0"/>
              <a:t>이 구간이 덕 커브의 </a:t>
            </a:r>
            <a:r>
              <a:rPr lang="en-US" altLang="ko-KR" b="1" dirty="0"/>
              <a:t>Belly</a:t>
            </a:r>
            <a:r>
              <a:rPr lang="en-US" altLang="ko-KR" dirty="0"/>
              <a:t>, </a:t>
            </a:r>
            <a:r>
              <a:rPr lang="ko-KR" altLang="en-US" dirty="0"/>
              <a:t>과잉 공급 구간입니다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문제는 </a:t>
            </a:r>
            <a:r>
              <a:rPr lang="ko-KR" altLang="en-US" b="1" dirty="0"/>
              <a:t>일몰 이후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태양광 기여는 급격히 줄어드는데</a:t>
            </a:r>
            <a:r>
              <a:rPr lang="en-US" altLang="ko-KR" dirty="0"/>
              <a:t>, </a:t>
            </a:r>
            <a:r>
              <a:rPr lang="ko-KR" altLang="en-US" dirty="0"/>
              <a:t>주거 수요를 중심으로 전력 수요는 빠르게 증가합니다</a:t>
            </a:r>
            <a:r>
              <a:rPr lang="en-US" altLang="ko-KR" dirty="0"/>
              <a:t>. </a:t>
            </a:r>
            <a:r>
              <a:rPr lang="ko-KR" altLang="en-US" dirty="0"/>
              <a:t>이때 짧은 시간 안에 대규모 전력 공급 전환이 필요해지고</a:t>
            </a:r>
            <a:r>
              <a:rPr lang="en-US" altLang="ko-KR" dirty="0"/>
              <a:t>, </a:t>
            </a:r>
            <a:r>
              <a:rPr lang="ko-KR" altLang="en-US" dirty="0"/>
              <a:t>이 구간이 바로 </a:t>
            </a:r>
            <a:r>
              <a:rPr lang="en-US" altLang="ko-KR" b="1" dirty="0"/>
              <a:t>Neck</a:t>
            </a:r>
            <a:r>
              <a:rPr lang="en-US" altLang="ko-KR" dirty="0"/>
              <a:t>, </a:t>
            </a:r>
            <a:r>
              <a:rPr lang="ko-KR" altLang="en-US" dirty="0"/>
              <a:t>램프 리스크가 집중되는 구간입니다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중요한 점은 이 문제가 발전량 부족 때문에 생기는 게 아니라는 것입니다</a:t>
            </a:r>
            <a:r>
              <a:rPr lang="en-US" altLang="ko-KR" b="1" dirty="0"/>
              <a:t>.</a:t>
            </a:r>
            <a:r>
              <a:rPr lang="ko-KR" altLang="en-US" dirty="0"/>
              <a:t> 덕 커브의 본질은 전력 수요와 발전이 </a:t>
            </a:r>
            <a:r>
              <a:rPr lang="ko-KR" altLang="en-US" b="1" dirty="0"/>
              <a:t>시간대에서 어긋난 구조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b="1" dirty="0"/>
              <a:t>Time Mismatch</a:t>
            </a:r>
            <a:r>
              <a:rPr lang="ko-KR" altLang="en-US" dirty="0"/>
              <a:t>에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덕 커브는 태양광의 실패가 아니라</a:t>
            </a:r>
            <a:r>
              <a:rPr lang="en-US" altLang="ko-KR" dirty="0"/>
              <a:t>, </a:t>
            </a:r>
            <a:r>
              <a:rPr lang="ko-KR" altLang="en-US" b="1" dirty="0"/>
              <a:t>전력 시스템의 운영 방식이 바뀌어야 한다는 신호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456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이 문제를 어떻게 분석했는지 간단히 보여드리겠습니다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프로젝트는 단순히 전력 수급의 총량을 보는 분석이 아니라</a:t>
            </a:r>
            <a:r>
              <a:rPr lang="en-US" altLang="ko-KR" dirty="0"/>
              <a:t>, </a:t>
            </a:r>
            <a:r>
              <a:rPr lang="ko-KR" altLang="en-US" b="1" dirty="0"/>
              <a:t>시간대 구조 변화가 실제 운영 리스크로 어떻게 이어지는지</a:t>
            </a:r>
            <a:r>
              <a:rPr lang="ko-KR" altLang="en-US" dirty="0"/>
              <a:t>를 보기 위한 데이터 기반 진단 프레임워크입니다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입력 데이터로는 </a:t>
            </a:r>
            <a:r>
              <a:rPr lang="ko-KR" altLang="en-US" b="1" dirty="0"/>
              <a:t>서울 열린 데이터 광장의 법정동별 시간별 전력사용량</a:t>
            </a:r>
            <a:r>
              <a:rPr lang="ko-KR" altLang="en-US" dirty="0"/>
              <a:t> 데이터를 사용했고</a:t>
            </a:r>
            <a:r>
              <a:rPr lang="en-US" altLang="ko-KR" dirty="0"/>
              <a:t>, </a:t>
            </a:r>
            <a:r>
              <a:rPr lang="ko-KR" altLang="en-US" dirty="0"/>
              <a:t>태양광은 실측치가 아닌 </a:t>
            </a:r>
            <a:r>
              <a:rPr lang="ko-KR" altLang="en-US" b="1" dirty="0"/>
              <a:t>이론적 시간대 발전 패턴</a:t>
            </a:r>
            <a:r>
              <a:rPr lang="ko-KR" altLang="en-US" dirty="0"/>
              <a:t>을 정의해 사용했습니다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한 이유는 실제 발전량을 맞추기보다는 </a:t>
            </a:r>
            <a:r>
              <a:rPr lang="ko-KR" altLang="en-US" b="1" dirty="0"/>
              <a:t>시간대 구조가 어떻게 변하는지</a:t>
            </a:r>
            <a:r>
              <a:rPr lang="ko-KR" altLang="en-US" dirty="0"/>
              <a:t>를 보는 것이 목적이었기 때문입니다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정리하면</a:t>
            </a:r>
            <a:r>
              <a:rPr lang="en-US" altLang="ko-KR" dirty="0"/>
              <a:t>, </a:t>
            </a:r>
            <a:r>
              <a:rPr lang="ko-KR" altLang="en-US" dirty="0"/>
              <a:t>이 프로젝트의 목표는 **</a:t>
            </a:r>
            <a:r>
              <a:rPr lang="en-US" altLang="ko-KR" dirty="0"/>
              <a:t>"</a:t>
            </a:r>
            <a:r>
              <a:rPr lang="ko-KR" altLang="en-US" dirty="0"/>
              <a:t>얼마나 발전하느냐</a:t>
            </a:r>
            <a:r>
              <a:rPr lang="en-US" altLang="ko-KR" dirty="0"/>
              <a:t>"</a:t>
            </a:r>
            <a:r>
              <a:rPr lang="ko-KR" altLang="en-US" dirty="0"/>
              <a:t>가 아니라 </a:t>
            </a:r>
            <a:r>
              <a:rPr lang="en-US" altLang="ko-KR" dirty="0"/>
              <a:t>"</a:t>
            </a:r>
            <a:r>
              <a:rPr lang="ko-KR" altLang="en-US" dirty="0"/>
              <a:t>언제 부담이 발생하느냐</a:t>
            </a:r>
            <a:r>
              <a:rPr lang="en-US" altLang="ko-KR" dirty="0"/>
              <a:t>"**</a:t>
            </a:r>
            <a:r>
              <a:rPr lang="ko-KR" altLang="en-US" dirty="0"/>
              <a:t>를 기준으로 전력 시스템 리스크를 해석하는 프레임워크를 제시하는 것입니다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59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2E317-F59B-F5EE-9D10-75A7DD2C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B4982B-8EA6-AD7A-238E-EC35FF99F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102CD3-6004-57AD-6367-1CD7ACB5B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덕 커브는 단순히 전력이 남고 부족한 문제가 아니라</a:t>
            </a:r>
            <a:r>
              <a:rPr lang="en-US" altLang="ko-KR" dirty="0"/>
              <a:t>, </a:t>
            </a:r>
            <a:r>
              <a:rPr lang="ko-KR" altLang="en-US" b="1" dirty="0"/>
              <a:t>물리</a:t>
            </a:r>
            <a:r>
              <a:rPr lang="en-US" altLang="ko-KR" b="1" dirty="0"/>
              <a:t>·</a:t>
            </a:r>
            <a:r>
              <a:rPr lang="ko-KR" altLang="en-US" b="1" dirty="0"/>
              <a:t>계통</a:t>
            </a:r>
            <a:r>
              <a:rPr lang="en-US" altLang="ko-KR" b="1" dirty="0"/>
              <a:t>·</a:t>
            </a:r>
            <a:r>
              <a:rPr lang="ko-KR" altLang="en-US" b="1" dirty="0"/>
              <a:t>경제 리스크가 동시에 중첩된 현상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물리적 차원</a:t>
            </a:r>
            <a:r>
              <a:rPr lang="en-US" altLang="ko-KR" dirty="0"/>
              <a:t>: </a:t>
            </a:r>
            <a:r>
              <a:rPr lang="ko-KR" altLang="en-US" dirty="0"/>
              <a:t>낮에는 과잉 발전과 출력 제한</a:t>
            </a:r>
            <a:r>
              <a:rPr lang="en-US" altLang="ko-KR" dirty="0"/>
              <a:t>, </a:t>
            </a:r>
            <a:r>
              <a:rPr lang="ko-KR" altLang="en-US" dirty="0"/>
              <a:t>저녁에는 급격한 피크</a:t>
            </a:r>
          </a:p>
          <a:p>
            <a:r>
              <a:rPr lang="ko-KR" altLang="en-US" b="1" dirty="0"/>
              <a:t>계통 차원</a:t>
            </a:r>
            <a:r>
              <a:rPr lang="en-US" altLang="ko-KR" dirty="0"/>
              <a:t>: </a:t>
            </a:r>
            <a:r>
              <a:rPr lang="ko-KR" altLang="en-US" dirty="0"/>
              <a:t>동기 발전기 출력 감소 → 관성 감소</a:t>
            </a:r>
            <a:r>
              <a:rPr lang="en-US" altLang="ko-KR" dirty="0"/>
              <a:t>, </a:t>
            </a:r>
            <a:r>
              <a:rPr lang="ko-KR" altLang="en-US" dirty="0"/>
              <a:t>주파수 변동 위험</a:t>
            </a:r>
          </a:p>
          <a:p>
            <a:r>
              <a:rPr lang="ko-KR" altLang="en-US" b="1" dirty="0"/>
              <a:t>경제적 차원</a:t>
            </a:r>
            <a:r>
              <a:rPr lang="en-US" altLang="ko-KR" dirty="0"/>
              <a:t>: </a:t>
            </a:r>
            <a:r>
              <a:rPr lang="ko-KR" altLang="en-US" dirty="0"/>
              <a:t>과잉 구간에서 전력 가격 급락</a:t>
            </a:r>
            <a:r>
              <a:rPr lang="en-US" altLang="ko-KR" dirty="0"/>
              <a:t>, </a:t>
            </a:r>
            <a:r>
              <a:rPr lang="ko-KR" altLang="en-US" dirty="0"/>
              <a:t>유연성 자원 투자 유인 약화</a:t>
            </a:r>
          </a:p>
          <a:p>
            <a:r>
              <a:rPr lang="ko-KR" altLang="en-US" dirty="0"/>
              <a:t>정리하면</a:t>
            </a:r>
            <a:r>
              <a:rPr lang="en-US" altLang="ko-KR" dirty="0"/>
              <a:t>, </a:t>
            </a:r>
            <a:r>
              <a:rPr lang="ko-KR" altLang="en-US" dirty="0"/>
              <a:t>덕 커브는 단순한 수급 불균형이 아니라 </a:t>
            </a:r>
            <a:r>
              <a:rPr lang="ko-KR" altLang="en-US" b="1" dirty="0"/>
              <a:t>복합 리스크로 재정의</a:t>
            </a:r>
            <a:r>
              <a:rPr lang="ko-KR" altLang="en-US" dirty="0"/>
              <a:t>되어야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131643-503F-EDA4-621C-23F9B25F5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359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분석은 서울시 </a:t>
            </a:r>
            <a:r>
              <a:rPr lang="ko-KR" altLang="en-US" dirty="0" err="1"/>
              <a:t>법정동</a:t>
            </a:r>
            <a:r>
              <a:rPr lang="ko-KR" altLang="en-US" dirty="0"/>
              <a:t> 단위의 시간대 전력 데이터를 기반으로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시간 해상도의 시계열 패턴을 보기 위한 환경에서 수행했습니다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이후 그래프들은 모두 이 구조 위에서 해석됩니다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82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분석의 핵심은 **</a:t>
            </a:r>
            <a:r>
              <a:rPr lang="ko-KR" altLang="en-US" dirty="0" err="1"/>
              <a:t>순부하</a:t>
            </a:r>
            <a:r>
              <a:rPr lang="en-US" altLang="ko-KR" dirty="0"/>
              <a:t>(Net Load)**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전체 전력 수요에서 시간대별 태양광 기여를 차감한 값입니다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 태양광 실측 데이터는 시간 해상도나 지역 </a:t>
            </a:r>
            <a:r>
              <a:rPr lang="ko-KR" altLang="en-US" dirty="0" err="1"/>
              <a:t>커버리지에</a:t>
            </a:r>
            <a:r>
              <a:rPr lang="ko-KR" altLang="en-US" dirty="0"/>
              <a:t> 한계가 있기 때문에</a:t>
            </a:r>
            <a:r>
              <a:rPr lang="en-US" altLang="ko-KR" dirty="0"/>
              <a:t>, </a:t>
            </a:r>
            <a:r>
              <a:rPr lang="ko-KR" altLang="en-US" dirty="0"/>
              <a:t>저는 </a:t>
            </a:r>
            <a:r>
              <a:rPr lang="ko-KR" altLang="en-US" b="1" dirty="0" err="1"/>
              <a:t>가우시안</a:t>
            </a:r>
            <a:r>
              <a:rPr lang="ko-KR" altLang="en-US" b="1" dirty="0"/>
              <a:t> 분포</a:t>
            </a:r>
            <a:r>
              <a:rPr lang="ko-KR" altLang="en-US" dirty="0"/>
              <a:t>를 활용해 이론적인 태양광 시간대 패턴을 모델링했습니다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모델은 총량 예측이 아니라 </a:t>
            </a:r>
            <a:r>
              <a:rPr lang="ko-KR" altLang="en-US" b="1" dirty="0"/>
              <a:t>시간대 구조 비교</a:t>
            </a:r>
            <a:r>
              <a:rPr lang="ko-KR" altLang="en-US" dirty="0"/>
              <a:t>를 위한 것입니다</a:t>
            </a:r>
            <a:r>
              <a:rPr lang="en-US" altLang="ko-KR" dirty="0"/>
              <a:t>. </a:t>
            </a:r>
            <a:r>
              <a:rPr lang="ko-KR" altLang="en-US" dirty="0"/>
              <a:t>피크 부하 기준으로 </a:t>
            </a:r>
            <a:r>
              <a:rPr lang="ko-KR" altLang="en-US" dirty="0" err="1"/>
              <a:t>침투율</a:t>
            </a:r>
            <a:r>
              <a:rPr lang="ko-KR" altLang="en-US" dirty="0"/>
              <a:t> </a:t>
            </a:r>
            <a:r>
              <a:rPr lang="en-US" altLang="ko-KR" dirty="0"/>
              <a:t>20~40% </a:t>
            </a:r>
            <a:r>
              <a:rPr lang="ko-KR" altLang="en-US" dirty="0"/>
              <a:t>시나리오를 구성하고</a:t>
            </a:r>
            <a:r>
              <a:rPr lang="en-US" altLang="ko-KR" dirty="0"/>
              <a:t>, </a:t>
            </a:r>
            <a:r>
              <a:rPr lang="ko-KR" altLang="en-US" dirty="0"/>
              <a:t>각 시나리오별 덕 커브 형태와 </a:t>
            </a:r>
            <a:r>
              <a:rPr lang="ko-KR" altLang="en-US" dirty="0" err="1"/>
              <a:t>램핑</a:t>
            </a:r>
            <a:r>
              <a:rPr lang="ko-KR" altLang="en-US" dirty="0"/>
              <a:t> 리스크 변화를 분석했습니다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490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본격적인 시뮬레이션에 앞서 태양광 개입 이전의 기준 부하 구조를 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그래프는 서울시 전체 행정동의 시간대별 평균 전력 사용 패턴입니다</a:t>
            </a:r>
            <a:r>
              <a:rPr lang="en-US" altLang="ko-KR" dirty="0"/>
              <a:t>. </a:t>
            </a:r>
            <a:r>
              <a:rPr lang="ko-KR" altLang="en-US" dirty="0"/>
              <a:t>새벽 </a:t>
            </a:r>
            <a:r>
              <a:rPr lang="en-US" altLang="ko-KR" dirty="0"/>
              <a:t>3-5</a:t>
            </a:r>
            <a:r>
              <a:rPr lang="ko-KR" altLang="en-US" dirty="0"/>
              <a:t>시 사이에 가장 낮은 부하가 형성되고</a:t>
            </a:r>
            <a:r>
              <a:rPr lang="en-US" altLang="ko-KR" dirty="0"/>
              <a:t>, </a:t>
            </a:r>
            <a:r>
              <a:rPr lang="ko-KR" altLang="en-US" dirty="0"/>
              <a:t>이후 오전과 저녁에 두 개의 완만한 피크가 나타납니다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형태를 </a:t>
            </a:r>
            <a:r>
              <a:rPr lang="ko-KR" altLang="en-US" b="1" dirty="0" err="1"/>
              <a:t>낙타등</a:t>
            </a:r>
            <a:r>
              <a:rPr lang="en-US" altLang="ko-KR" b="1" dirty="0"/>
              <a:t>(Camel Back) </a:t>
            </a:r>
            <a:r>
              <a:rPr lang="ko-KR" altLang="en-US" b="1" dirty="0"/>
              <a:t>패턴</a:t>
            </a:r>
            <a:r>
              <a:rPr lang="ko-KR" altLang="en-US" dirty="0"/>
              <a:t>이라고 부르는데</a:t>
            </a:r>
            <a:r>
              <a:rPr lang="en-US" altLang="ko-KR" dirty="0"/>
              <a:t>, </a:t>
            </a:r>
            <a:r>
              <a:rPr lang="ko-KR" altLang="en-US" dirty="0"/>
              <a:t>아직은 전력 시스템이 비교적 안정적으로 운영되는 구조입니다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태양광 발전이 집중되는 </a:t>
            </a:r>
            <a:r>
              <a:rPr lang="en-US" altLang="ko-KR" b="1" dirty="0"/>
              <a:t>11-15</a:t>
            </a:r>
            <a:r>
              <a:rPr lang="ko-KR" altLang="en-US" b="1" dirty="0"/>
              <a:t>시 구간</a:t>
            </a:r>
            <a:r>
              <a:rPr lang="ko-KR" altLang="en-US" dirty="0"/>
              <a:t>은 이후 </a:t>
            </a:r>
            <a:r>
              <a:rPr lang="ko-KR" altLang="en-US" dirty="0" err="1"/>
              <a:t>순부하</a:t>
            </a:r>
            <a:r>
              <a:rPr lang="ko-KR" altLang="en-US" dirty="0"/>
              <a:t> 구조가 크게 변하는 핵심 타겟 구간입니다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968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424A-350D-8415-26F8-69BD3D4E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4F2D38-D108-9CAF-3796-8D28E22E4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53D40-742A-5D5E-C768-E96DA122A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태양광 침투율이 증가했을 때 </a:t>
            </a:r>
            <a:r>
              <a:rPr lang="ko-KR" altLang="en-US" dirty="0" err="1"/>
              <a:t>순부하</a:t>
            </a:r>
            <a:r>
              <a:rPr lang="ko-KR" altLang="en-US" dirty="0"/>
              <a:t> 구조가 어떻게 변하는지 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검은 점선은 태양광 개입 이전의 기준 부하이고</a:t>
            </a:r>
            <a:r>
              <a:rPr lang="en-US" altLang="ko-KR" dirty="0"/>
              <a:t>, </a:t>
            </a:r>
            <a:r>
              <a:rPr lang="ko-KR" altLang="en-US" dirty="0"/>
              <a:t>색깔 선들은 태양광 비중이 </a:t>
            </a:r>
            <a:r>
              <a:rPr lang="en-US" altLang="ko-KR" dirty="0"/>
              <a:t>20%, 30%, 40%</a:t>
            </a:r>
            <a:r>
              <a:rPr lang="ko-KR" altLang="en-US" dirty="0"/>
              <a:t>로 증가했을 때의 순부하입니다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보시는 것처럼 태양광 비중이 증가할수록 </a:t>
            </a:r>
            <a:r>
              <a:rPr lang="ko-KR" altLang="en-US" b="1" dirty="0"/>
              <a:t>낮 시간대 순부하가 점점 더 크게 감소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b="1" dirty="0"/>
              <a:t>40% </a:t>
            </a:r>
            <a:r>
              <a:rPr lang="ko-KR" altLang="en-US" b="1" dirty="0"/>
              <a:t>시나리오</a:t>
            </a:r>
            <a:r>
              <a:rPr lang="ko-KR" altLang="en-US" dirty="0"/>
              <a:t>에서는 오전 </a:t>
            </a:r>
            <a:r>
              <a:rPr lang="en-US" altLang="ko-KR" dirty="0"/>
              <a:t>11</a:t>
            </a:r>
            <a:r>
              <a:rPr lang="ko-KR" altLang="en-US" dirty="0"/>
              <a:t>시에서 오후 </a:t>
            </a:r>
            <a:r>
              <a:rPr lang="en-US" altLang="ko-KR" dirty="0"/>
              <a:t>2</a:t>
            </a:r>
            <a:r>
              <a:rPr lang="ko-KR" altLang="en-US" dirty="0"/>
              <a:t>시 사이에 순부하가 급격히 소멸되면서 </a:t>
            </a:r>
            <a:r>
              <a:rPr lang="ko-KR" altLang="en-US" b="1" dirty="0"/>
              <a:t>오리 배 구간</a:t>
            </a:r>
            <a:r>
              <a:rPr lang="ko-KR" altLang="en-US" dirty="0"/>
              <a:t>이 형성됩니다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현상은 단순히 전력이 남는 문제가 아니라</a:t>
            </a:r>
            <a:r>
              <a:rPr lang="en-US" altLang="ko-KR" dirty="0"/>
              <a:t>, </a:t>
            </a:r>
            <a:r>
              <a:rPr lang="ko-KR" altLang="en-US" b="1" dirty="0"/>
              <a:t>기저발전기가 최소 출력 이하로 내려가야 하는 운영 리스크</a:t>
            </a:r>
            <a:r>
              <a:rPr lang="ko-KR" altLang="en-US" dirty="0"/>
              <a:t>를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태양광 침투가 일정 수준을 넘어서면 계통은 점점 더 </a:t>
            </a:r>
            <a:r>
              <a:rPr lang="ko-KR" altLang="en-US" b="1" dirty="0"/>
              <a:t>운영하기 어려운 구조</a:t>
            </a:r>
            <a:r>
              <a:rPr lang="ko-KR" altLang="en-US" dirty="0"/>
              <a:t>로 변하게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3BCCF-842A-F48E-3F08-F2DD3B63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386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424A-350D-8415-26F8-69BD3D4E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4F2D38-D108-9CAF-3796-8D28E22E4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53D40-742A-5D5E-C768-E96DA122A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앞에서는 낮 시간대의 </a:t>
            </a:r>
            <a:r>
              <a:rPr lang="ko-KR" altLang="en-US" dirty="0" err="1"/>
              <a:t>순부하</a:t>
            </a:r>
            <a:r>
              <a:rPr lang="ko-KR" altLang="en-US" dirty="0"/>
              <a:t> 소멸을 봤다면</a:t>
            </a:r>
            <a:r>
              <a:rPr lang="en-US" altLang="ko-KR" dirty="0"/>
              <a:t>, </a:t>
            </a:r>
            <a:r>
              <a:rPr lang="ko-KR" altLang="en-US" dirty="0"/>
              <a:t>이번에는 </a:t>
            </a:r>
            <a:r>
              <a:rPr lang="ko-KR" altLang="en-US" b="1" dirty="0"/>
              <a:t>저녁 시간대에 나타나는 가장 위험한 구간</a:t>
            </a:r>
            <a:r>
              <a:rPr lang="ko-KR" altLang="en-US" dirty="0"/>
              <a:t>을 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회색으로 표시된 </a:t>
            </a:r>
            <a:r>
              <a:rPr lang="en-US" altLang="ko-KR" b="1" dirty="0"/>
              <a:t>18-22</a:t>
            </a:r>
            <a:r>
              <a:rPr lang="ko-KR" altLang="en-US" b="1" dirty="0"/>
              <a:t>시 사이</a:t>
            </a:r>
            <a:r>
              <a:rPr lang="ko-KR" altLang="en-US" dirty="0"/>
              <a:t>가 이른바 </a:t>
            </a:r>
            <a:r>
              <a:rPr lang="ko-KR" altLang="en-US" b="1" dirty="0" err="1"/>
              <a:t>램핑</a:t>
            </a:r>
            <a:r>
              <a:rPr lang="ko-KR" altLang="en-US" b="1" dirty="0"/>
              <a:t> 구간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태양광 출력은 빠르게 사라지는데</a:t>
            </a:r>
            <a:r>
              <a:rPr lang="en-US" altLang="ko-KR" dirty="0"/>
              <a:t>, </a:t>
            </a:r>
            <a:r>
              <a:rPr lang="ko-KR" altLang="en-US" dirty="0"/>
              <a:t>전력 수요는 퇴근시간과 함께 급격히 증가합니다</a:t>
            </a:r>
            <a:r>
              <a:rPr lang="en-US" altLang="ko-KR" dirty="0"/>
              <a:t>. </a:t>
            </a:r>
            <a:r>
              <a:rPr lang="ko-KR" altLang="en-US" dirty="0"/>
              <a:t>이 두 현상이 동시에 발생하면서 순부하가 매우 짧은 시간 안에 급격히 상승합니다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문제는 이게 단순히 전력이 부족하다는 문제가 아니라</a:t>
            </a:r>
            <a:r>
              <a:rPr lang="en-US" altLang="ko-KR" dirty="0"/>
              <a:t>, </a:t>
            </a:r>
            <a:r>
              <a:rPr lang="ko-KR" altLang="en-US" b="1" dirty="0"/>
              <a:t>얼마나 빨리 대응할 수 있느냐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b="1" dirty="0"/>
              <a:t>속도의 문제</a:t>
            </a:r>
            <a:r>
              <a:rPr lang="ko-KR" altLang="en-US" dirty="0"/>
              <a:t>라는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속도를 따라가지 못하면 주파수 불안정으로 이어지고</a:t>
            </a:r>
            <a:r>
              <a:rPr lang="en-US" altLang="ko-KR" dirty="0"/>
              <a:t>, </a:t>
            </a:r>
            <a:r>
              <a:rPr lang="ko-KR" altLang="en-US" dirty="0"/>
              <a:t>최악의 경우 </a:t>
            </a:r>
            <a:r>
              <a:rPr lang="ko-KR" altLang="en-US" b="1" dirty="0"/>
              <a:t>정전 리스크</a:t>
            </a:r>
            <a:r>
              <a:rPr lang="ko-KR" altLang="en-US" dirty="0"/>
              <a:t>로 직결됩니다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3BCCF-842A-F48E-3F08-F2DD3B63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027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424A-350D-8415-26F8-69BD3D4E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4F2D38-D108-9CAF-3796-8D28E22E4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53D40-742A-5D5E-C768-E96DA122A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ko-KR" altLang="en-US" dirty="0" err="1"/>
              <a:t>램핑을</a:t>
            </a:r>
            <a:r>
              <a:rPr lang="ko-KR" altLang="en-US" dirty="0"/>
              <a:t> </a:t>
            </a:r>
            <a:r>
              <a:rPr lang="ko-KR" altLang="en-US" b="1" dirty="0"/>
              <a:t>속도 관점</a:t>
            </a:r>
            <a:r>
              <a:rPr lang="ko-KR" altLang="en-US" dirty="0"/>
              <a:t>에서 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그래프는 시간대별 </a:t>
            </a:r>
            <a:r>
              <a:rPr lang="ko-KR" altLang="en-US" dirty="0" err="1"/>
              <a:t>순부하</a:t>
            </a:r>
            <a:r>
              <a:rPr lang="ko-KR" altLang="en-US" dirty="0"/>
              <a:t> 증가 속도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b="1" dirty="0"/>
              <a:t>시간당 얼마나 빠르게 부하가 변하는지</a:t>
            </a:r>
            <a:r>
              <a:rPr lang="ko-KR" altLang="en-US" dirty="0"/>
              <a:t>를 나타냅니다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일몰 이후 </a:t>
            </a:r>
            <a:r>
              <a:rPr lang="en-US" altLang="ko-KR" dirty="0"/>
              <a:t>18-22</a:t>
            </a:r>
            <a:r>
              <a:rPr lang="ko-KR" altLang="en-US" dirty="0"/>
              <a:t>시 사이에 </a:t>
            </a:r>
            <a:r>
              <a:rPr lang="ko-KR" altLang="en-US" dirty="0" err="1"/>
              <a:t>램핑</a:t>
            </a:r>
            <a:r>
              <a:rPr lang="ko-KR" altLang="en-US" dirty="0"/>
              <a:t> 속도가 특정 시간대에 집중됩니다</a:t>
            </a:r>
            <a:r>
              <a:rPr lang="en-US" altLang="ko-KR" dirty="0"/>
              <a:t>. </a:t>
            </a:r>
            <a:r>
              <a:rPr lang="ko-KR" altLang="en-US" dirty="0"/>
              <a:t>중요한 점은 문제가 전체 부하의 크기가 아니라 </a:t>
            </a:r>
            <a:r>
              <a:rPr lang="ko-KR" altLang="en-US" b="1" dirty="0"/>
              <a:t>단위 시간당 변화량</a:t>
            </a:r>
            <a:r>
              <a:rPr lang="en-US" altLang="ko-KR" b="1" dirty="0"/>
              <a:t>, </a:t>
            </a:r>
            <a:r>
              <a:rPr lang="ko-KR" altLang="en-US" b="1" dirty="0"/>
              <a:t>즉 속도</a:t>
            </a:r>
            <a:r>
              <a:rPr lang="ko-KR" altLang="en-US" dirty="0"/>
              <a:t>라는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결국 </a:t>
            </a:r>
            <a:r>
              <a:rPr lang="en-US" altLang="ko-KR" b="1" dirty="0"/>
              <a:t>Evening Ramp </a:t>
            </a:r>
            <a:r>
              <a:rPr lang="ko-KR" altLang="en-US" b="1" dirty="0"/>
              <a:t>리스크는 발전 용량의 문제가 아니라</a:t>
            </a:r>
            <a:r>
              <a:rPr lang="en-US" altLang="ko-KR" b="1" dirty="0"/>
              <a:t>, </a:t>
            </a:r>
            <a:r>
              <a:rPr lang="ko-KR" altLang="en-US" b="1" dirty="0"/>
              <a:t>계통이 감당할 수 있는 출력 상승 속도의 문제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3BCCF-842A-F48E-3F08-F2DD3B63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629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 분석한 내용을 한 문장으로 정리하면</a:t>
            </a:r>
            <a:r>
              <a:rPr lang="en-US" altLang="ko-KR" dirty="0"/>
              <a:t>, </a:t>
            </a:r>
            <a:r>
              <a:rPr lang="en-US" altLang="ko-KR" b="1" dirty="0"/>
              <a:t>Evening Ramp </a:t>
            </a:r>
            <a:r>
              <a:rPr lang="ko-KR" altLang="en-US" b="1" dirty="0"/>
              <a:t>리스크는 양의 문제가 아니라 속도와 전환의 문제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우리가 관측한 현상입니다</a:t>
            </a:r>
            <a:r>
              <a:rPr lang="en-US" altLang="ko-KR" dirty="0"/>
              <a:t>. </a:t>
            </a:r>
            <a:r>
              <a:rPr lang="ko-KR" altLang="en-US" dirty="0"/>
              <a:t>일몰 전후 태양광 출력은 빠르게 감소하지만 전력 수요는 그대로 유지되거나 오히려 증가합니다</a:t>
            </a:r>
            <a:r>
              <a:rPr lang="en-US" altLang="ko-KR" dirty="0"/>
              <a:t>. </a:t>
            </a:r>
            <a:r>
              <a:rPr lang="ko-KR" altLang="en-US" dirty="0"/>
              <a:t>이로 인해 짧은 시간 안에 순부하가 급격히 상승하는 </a:t>
            </a:r>
            <a:r>
              <a:rPr lang="ko-KR" altLang="en-US" b="1" dirty="0"/>
              <a:t>램프 현상</a:t>
            </a:r>
            <a:r>
              <a:rPr lang="ko-KR" altLang="en-US" dirty="0"/>
              <a:t>이 나타납니다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문제가 심각해지는 지점은 </a:t>
            </a:r>
            <a:r>
              <a:rPr lang="en-US" altLang="ko-KR" b="1" dirty="0"/>
              <a:t>17-18</a:t>
            </a:r>
            <a:r>
              <a:rPr lang="ko-KR" altLang="en-US" b="1" dirty="0"/>
              <a:t>시 사이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시간대에는 계통의 제어 방향이 출력 억제에서 출력 급상승 대응으로 순간적으로 전환됩니다</a:t>
            </a:r>
            <a:r>
              <a:rPr lang="en-US" altLang="ko-KR" dirty="0"/>
              <a:t>. </a:t>
            </a:r>
            <a:r>
              <a:rPr lang="ko-KR" altLang="en-US" dirty="0"/>
              <a:t>이 구간이 계통 운영의 </a:t>
            </a:r>
            <a:r>
              <a:rPr lang="en-US" altLang="ko-KR" b="1" dirty="0"/>
              <a:t>Breaking Point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본질적인 리스크는 전력이 얼마나 필요한가가 아니라 </a:t>
            </a:r>
            <a:r>
              <a:rPr lang="ko-KR" altLang="en-US" b="1" dirty="0"/>
              <a:t>얼마나 빠르게 대응할 수 </a:t>
            </a:r>
            <a:r>
              <a:rPr lang="ko-KR" altLang="en-US" b="1" dirty="0" err="1"/>
              <a:t>있는가</a:t>
            </a:r>
            <a:r>
              <a:rPr lang="ko-KR" altLang="en-US" dirty="0" err="1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지점에서 필요한 것은 단순한 발전량 확충이 아니라 </a:t>
            </a:r>
            <a:r>
              <a:rPr lang="ko-KR" altLang="en-US" b="1" dirty="0"/>
              <a:t>속도 기반으로 설계된 운영 전략과 유연성 자원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953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이제부터 제가 사용하는 핵심 개념 하나를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 </a:t>
            </a:r>
            <a:r>
              <a:rPr lang="ko-KR" altLang="en-US" dirty="0"/>
              <a:t>바로 </a:t>
            </a:r>
            <a:r>
              <a:rPr lang="ko-KR" altLang="en-US" b="1" dirty="0"/>
              <a:t>에너지 페르소나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일반적으로 에너지 문제는 설비 용량의 문제로 접근하는 경우가 많지만</a:t>
            </a:r>
            <a:r>
              <a:rPr lang="en-US" altLang="ko-KR" dirty="0"/>
              <a:t>, </a:t>
            </a:r>
            <a:r>
              <a:rPr lang="ko-KR" altLang="en-US" dirty="0"/>
              <a:t>실제 데이터를 보면 문제는 설비 총량보다 </a:t>
            </a:r>
            <a:r>
              <a:rPr lang="ko-KR" altLang="en-US" b="1" dirty="0"/>
              <a:t>전력이 언제 사용되느냐</a:t>
            </a:r>
            <a:r>
              <a:rPr lang="en-US" altLang="ko-KR" dirty="0"/>
              <a:t>, </a:t>
            </a:r>
            <a:r>
              <a:rPr lang="ko-KR" altLang="en-US" dirty="0"/>
              <a:t>즉 시간대 구조에서 발생합니다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같은 설비라도 </a:t>
            </a:r>
            <a:r>
              <a:rPr lang="ko-KR" altLang="en-US" b="1" dirty="0"/>
              <a:t>낮에 전기를 많이 쓰는 지역</a:t>
            </a:r>
            <a:r>
              <a:rPr lang="ko-KR" altLang="en-US" dirty="0"/>
              <a:t>과 </a:t>
            </a:r>
            <a:r>
              <a:rPr lang="ko-KR" altLang="en-US" b="1" dirty="0"/>
              <a:t>저녁에 전력이 몰리는 지역</a:t>
            </a:r>
            <a:r>
              <a:rPr lang="ko-KR" altLang="en-US" dirty="0"/>
              <a:t>에서는 효과가 완전히 다르게 나타납니다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저는 서울시를 설비 기준이 아니라 </a:t>
            </a:r>
            <a:r>
              <a:rPr lang="ko-KR" altLang="en-US" b="1" dirty="0"/>
              <a:t>전력 사용 시간대 구조 기준</a:t>
            </a:r>
            <a:r>
              <a:rPr lang="ko-KR" altLang="en-US" dirty="0"/>
              <a:t>으로 </a:t>
            </a:r>
            <a:r>
              <a:rPr lang="en-US" altLang="ko-KR" b="1" dirty="0"/>
              <a:t>Type A, B, C</a:t>
            </a:r>
            <a:r>
              <a:rPr lang="ko-KR" altLang="en-US" dirty="0"/>
              <a:t>의 에너지 페르소나로 구분했습니다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728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왼쪽은 서울시 전체를 대상으로 시간대별 전력 수요 구조를 기준으로 </a:t>
            </a:r>
            <a:r>
              <a:rPr lang="en-US" altLang="ko-KR" dirty="0"/>
              <a:t>Type A, B, C</a:t>
            </a:r>
            <a:r>
              <a:rPr lang="ko-KR" altLang="en-US" dirty="0"/>
              <a:t>를 시각화한 결과입니다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특정 지역만 튀는 것이 아니라</a:t>
            </a:r>
            <a:r>
              <a:rPr lang="en-US" altLang="ko-KR" dirty="0"/>
              <a:t>, </a:t>
            </a:r>
            <a:r>
              <a:rPr lang="ko-KR" altLang="en-US" b="1" dirty="0"/>
              <a:t>유형별 패턴이 서울 전반에 공간적으로 분포</a:t>
            </a:r>
            <a:r>
              <a:rPr lang="ko-KR" altLang="en-US" dirty="0"/>
              <a:t>하고 있음을 확인할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오른쪽은 각 유형에서 시간대 특성이 가장 뚜렷한 </a:t>
            </a:r>
            <a:r>
              <a:rPr lang="ko-KR" altLang="en-US" b="1" dirty="0"/>
              <a:t>대표 지역 </a:t>
            </a:r>
            <a:r>
              <a:rPr lang="en-US" altLang="ko-KR" b="1" dirty="0"/>
              <a:t>Top 3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63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6008-199B-318B-38DB-B6CA4D3D1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C2A4E8-D60F-BFA6-E164-4056F1171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6AED8E-B0EC-C399-E6F6-1B3A4A221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장에서는 그 유형들이 </a:t>
            </a:r>
            <a:r>
              <a:rPr lang="ko-KR" altLang="en-US" b="1" dirty="0"/>
              <a:t>시간대 부하 구조에서 어떻게 </a:t>
            </a:r>
            <a:r>
              <a:rPr lang="ko-KR" altLang="en-US" b="1" dirty="0" err="1"/>
              <a:t>다른지</a:t>
            </a:r>
            <a:r>
              <a:rPr lang="ko-KR" altLang="en-US" dirty="0"/>
              <a:t> 보여드립니다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서울시 평균 부하 곡선과 각 유형의 평균 곡선을 함께 비교했습니다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Type A</a:t>
            </a:r>
            <a:r>
              <a:rPr lang="en-US" altLang="ko-KR" dirty="0"/>
              <a:t>: </a:t>
            </a:r>
            <a:r>
              <a:rPr lang="ko-KR" altLang="en-US" dirty="0"/>
              <a:t>주간 시간대 부하가 평균보다 높은 전형적인 주간형 구조</a:t>
            </a:r>
          </a:p>
          <a:p>
            <a:r>
              <a:rPr lang="en-US" altLang="ko-KR" b="1" dirty="0"/>
              <a:t>Type B</a:t>
            </a:r>
            <a:r>
              <a:rPr lang="en-US" altLang="ko-KR" dirty="0"/>
              <a:t>: </a:t>
            </a:r>
            <a:r>
              <a:rPr lang="ko-KR" altLang="en-US" dirty="0"/>
              <a:t>저녁 시간대 부하가 평균보다 더 집중되는 구조 </a:t>
            </a:r>
            <a:r>
              <a:rPr lang="en-US" altLang="ko-KR" dirty="0"/>
              <a:t>(</a:t>
            </a:r>
            <a:r>
              <a:rPr lang="ko-KR" altLang="en-US" dirty="0"/>
              <a:t>가장 민감한 리스크 구간</a:t>
            </a:r>
            <a:r>
              <a:rPr lang="en-US" altLang="ko-KR" dirty="0"/>
              <a:t>)</a:t>
            </a:r>
          </a:p>
          <a:p>
            <a:r>
              <a:rPr lang="en-US" altLang="ko-KR" b="1" dirty="0"/>
              <a:t>Type C</a:t>
            </a:r>
            <a:r>
              <a:rPr lang="en-US" altLang="ko-KR" dirty="0"/>
              <a:t>: </a:t>
            </a:r>
            <a:r>
              <a:rPr lang="ko-KR" altLang="en-US" dirty="0"/>
              <a:t>주</a:t>
            </a:r>
            <a:r>
              <a:rPr lang="en-US" altLang="ko-KR" dirty="0"/>
              <a:t>·</a:t>
            </a:r>
            <a:r>
              <a:rPr lang="ko-KR" altLang="en-US" dirty="0"/>
              <a:t>야가 비교적 균형을 이루는 혼합형 구조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같은 서울시라도 </a:t>
            </a:r>
            <a:r>
              <a:rPr lang="ko-KR" altLang="en-US" b="1" dirty="0"/>
              <a:t>평균 하나로는 설명되지 않는 서로 다른 시간대 리스크 구조</a:t>
            </a:r>
            <a:r>
              <a:rPr lang="ko-KR" altLang="en-US" dirty="0"/>
              <a:t>가 존재합니다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4BCA1-4FEF-3727-AEC8-8EE2B1D3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970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앞에서는 유형별 부하 패턴이 시각적으로 다르다는 것을 확인했습니다</a:t>
            </a:r>
            <a:r>
              <a:rPr lang="en-US" altLang="ko-KR" dirty="0"/>
              <a:t>. </a:t>
            </a:r>
            <a:r>
              <a:rPr lang="ko-KR" altLang="en-US" dirty="0"/>
              <a:t>이번 장은 </a:t>
            </a:r>
            <a:r>
              <a:rPr lang="ko-KR" altLang="en-US" b="1" dirty="0"/>
              <a:t>그 차이가 우연인지</a:t>
            </a:r>
            <a:r>
              <a:rPr lang="en-US" altLang="ko-KR" b="1" dirty="0"/>
              <a:t>, </a:t>
            </a:r>
            <a:r>
              <a:rPr lang="ko-KR" altLang="en-US" b="1" dirty="0"/>
              <a:t>구조적인지</a:t>
            </a:r>
            <a:r>
              <a:rPr lang="ko-KR" altLang="en-US" dirty="0"/>
              <a:t> 통계적으로 검증한 단계입니다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행정동별로 저녁 시간대</a:t>
            </a:r>
            <a:r>
              <a:rPr lang="en-US" altLang="ko-KR" dirty="0"/>
              <a:t>(18-22</a:t>
            </a:r>
            <a:r>
              <a:rPr lang="ko-KR" altLang="en-US" dirty="0"/>
              <a:t>시</a:t>
            </a:r>
            <a:r>
              <a:rPr lang="en-US" altLang="ko-KR" dirty="0"/>
              <a:t>) </a:t>
            </a:r>
            <a:r>
              <a:rPr lang="ko-KR" altLang="en-US" dirty="0"/>
              <a:t>부하 비중을 비교했습니다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그래프를 보시면 </a:t>
            </a:r>
            <a:r>
              <a:rPr lang="en-US" altLang="ko-KR" b="1" dirty="0"/>
              <a:t>Type B </a:t>
            </a:r>
            <a:r>
              <a:rPr lang="ko-KR" altLang="en-US" b="1" dirty="0"/>
              <a:t>지역의 저녁 부하 비중이 중앙값 기준 약 </a:t>
            </a:r>
            <a:r>
              <a:rPr lang="en-US" altLang="ko-KR" b="1" dirty="0"/>
              <a:t>25% </a:t>
            </a:r>
            <a:r>
              <a:rPr lang="ko-KR" altLang="en-US" b="1" dirty="0"/>
              <a:t>수준</a:t>
            </a:r>
            <a:r>
              <a:rPr lang="ko-KR" altLang="en-US" dirty="0"/>
              <a:t>으로 다른 유형 대비 확실히 높습니다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중요한 점은 이 값이 일부 지역의 특이 사례가 아니라</a:t>
            </a:r>
            <a:r>
              <a:rPr lang="en-US" altLang="ko-KR" dirty="0"/>
              <a:t>, </a:t>
            </a:r>
            <a:r>
              <a:rPr lang="ko-KR" altLang="en-US" b="1" dirty="0"/>
              <a:t>분산이 작고 반복적으로 나타난다</a:t>
            </a:r>
            <a:r>
              <a:rPr lang="ko-KR" altLang="en-US" dirty="0"/>
              <a:t>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Type B</a:t>
            </a:r>
            <a:r>
              <a:rPr lang="ko-KR" altLang="en-US" dirty="0"/>
              <a:t>의 저녁 피크는 개별 행정동의 문제가 아니라 </a:t>
            </a:r>
            <a:r>
              <a:rPr lang="ko-KR" altLang="en-US" b="1" dirty="0"/>
              <a:t>구조적으로 공유되는 리스크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Type B</a:t>
            </a:r>
            <a:r>
              <a:rPr lang="ko-KR" altLang="en-US" dirty="0"/>
              <a:t>는 </a:t>
            </a:r>
            <a:r>
              <a:rPr lang="en-US" altLang="ko-KR" b="1" dirty="0"/>
              <a:t>ESS</a:t>
            </a:r>
            <a:r>
              <a:rPr lang="ko-KR" altLang="en-US" b="1" dirty="0"/>
              <a:t>와 같은 저녁 대응 자원의 전략적 타깃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5009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C1AF4-3B10-3B18-FA91-AA1D945D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997874-D2C8-CD8E-5A0A-CF94F86A5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051E93-E305-3E41-3ADF-8B730088C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분석 결과를 바탕으로 실제 적용을 위한 </a:t>
            </a:r>
            <a:r>
              <a:rPr lang="ko-KR" altLang="en-US" b="1" dirty="0"/>
              <a:t>시범 사업지 선정 단계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Type B </a:t>
            </a:r>
            <a:r>
              <a:rPr lang="ko-KR" altLang="en-US" dirty="0"/>
              <a:t>주거 지역 중에서 저녁 시간대 부하 비중이 가장 높은 지역들을 비교한 결과</a:t>
            </a:r>
            <a:r>
              <a:rPr lang="en-US" altLang="ko-KR" dirty="0"/>
              <a:t>, </a:t>
            </a:r>
            <a:r>
              <a:rPr lang="ko-KR" altLang="en-US" b="1" dirty="0"/>
              <a:t>중계동</a:t>
            </a:r>
            <a:r>
              <a:rPr lang="ko-KR" altLang="en-US" dirty="0"/>
              <a:t>이 최우선 후보로 도출되었습니다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중계동은 단순히 수치가 높기 때문만이 아니라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낮과 저녁의 수요 격차가 커서 </a:t>
            </a:r>
            <a:r>
              <a:rPr lang="ko-KR" altLang="en-US" b="1" dirty="0"/>
              <a:t>가장 극단적인 덕 커브 리스크</a:t>
            </a:r>
            <a:r>
              <a:rPr lang="ko-KR" altLang="en-US" dirty="0"/>
              <a:t>를 가진 지역</a:t>
            </a:r>
          </a:p>
          <a:p>
            <a:r>
              <a:rPr lang="ko-KR" altLang="en-US" dirty="0"/>
              <a:t>대규모 아파트 단지와 학원가 중심의 생활 패턴으로 </a:t>
            </a:r>
            <a:r>
              <a:rPr lang="ko-KR" altLang="en-US" b="1" dirty="0"/>
              <a:t>저녁 수요가 구조적으로 유지</a:t>
            </a:r>
            <a:endParaRPr lang="ko-KR" altLang="en-US" dirty="0"/>
          </a:p>
          <a:p>
            <a:r>
              <a:rPr lang="ko-KR" altLang="en-US" dirty="0"/>
              <a:t>이 프로젝트에서는 </a:t>
            </a:r>
            <a:r>
              <a:rPr lang="ko-KR" altLang="en-US" b="1" dirty="0"/>
              <a:t>가장 쉬운 지역이 아니라</a:t>
            </a:r>
            <a:r>
              <a:rPr lang="en-US" altLang="ko-KR" b="1" dirty="0"/>
              <a:t>, </a:t>
            </a:r>
            <a:r>
              <a:rPr lang="ko-KR" altLang="en-US" b="1" dirty="0"/>
              <a:t>가장 어려운 조건에서 해법을 검증</a:t>
            </a:r>
            <a:r>
              <a:rPr lang="ko-KR" altLang="en-US" dirty="0"/>
              <a:t>하는 것을 목표로 했고</a:t>
            </a:r>
            <a:r>
              <a:rPr lang="en-US" altLang="ko-KR" dirty="0"/>
              <a:t>, </a:t>
            </a:r>
            <a:r>
              <a:rPr lang="ko-KR" altLang="en-US" dirty="0"/>
              <a:t>그 기준에 가장 부합하는 지역이 중계동입니다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061B05-A002-74FA-3CA2-41BB385A5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322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이제부터 이 문제를 </a:t>
            </a:r>
            <a:r>
              <a:rPr lang="ko-KR" altLang="en-US" b="1" dirty="0"/>
              <a:t>어떤 방식으로 해결할 것인지</a:t>
            </a:r>
            <a:r>
              <a:rPr lang="ko-KR" altLang="en-US" dirty="0"/>
              <a:t>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기존의 접근 방식부터 보면</a:t>
            </a:r>
            <a:r>
              <a:rPr lang="en-US" altLang="ko-KR" dirty="0"/>
              <a:t>:</a:t>
            </a:r>
          </a:p>
          <a:p>
            <a:r>
              <a:rPr lang="ko-KR" altLang="en-US" b="1" dirty="0"/>
              <a:t>계통 보강</a:t>
            </a:r>
            <a:r>
              <a:rPr lang="en-US" altLang="ko-KR" dirty="0"/>
              <a:t>: </a:t>
            </a:r>
            <a:r>
              <a:rPr lang="ko-KR" altLang="en-US" dirty="0"/>
              <a:t>물리적으로 가장 확실하지만</a:t>
            </a:r>
            <a:r>
              <a:rPr lang="en-US" altLang="ko-KR" dirty="0"/>
              <a:t>, </a:t>
            </a:r>
            <a:r>
              <a:rPr lang="ko-KR" altLang="en-US" dirty="0"/>
              <a:t>이미 포화된 도심 주거지역에서는 추가 공사가 현실적으로 어렵습니다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수요 반응</a:t>
            </a:r>
            <a:r>
              <a:rPr lang="en-US" altLang="ko-KR" b="1" dirty="0"/>
              <a:t>(DR)</a:t>
            </a:r>
            <a:r>
              <a:rPr lang="en-US" altLang="ko-KR" dirty="0"/>
              <a:t>: </a:t>
            </a:r>
            <a:r>
              <a:rPr lang="ko-KR" altLang="en-US" dirty="0"/>
              <a:t>비용 부담은 적지만</a:t>
            </a:r>
            <a:r>
              <a:rPr lang="en-US" altLang="ko-KR" dirty="0"/>
              <a:t>, </a:t>
            </a:r>
            <a:r>
              <a:rPr lang="ko-KR" altLang="en-US" dirty="0"/>
              <a:t>저녁 시간대 생활 패턴이 고정된 주거지역에서는 참여와 효과 모두에 한계가 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Type B </a:t>
            </a:r>
            <a:r>
              <a:rPr lang="ko-KR" altLang="en-US" b="1" dirty="0"/>
              <a:t>지역의 핵심 문제는 전력이 부족한 것이 아니라 전력이 필요한 시간이 집중되어 있다는 점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이 문제는 전기를 더 만들거나 덜 쓰는 방식이 아니라</a:t>
            </a:r>
            <a:r>
              <a:rPr lang="en-US" altLang="ko-KR" dirty="0"/>
              <a:t>, </a:t>
            </a:r>
            <a:r>
              <a:rPr lang="ko-KR" altLang="en-US" b="1" dirty="0"/>
              <a:t>시간을 옮기는 방식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b="1" dirty="0"/>
              <a:t>Time-Shift</a:t>
            </a:r>
            <a:r>
              <a:rPr lang="ko-KR" altLang="en-US" dirty="0"/>
              <a:t>가 필요합니다</a:t>
            </a:r>
            <a:r>
              <a:rPr lang="en-US" altLang="ko-KR" dirty="0"/>
              <a:t>. </a:t>
            </a:r>
            <a:r>
              <a:rPr lang="ko-KR" altLang="en-US" dirty="0"/>
              <a:t>이 역할을 수행할 수 있는 수단이 현재로서는 </a:t>
            </a:r>
            <a:r>
              <a:rPr lang="en-US" altLang="ko-KR" b="1" dirty="0"/>
              <a:t>ESS</a:t>
            </a:r>
            <a:r>
              <a:rPr lang="ko-KR" altLang="en-US" b="1" dirty="0"/>
              <a:t>가 유일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2042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ESS</a:t>
            </a:r>
            <a:r>
              <a:rPr lang="ko-KR" altLang="en-US" dirty="0"/>
              <a:t>가 왜 필요한지 </a:t>
            </a:r>
            <a:r>
              <a:rPr lang="ko-KR" altLang="en-US" dirty="0" err="1"/>
              <a:t>설명드렸다면</a:t>
            </a:r>
            <a:r>
              <a:rPr lang="en-US" altLang="ko-KR" dirty="0"/>
              <a:t>, </a:t>
            </a:r>
            <a:r>
              <a:rPr lang="ko-KR" altLang="en-US" dirty="0"/>
              <a:t>이번 장에서는 그 </a:t>
            </a:r>
            <a:r>
              <a:rPr lang="en-US" altLang="ko-KR" dirty="0"/>
              <a:t>ESS</a:t>
            </a:r>
            <a:r>
              <a:rPr lang="ko-KR" altLang="en-US" dirty="0"/>
              <a:t>를 </a:t>
            </a:r>
            <a:r>
              <a:rPr lang="ko-KR" altLang="en-US" b="1" dirty="0"/>
              <a:t>어떤 구조로 운영할 것인지</a:t>
            </a:r>
            <a:r>
              <a:rPr lang="ko-KR" altLang="en-US" dirty="0"/>
              <a:t> 보여드립니다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프로젝트의 핵심은 태양광이나 배터리 자체가 아니라 </a:t>
            </a:r>
            <a:r>
              <a:rPr lang="ko-KR" altLang="en-US" b="1" dirty="0"/>
              <a:t>발전</a:t>
            </a:r>
            <a:r>
              <a:rPr lang="en-US" altLang="ko-KR" b="1" dirty="0"/>
              <a:t>-</a:t>
            </a:r>
            <a:r>
              <a:rPr lang="ko-KR" altLang="en-US" b="1" dirty="0"/>
              <a:t>저장</a:t>
            </a:r>
            <a:r>
              <a:rPr lang="en-US" altLang="ko-KR" b="1" dirty="0"/>
              <a:t>-</a:t>
            </a:r>
            <a:r>
              <a:rPr lang="ko-KR" altLang="en-US" b="1" dirty="0"/>
              <a:t>소비를 하나의 흐름으로 제어</a:t>
            </a:r>
            <a:r>
              <a:rPr lang="ko-KR" altLang="en-US" dirty="0"/>
              <a:t>하는 </a:t>
            </a:r>
            <a:r>
              <a:rPr lang="ko-KR" altLang="en-US" b="1" dirty="0"/>
              <a:t>자가소비형 마이크로그리드 구조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가운데에 있는 </a:t>
            </a:r>
            <a:r>
              <a:rPr lang="en-US" altLang="ko-KR" b="1" dirty="0"/>
              <a:t>EMS</a:t>
            </a:r>
            <a:r>
              <a:rPr lang="ko-KR" altLang="en-US" dirty="0"/>
              <a:t>가 시스템 전체의 컨트롤 타워 역할을 하며</a:t>
            </a:r>
            <a:r>
              <a:rPr lang="en-US" altLang="ko-KR" dirty="0"/>
              <a:t>:</a:t>
            </a:r>
          </a:p>
          <a:p>
            <a:r>
              <a:rPr lang="ko-KR" altLang="en-US" b="1" dirty="0"/>
              <a:t>낮</a:t>
            </a:r>
            <a:r>
              <a:rPr lang="en-US" altLang="ko-KR" dirty="0"/>
              <a:t>: </a:t>
            </a:r>
            <a:r>
              <a:rPr lang="ko-KR" altLang="en-US" dirty="0"/>
              <a:t>태양광 발전을 우선 활용</a:t>
            </a:r>
            <a:r>
              <a:rPr lang="en-US" altLang="ko-KR" dirty="0"/>
              <a:t>, </a:t>
            </a:r>
            <a:r>
              <a:rPr lang="ko-KR" altLang="en-US" dirty="0"/>
              <a:t>잉여 전력은 저장</a:t>
            </a:r>
          </a:p>
          <a:p>
            <a:r>
              <a:rPr lang="ko-KR" altLang="en-US" b="1" dirty="0"/>
              <a:t>저녁</a:t>
            </a:r>
            <a:r>
              <a:rPr lang="en-US" altLang="ko-KR" dirty="0"/>
              <a:t>: </a:t>
            </a:r>
            <a:r>
              <a:rPr lang="ko-KR" altLang="en-US" dirty="0"/>
              <a:t>저장된 전력을 방전하여 피크 커버</a:t>
            </a:r>
          </a:p>
          <a:p>
            <a:r>
              <a:rPr lang="ko-KR" altLang="en-US" dirty="0"/>
              <a:t>이 구조를 통해 낮 시간대 과잉 발전은 완충하고</a:t>
            </a:r>
            <a:r>
              <a:rPr lang="en-US" altLang="ko-KR" dirty="0"/>
              <a:t>, </a:t>
            </a:r>
            <a:r>
              <a:rPr lang="ko-KR" altLang="en-US" dirty="0"/>
              <a:t>저녁 피크는 효과적으로 절감합니다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9813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543A5-6381-9D8A-EE48-8E06EA88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171AED-F4E8-49B5-FEE2-6AF97B4EB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7003CD-B479-CCD0-8D1E-A8EA6B03C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ESS </a:t>
            </a:r>
            <a:r>
              <a:rPr lang="ko-KR" altLang="en-US" dirty="0"/>
              <a:t>용량을 무작정 키우는 게 아니라</a:t>
            </a:r>
            <a:r>
              <a:rPr lang="en-US" altLang="ko-KR" dirty="0"/>
              <a:t>, </a:t>
            </a:r>
            <a:r>
              <a:rPr lang="ko-KR" altLang="en-US" b="1" dirty="0"/>
              <a:t>효과가 급격히 증가하다가 완만해지는 지점</a:t>
            </a:r>
            <a:r>
              <a:rPr lang="ko-KR" altLang="en-US" dirty="0"/>
              <a:t>을 기준으로 판단했습니다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곡선에서 </a:t>
            </a:r>
            <a:r>
              <a:rPr lang="ko-KR" altLang="en-US" b="1" dirty="0"/>
              <a:t>약 </a:t>
            </a:r>
            <a:r>
              <a:rPr lang="en-US" altLang="ko-KR" b="1" dirty="0"/>
              <a:t>3.5MWh </a:t>
            </a:r>
            <a:r>
              <a:rPr lang="ko-KR" altLang="en-US" b="1" dirty="0"/>
              <a:t>지점</a:t>
            </a:r>
            <a:r>
              <a:rPr lang="ko-KR" altLang="en-US" dirty="0"/>
              <a:t>이 추가 투자 대비 효용이 급격히 줄어드는 </a:t>
            </a:r>
            <a:r>
              <a:rPr lang="ko-KR" altLang="en-US" b="1" dirty="0"/>
              <a:t>경제적 임계점</a:t>
            </a:r>
            <a:r>
              <a:rPr lang="ko-KR" altLang="en-US" dirty="0"/>
              <a:t>으로 나타났고</a:t>
            </a:r>
            <a:r>
              <a:rPr lang="en-US" altLang="ko-KR" dirty="0"/>
              <a:t>, </a:t>
            </a:r>
            <a:r>
              <a:rPr lang="ko-KR" altLang="en-US" dirty="0"/>
              <a:t>이 용량만으로도 저녁 피크의 약 </a:t>
            </a:r>
            <a:r>
              <a:rPr lang="en-US" altLang="ko-KR" b="1" dirty="0"/>
              <a:t>90% </a:t>
            </a:r>
            <a:r>
              <a:rPr lang="ko-KR" altLang="en-US" b="1" dirty="0"/>
              <a:t>이상을 커버</a:t>
            </a:r>
            <a:r>
              <a:rPr lang="ko-KR" altLang="en-US" dirty="0"/>
              <a:t>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모든 시나리오 비교는 이 용량을 </a:t>
            </a:r>
            <a:r>
              <a:rPr lang="ko-KR" altLang="en-US" b="1" dirty="0"/>
              <a:t>기준 앵커</a:t>
            </a:r>
            <a:r>
              <a:rPr lang="ko-KR" altLang="en-US" dirty="0"/>
              <a:t>로 삼아 진행했습니다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2EBA6A-1030-4506-1C38-079C2F949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5132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D025-228B-FFD1-6D5A-924B89E3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DB8968-C2E6-4D22-40FB-B37BDECD8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22091D-1167-7071-F6E7-619DEA87C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Type B </a:t>
            </a:r>
            <a:r>
              <a:rPr lang="ko-KR" altLang="en-US" dirty="0"/>
              <a:t>주거지역</a:t>
            </a:r>
            <a:r>
              <a:rPr lang="en-US" altLang="ko-KR" dirty="0"/>
              <a:t>, </a:t>
            </a:r>
            <a:r>
              <a:rPr lang="ko-KR" altLang="en-US" dirty="0"/>
              <a:t>즉 중계동에서는 </a:t>
            </a:r>
            <a:r>
              <a:rPr lang="ko-KR" altLang="en-US" b="1" dirty="0"/>
              <a:t>태양광 발전이 늘어나더라도 저녁 피크 문제는 그대로 남습니다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낮에는 태양광으로 부하가 일부 상쇄되지만</a:t>
            </a:r>
            <a:r>
              <a:rPr lang="en-US" altLang="ko-KR" dirty="0"/>
              <a:t>, </a:t>
            </a:r>
            <a:r>
              <a:rPr lang="ko-KR" altLang="en-US" dirty="0"/>
              <a:t>전력 수요가 가장 집중되는 저녁 시간대에는 태양광이 작동하지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문제는 발전량의 문제가 아니라 </a:t>
            </a:r>
            <a:r>
              <a:rPr lang="ko-KR" altLang="en-US" b="1" dirty="0"/>
              <a:t>전력 수요와 태양광 발전 간 시간대 구조의 불일치 문제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E16BE4-8263-ECDE-E321-A6C2C2295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5576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D025-228B-FFD1-6D5A-924B89E3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DB8968-C2E6-4D22-40FB-B37BDECD8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22091D-1167-7071-F6E7-619DEA87C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단일 </a:t>
            </a:r>
            <a:r>
              <a:rPr lang="en-US" altLang="ko-KR" dirty="0"/>
              <a:t>ESS</a:t>
            </a:r>
            <a:r>
              <a:rPr lang="ko-KR" altLang="en-US" dirty="0"/>
              <a:t>를 적용하면 낮의 에너지를 저녁으로 이동시키는 효과는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그래프에서 보시듯</a:t>
            </a:r>
            <a:r>
              <a:rPr lang="en-US" altLang="ko-KR" dirty="0"/>
              <a:t>, </a:t>
            </a:r>
            <a:r>
              <a:rPr lang="ko-KR" altLang="en-US" b="1" dirty="0"/>
              <a:t>저녁 피크의 구조 자체는 크게 변하지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단일 </a:t>
            </a:r>
            <a:r>
              <a:rPr lang="en-US" altLang="ko-KR" dirty="0"/>
              <a:t>ESS</a:t>
            </a:r>
            <a:r>
              <a:rPr lang="ko-KR" altLang="en-US" dirty="0"/>
              <a:t>는 </a:t>
            </a:r>
            <a:r>
              <a:rPr lang="ko-KR" altLang="en-US" b="1" dirty="0"/>
              <a:t>보조 수단</a:t>
            </a:r>
            <a:r>
              <a:rPr lang="ko-KR" altLang="en-US" dirty="0"/>
              <a:t>일 수는 있지만</a:t>
            </a:r>
            <a:r>
              <a:rPr lang="en-US" altLang="ko-KR" dirty="0"/>
              <a:t>, </a:t>
            </a:r>
            <a:r>
              <a:rPr lang="ko-KR" altLang="en-US" dirty="0"/>
              <a:t>주거지역의 이브닝 피크 문제를 </a:t>
            </a:r>
            <a:r>
              <a:rPr lang="ko-KR" altLang="en-US" b="1" dirty="0"/>
              <a:t>단독으로 해결하기는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ESS </a:t>
            </a:r>
            <a:r>
              <a:rPr lang="ko-KR" altLang="en-US" dirty="0"/>
              <a:t>단독이 아닌 </a:t>
            </a:r>
            <a:r>
              <a:rPr lang="ko-KR" altLang="en-US" b="1" dirty="0"/>
              <a:t>조합 전략</a:t>
            </a:r>
            <a:r>
              <a:rPr lang="ko-KR" altLang="en-US" dirty="0"/>
              <a:t>이 필요합니다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E16BE4-8263-ECDE-E321-A6C2C2295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544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D20C6-4710-E491-2B64-6BF60F1AE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15ACB2-D546-7EDD-3C07-38BCC1342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79D3D2-9A3E-74E6-5D73-D1CC91E28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앞선 시뮬레이션을 통해</a:t>
            </a:r>
            <a:r>
              <a:rPr lang="en-US" altLang="ko-KR" dirty="0"/>
              <a:t>, </a:t>
            </a:r>
            <a:r>
              <a:rPr lang="ko-KR" altLang="en-US" dirty="0"/>
              <a:t>단일 </a:t>
            </a:r>
            <a:r>
              <a:rPr lang="en-US" altLang="ko-KR" dirty="0"/>
              <a:t>ESS</a:t>
            </a:r>
            <a:r>
              <a:rPr lang="ko-KR" altLang="en-US" dirty="0"/>
              <a:t>는 전력을 시간 이동</a:t>
            </a:r>
            <a:r>
              <a:rPr lang="en-US" altLang="ko-KR" dirty="0"/>
              <a:t>(Time-shift)</a:t>
            </a:r>
            <a:r>
              <a:rPr lang="ko-KR" altLang="en-US" dirty="0"/>
              <a:t>시킬 수는 있어도</a:t>
            </a:r>
            <a:r>
              <a:rPr lang="en-US" altLang="ko-KR" dirty="0"/>
              <a:t>, </a:t>
            </a:r>
            <a:r>
              <a:rPr lang="ko-KR" altLang="en-US" dirty="0"/>
              <a:t>저녁 시간대에 발생하는 거대한 </a:t>
            </a:r>
            <a:r>
              <a:rPr lang="en-US" altLang="ko-KR" dirty="0"/>
              <a:t>'</a:t>
            </a:r>
            <a:r>
              <a:rPr lang="ko-KR" altLang="en-US" dirty="0"/>
              <a:t>공급 공백</a:t>
            </a:r>
            <a:r>
              <a:rPr lang="en-US" altLang="ko-KR" dirty="0"/>
              <a:t>'</a:t>
            </a:r>
            <a:r>
              <a:rPr lang="ko-KR" altLang="en-US" dirty="0"/>
              <a:t>을 근본적으로 해결하기엔 역부족임을 확인했습니다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물론</a:t>
            </a:r>
            <a:r>
              <a:rPr lang="en-US" altLang="ko-KR" dirty="0"/>
              <a:t>, </a:t>
            </a:r>
            <a:r>
              <a:rPr lang="ko-KR" altLang="en-US" dirty="0"/>
              <a:t>이런 질문을 던지실 수 있습니다</a:t>
            </a:r>
            <a:r>
              <a:rPr lang="en-US" altLang="ko-KR" dirty="0"/>
              <a:t>. </a:t>
            </a:r>
            <a:r>
              <a:rPr lang="en-US" altLang="ko-KR" b="1" dirty="0"/>
              <a:t>'</a:t>
            </a:r>
            <a:r>
              <a:rPr lang="ko-KR" altLang="en-US" b="1" dirty="0"/>
              <a:t>그냥 배터리 용량을 </a:t>
            </a:r>
            <a:r>
              <a:rPr lang="en-US" altLang="ko-KR" b="1" dirty="0"/>
              <a:t>2</a:t>
            </a:r>
            <a:r>
              <a:rPr lang="ko-KR" altLang="en-US" b="1" dirty="0"/>
              <a:t>배</a:t>
            </a:r>
            <a:r>
              <a:rPr lang="en-US" altLang="ko-KR" b="1" dirty="0"/>
              <a:t>, 3</a:t>
            </a:r>
            <a:r>
              <a:rPr lang="ko-KR" altLang="en-US" b="1" dirty="0"/>
              <a:t>배 늘려서 해결하면 되지 않는가</a:t>
            </a:r>
            <a:r>
              <a:rPr lang="en-US" altLang="ko-KR" b="1" dirty="0"/>
              <a:t>?'</a:t>
            </a:r>
            <a:endParaRPr lang="ko-KR" altLang="en-US" dirty="0"/>
          </a:p>
          <a:p>
            <a:r>
              <a:rPr lang="ko-KR" altLang="en-US" dirty="0"/>
              <a:t>하지만 앞서 말씀드렸었던 </a:t>
            </a:r>
            <a:r>
              <a:rPr lang="en-US" altLang="ko-KR" dirty="0"/>
              <a:t>ESS </a:t>
            </a:r>
            <a:r>
              <a:rPr lang="ko-KR" altLang="en-US" dirty="0"/>
              <a:t>한계효용 그래프 관점에서</a:t>
            </a:r>
            <a:r>
              <a:rPr lang="en-US" altLang="ko-KR" dirty="0"/>
              <a:t>, </a:t>
            </a:r>
            <a:r>
              <a:rPr lang="ko-KR" altLang="en-US" dirty="0"/>
              <a:t>데이터는 </a:t>
            </a:r>
            <a:r>
              <a:rPr lang="ko-KR" altLang="en-US" dirty="0" err="1"/>
              <a:t>아니오</a:t>
            </a:r>
            <a:r>
              <a:rPr lang="ko-KR" altLang="en-US" dirty="0"/>
              <a:t> 라고 말하고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그래프는 저장 시간</a:t>
            </a:r>
            <a:r>
              <a:rPr lang="en-US" altLang="ko-KR" dirty="0"/>
              <a:t>(X</a:t>
            </a:r>
            <a:r>
              <a:rPr lang="ko-KR" altLang="en-US" dirty="0"/>
              <a:t>축</a:t>
            </a:r>
            <a:r>
              <a:rPr lang="en-US" altLang="ko-KR" dirty="0"/>
              <a:t>)</a:t>
            </a:r>
            <a:r>
              <a:rPr lang="ko-KR" altLang="en-US" dirty="0"/>
              <a:t>에 따른 비용</a:t>
            </a:r>
            <a:r>
              <a:rPr lang="en-US" altLang="ko-KR" dirty="0"/>
              <a:t>(Y</a:t>
            </a:r>
            <a:r>
              <a:rPr lang="ko-KR" altLang="en-US" dirty="0"/>
              <a:t>축</a:t>
            </a:r>
            <a:r>
              <a:rPr lang="en-US" altLang="ko-KR" dirty="0"/>
              <a:t>) </a:t>
            </a:r>
            <a:r>
              <a:rPr lang="ko-KR" altLang="en-US" dirty="0"/>
              <a:t>변화를 보여줍니다</a:t>
            </a:r>
            <a:r>
              <a:rPr lang="en-US" altLang="ko-KR" dirty="0"/>
              <a:t>. </a:t>
            </a:r>
            <a:r>
              <a:rPr lang="ko-KR" altLang="en-US" dirty="0"/>
              <a:t>보시는 </a:t>
            </a:r>
            <a:r>
              <a:rPr lang="ko-KR" altLang="en-US" b="1" dirty="0"/>
              <a:t>빨간색 선</a:t>
            </a:r>
            <a:r>
              <a:rPr lang="en-US" altLang="ko-KR" b="1" dirty="0"/>
              <a:t>, </a:t>
            </a:r>
            <a:r>
              <a:rPr lang="ko-KR" altLang="en-US" b="1" dirty="0"/>
              <a:t>리튬이온 배터리</a:t>
            </a:r>
            <a:r>
              <a:rPr lang="ko-KR" altLang="en-US" dirty="0"/>
              <a:t>는 훌륭한 단거리 선수입니다</a:t>
            </a:r>
            <a:r>
              <a:rPr lang="en-US" altLang="ko-KR" dirty="0"/>
              <a:t>. </a:t>
            </a:r>
            <a:r>
              <a:rPr lang="ko-KR" altLang="en-US" dirty="0"/>
              <a:t>하지만 출력과 용량이 묶여 있는 </a:t>
            </a:r>
            <a:r>
              <a:rPr lang="en-US" altLang="ko-KR" b="1" dirty="0"/>
              <a:t>＇Coupling＇ </a:t>
            </a:r>
            <a:r>
              <a:rPr lang="ko-KR" altLang="en-US" b="1" dirty="0"/>
              <a:t>구조</a:t>
            </a:r>
            <a:r>
              <a:rPr lang="ko-KR" altLang="en-US" dirty="0"/>
              <a:t>이기 때문에</a:t>
            </a:r>
            <a:r>
              <a:rPr lang="en-US" altLang="ko-KR" dirty="0"/>
              <a:t>, </a:t>
            </a:r>
            <a:r>
              <a:rPr lang="ko-KR" altLang="en-US" dirty="0"/>
              <a:t>시간을 늘리려면 배터리 모듈 자체를 계속 추가해야 하고</a:t>
            </a:r>
            <a:r>
              <a:rPr lang="en-US" altLang="ko-KR" dirty="0"/>
              <a:t>, </a:t>
            </a:r>
            <a:r>
              <a:rPr lang="ko-KR" altLang="en-US" dirty="0"/>
              <a:t>보시는 것처럼 비용 기울기가 가파르게 상승합니다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b="1" dirty="0"/>
              <a:t>파란색 선인 연료전지</a:t>
            </a:r>
            <a:r>
              <a:rPr lang="ko-KR" altLang="en-US" dirty="0"/>
              <a:t>는 다릅니다</a:t>
            </a:r>
            <a:r>
              <a:rPr lang="en-US" altLang="ko-KR" dirty="0"/>
              <a:t>. </a:t>
            </a:r>
            <a:r>
              <a:rPr lang="ko-KR" altLang="en-US" dirty="0"/>
              <a:t>발전부와 저장부가 분리된 </a:t>
            </a:r>
            <a:r>
              <a:rPr lang="en-US" altLang="ko-KR" b="1" dirty="0"/>
              <a:t>＇Decoupling＇ </a:t>
            </a:r>
            <a:r>
              <a:rPr lang="ko-KR" altLang="en-US" b="1" dirty="0"/>
              <a:t>구조</a:t>
            </a:r>
            <a:r>
              <a:rPr lang="ko-KR" altLang="en-US" dirty="0"/>
              <a:t>이기 때문에</a:t>
            </a:r>
            <a:r>
              <a:rPr lang="en-US" altLang="ko-KR" dirty="0"/>
              <a:t>, </a:t>
            </a:r>
            <a:r>
              <a:rPr lang="ko-KR" altLang="en-US" dirty="0"/>
              <a:t>저장 시간을 늘릴 때 저렴한 저장 탱크만 키우면 됩니다</a:t>
            </a:r>
            <a:r>
              <a:rPr lang="en-US" altLang="ko-KR" dirty="0"/>
              <a:t>. </a:t>
            </a:r>
            <a:r>
              <a:rPr lang="ko-KR" altLang="en-US" dirty="0"/>
              <a:t>시간이 길어질수록 한계 비용이 획기적으로 낮아지는 것이죠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분석 결과</a:t>
            </a:r>
            <a:r>
              <a:rPr lang="en-US" altLang="ko-KR" dirty="0"/>
              <a:t>, </a:t>
            </a:r>
            <a:r>
              <a:rPr lang="ko-KR" altLang="en-US" dirty="0"/>
              <a:t>그 경제성이 역전되는 </a:t>
            </a:r>
            <a:r>
              <a:rPr lang="en-US" altLang="ko-KR" b="1" dirty="0"/>
              <a:t>'</a:t>
            </a:r>
            <a:r>
              <a:rPr lang="ko-KR" altLang="en-US" b="1" dirty="0"/>
              <a:t>골든 크로스</a:t>
            </a:r>
            <a:r>
              <a:rPr lang="en-US" altLang="ko-KR" b="1" dirty="0"/>
              <a:t>'</a:t>
            </a:r>
            <a:r>
              <a:rPr lang="ko-KR" altLang="en-US" b="1" dirty="0"/>
              <a:t>는 약 </a:t>
            </a:r>
            <a:r>
              <a:rPr lang="en-US" altLang="ko-KR" b="1" dirty="0"/>
              <a:t>7.3</a:t>
            </a:r>
            <a:r>
              <a:rPr lang="ko-KR" altLang="en-US" b="1" dirty="0"/>
              <a:t>시간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덕 커브 심화로 전력 공백이 </a:t>
            </a:r>
            <a:r>
              <a:rPr lang="en-US" altLang="ko-KR" dirty="0"/>
              <a:t>8</a:t>
            </a:r>
            <a:r>
              <a:rPr lang="ko-KR" altLang="en-US" dirty="0"/>
              <a:t>시간 이상 길어지는 현 시점에서</a:t>
            </a:r>
            <a:r>
              <a:rPr lang="en-US" altLang="ko-KR" dirty="0"/>
              <a:t>, </a:t>
            </a:r>
            <a:r>
              <a:rPr lang="ko-KR" altLang="en-US" dirty="0"/>
              <a:t>단순히 배터리를 늘리는 것은 비효율적입니다</a:t>
            </a:r>
            <a:r>
              <a:rPr lang="en-US" altLang="ko-KR" dirty="0"/>
              <a:t>. </a:t>
            </a:r>
            <a:r>
              <a:rPr lang="ko-KR" altLang="en-US" dirty="0"/>
              <a:t>이제는 </a:t>
            </a:r>
            <a:r>
              <a:rPr lang="en-US" altLang="ko-KR" dirty="0"/>
              <a:t>7.3</a:t>
            </a:r>
            <a:r>
              <a:rPr lang="ko-KR" altLang="en-US" dirty="0"/>
              <a:t>시간 이상의 장주기</a:t>
            </a:r>
            <a:r>
              <a:rPr lang="en-US" altLang="ko-KR" dirty="0"/>
              <a:t>(Long-duration) </a:t>
            </a:r>
            <a:r>
              <a:rPr lang="ko-KR" altLang="en-US" dirty="0"/>
              <a:t>영역을 담당할 </a:t>
            </a:r>
            <a:r>
              <a:rPr lang="en-US" altLang="ko-KR" dirty="0"/>
              <a:t>'</a:t>
            </a:r>
            <a:r>
              <a:rPr lang="ko-KR" altLang="en-US" dirty="0"/>
              <a:t>연료전지 시스템</a:t>
            </a:r>
            <a:r>
              <a:rPr lang="en-US" altLang="ko-KR" dirty="0"/>
              <a:t>'</a:t>
            </a:r>
            <a:r>
              <a:rPr lang="ko-KR" altLang="en-US" dirty="0"/>
              <a:t>을 등장시킬 필요가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54351-F243-F5E3-6CFB-B0CF37C2F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7782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68EC8-018A-A1BD-9020-F37EE4ED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94A480-29C6-2622-BA2C-699BB44F5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7FC045-2D04-8785-55D9-2F17319C2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보신 것처럼 연료전지 시스템은 장주기 저장 수단으로서 경제성을 가집니다</a:t>
            </a:r>
            <a:r>
              <a:rPr lang="en-US" altLang="ko-KR" dirty="0"/>
              <a:t>. </a:t>
            </a:r>
            <a:r>
              <a:rPr lang="ko-KR" altLang="en-US" dirty="0"/>
              <a:t>그렇다면 우리는 지금 이 기술을 어떻게 쓰고 있을까요</a:t>
            </a:r>
            <a:r>
              <a:rPr lang="en-US" altLang="ko-KR" dirty="0"/>
              <a:t>?</a:t>
            </a:r>
          </a:p>
          <a:p>
            <a:r>
              <a:rPr lang="en-US" altLang="ko-KR" b="1" dirty="0"/>
              <a:t>Slide 2, </a:t>
            </a:r>
            <a:r>
              <a:rPr lang="ko-KR" altLang="en-US" b="1" dirty="0"/>
              <a:t>현재의 가스 연료전지 현황입니다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현재 설치된 대부분의 연료전지는 도시가스 배관망을 활용하는 **</a:t>
            </a:r>
            <a:r>
              <a:rPr lang="en-US" altLang="ko-KR" dirty="0"/>
              <a:t>'LNG </a:t>
            </a:r>
            <a:r>
              <a:rPr lang="ko-KR" altLang="en-US" dirty="0"/>
              <a:t>기반</a:t>
            </a:r>
            <a:r>
              <a:rPr lang="en-US" altLang="ko-KR" dirty="0"/>
              <a:t>'**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도심지 어디에나 설치할 수 있다는 강력한 </a:t>
            </a:r>
            <a:r>
              <a:rPr lang="ko-KR" altLang="en-US" b="1" dirty="0"/>
              <a:t>인프라 접근성</a:t>
            </a:r>
            <a:r>
              <a:rPr lang="ko-KR" altLang="en-US" dirty="0"/>
              <a:t> 덕분에 빠르게 보급될 수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그래프를 보십시오</a:t>
            </a:r>
            <a:r>
              <a:rPr lang="en-US" altLang="ko-KR" dirty="0"/>
              <a:t>. LNG </a:t>
            </a:r>
            <a:r>
              <a:rPr lang="ko-KR" altLang="en-US" dirty="0"/>
              <a:t>연료전지</a:t>
            </a:r>
            <a:r>
              <a:rPr lang="en-US" altLang="ko-KR" dirty="0"/>
              <a:t>(</a:t>
            </a:r>
            <a:r>
              <a:rPr lang="ko-KR" altLang="en-US" dirty="0"/>
              <a:t>노란색</a:t>
            </a:r>
            <a:r>
              <a:rPr lang="en-US" altLang="ko-KR" dirty="0"/>
              <a:t>)</a:t>
            </a:r>
            <a:r>
              <a:rPr lang="ko-KR" altLang="en-US" dirty="0"/>
              <a:t>는 기존 화력발전 대비 탄소 배출이 적긴 하지만</a:t>
            </a:r>
            <a:r>
              <a:rPr lang="en-US" altLang="ko-KR" dirty="0"/>
              <a:t>, </a:t>
            </a:r>
            <a:r>
              <a:rPr lang="ko-KR" altLang="en-US" dirty="0"/>
              <a:t>개질 과정에서 여전히 </a:t>
            </a:r>
            <a:r>
              <a:rPr lang="en-US" altLang="ko-KR" b="1" dirty="0"/>
              <a:t>280g </a:t>
            </a:r>
            <a:r>
              <a:rPr lang="ko-KR" altLang="en-US" b="1" dirty="0"/>
              <a:t>수준의 이산화탄소를 배출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이를 우리는 </a:t>
            </a:r>
            <a:r>
              <a:rPr lang="en-US" altLang="ko-KR" b="1" dirty="0"/>
              <a:t>'</a:t>
            </a:r>
            <a:r>
              <a:rPr lang="ko-KR" altLang="en-US" b="1" dirty="0"/>
              <a:t>그레이 수소</a:t>
            </a:r>
            <a:r>
              <a:rPr lang="en-US" altLang="ko-KR" b="1" dirty="0"/>
              <a:t>(Grey Hydrogen)'</a:t>
            </a:r>
            <a:r>
              <a:rPr lang="ko-KR" altLang="en-US" dirty="0"/>
              <a:t> 단계라고 부릅니다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결국</a:t>
            </a:r>
            <a:r>
              <a:rPr lang="en-US" altLang="ko-KR" dirty="0"/>
              <a:t>, </a:t>
            </a:r>
            <a:r>
              <a:rPr lang="ko-KR" altLang="en-US" dirty="0"/>
              <a:t>진정한 의미의 탄소 중립과 에너지 자립을 위해서는</a:t>
            </a:r>
            <a:r>
              <a:rPr lang="en-US" altLang="ko-KR" dirty="0"/>
              <a:t>, </a:t>
            </a:r>
            <a:r>
              <a:rPr lang="ko-KR" altLang="en-US" dirty="0"/>
              <a:t>현재의 </a:t>
            </a:r>
            <a:r>
              <a:rPr lang="en-US" altLang="ko-KR" dirty="0"/>
              <a:t>'</a:t>
            </a:r>
            <a:r>
              <a:rPr lang="ko-KR" altLang="en-US" dirty="0"/>
              <a:t>가스 기반</a:t>
            </a:r>
            <a:r>
              <a:rPr lang="en-US" altLang="ko-KR" dirty="0"/>
              <a:t>'</a:t>
            </a:r>
            <a:r>
              <a:rPr lang="ko-KR" altLang="en-US" dirty="0"/>
              <a:t>에서 멈추지 않고 다음 단계로 넘어가야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바로 </a:t>
            </a:r>
            <a:r>
              <a:rPr lang="ko-KR" altLang="en-US" b="1" dirty="0"/>
              <a:t>연료 그 자체를 바꾸는</a:t>
            </a:r>
            <a:r>
              <a:rPr lang="en-US" altLang="ko-KR" b="1" dirty="0"/>
              <a:t>(Fuel Switching) </a:t>
            </a:r>
            <a:r>
              <a:rPr lang="ko-KR" altLang="en-US" b="1" dirty="0"/>
              <a:t>전략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00A4BD-A4DA-98FA-4F6B-55ACC348E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906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0686-9E64-6831-CA83-68F3B7B0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A0C8F0-5DD1-BDD0-2A7E-7E3D02D4C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74FA00-5AFC-65C9-4C73-05EE909C1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그렇다면</a:t>
            </a:r>
            <a:r>
              <a:rPr lang="en-US" altLang="ko-KR" dirty="0"/>
              <a:t>, </a:t>
            </a:r>
            <a:r>
              <a:rPr lang="ko-KR" altLang="en-US" dirty="0"/>
              <a:t>탄소의 굴레를 완전히 벗어 던질 </a:t>
            </a:r>
            <a:r>
              <a:rPr lang="ko-KR" altLang="en-US" b="1" dirty="0"/>
              <a:t>궁극적인 해답</a:t>
            </a:r>
            <a:r>
              <a:rPr lang="ko-KR" altLang="en-US" dirty="0"/>
              <a:t>은 무엇일까요</a:t>
            </a:r>
            <a:r>
              <a:rPr lang="en-US" altLang="ko-KR" dirty="0"/>
              <a:t>? </a:t>
            </a:r>
            <a:r>
              <a:rPr lang="ko-KR" altLang="en-US" b="1" dirty="0"/>
              <a:t>게임 </a:t>
            </a:r>
            <a:r>
              <a:rPr lang="ko-KR" altLang="en-US" b="1" dirty="0" err="1"/>
              <a:t>체인저</a:t>
            </a:r>
            <a:r>
              <a:rPr lang="ko-KR" altLang="en-US" b="1" dirty="0"/>
              <a:t> </a:t>
            </a:r>
            <a:r>
              <a:rPr lang="en-US" altLang="ko-KR" b="1" dirty="0"/>
              <a:t>'</a:t>
            </a:r>
            <a:r>
              <a:rPr lang="ko-KR" altLang="en-US" b="1" dirty="0"/>
              <a:t>그린 수소</a:t>
            </a:r>
            <a:r>
              <a:rPr lang="en-US" altLang="ko-KR" b="1" dirty="0"/>
              <a:t>(Green H2)'</a:t>
            </a:r>
            <a:r>
              <a:rPr lang="ko-KR" altLang="en-US" b="1" dirty="0"/>
              <a:t>로의 진화입니다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먼저 왼쪽 차트를 보십시오</a:t>
            </a:r>
            <a:r>
              <a:rPr lang="en-US" altLang="ko-KR" dirty="0"/>
              <a:t>. </a:t>
            </a:r>
            <a:r>
              <a:rPr lang="ko-KR" altLang="en-US" b="1" dirty="0"/>
              <a:t>노란색 점선</a:t>
            </a:r>
            <a:r>
              <a:rPr lang="en-US" altLang="ko-KR" b="1" dirty="0"/>
              <a:t>(</a:t>
            </a:r>
            <a:r>
              <a:rPr lang="ko-KR" altLang="en-US" b="1" dirty="0"/>
              <a:t>기존 </a:t>
            </a:r>
            <a:r>
              <a:rPr lang="en-US" altLang="ko-KR" b="1" dirty="0"/>
              <a:t>LNG)</a:t>
            </a:r>
            <a:r>
              <a:rPr lang="ko-KR" altLang="en-US" dirty="0"/>
              <a:t>은 인프라 접근성은 좋지만</a:t>
            </a:r>
            <a:r>
              <a:rPr lang="en-US" altLang="ko-KR" dirty="0"/>
              <a:t>, </a:t>
            </a:r>
            <a:r>
              <a:rPr lang="ko-KR" altLang="en-US" dirty="0"/>
              <a:t>탄소 중립성과 가격 안정성 면에서 치명적인 약점을 가집니다</a:t>
            </a:r>
            <a:r>
              <a:rPr lang="en-US" altLang="ko-KR" dirty="0"/>
              <a:t>. </a:t>
            </a:r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b="1" dirty="0"/>
              <a:t>초록색 실선</a:t>
            </a:r>
            <a:r>
              <a:rPr lang="en-US" altLang="ko-KR" b="1" dirty="0"/>
              <a:t>(</a:t>
            </a:r>
            <a:r>
              <a:rPr lang="ko-KR" altLang="en-US" b="1" dirty="0"/>
              <a:t>그린 수소</a:t>
            </a:r>
            <a:r>
              <a:rPr lang="en-US" altLang="ko-KR" b="1" dirty="0"/>
              <a:t>)</a:t>
            </a:r>
            <a:r>
              <a:rPr lang="ko-KR" altLang="en-US" dirty="0"/>
              <a:t>은 인프라 구축이라는 숙제는 있지만</a:t>
            </a:r>
            <a:r>
              <a:rPr lang="en-US" altLang="ko-KR" dirty="0"/>
              <a:t>, </a:t>
            </a:r>
            <a:r>
              <a:rPr lang="ko-KR" altLang="en-US" b="1" dirty="0"/>
              <a:t>환경과 안보</a:t>
            </a:r>
            <a:r>
              <a:rPr lang="en-US" altLang="ko-KR" b="1" dirty="0"/>
              <a:t>, </a:t>
            </a:r>
            <a:r>
              <a:rPr lang="ko-KR" altLang="en-US" b="1" dirty="0"/>
              <a:t>정책</a:t>
            </a:r>
            <a:r>
              <a:rPr lang="ko-KR" altLang="en-US" dirty="0"/>
              <a:t>이라는 미래 핵심 가치에서 만점을 기록하는</a:t>
            </a:r>
            <a:r>
              <a:rPr lang="en-US" altLang="ko-KR" dirty="0"/>
              <a:t>, </a:t>
            </a:r>
            <a:r>
              <a:rPr lang="ko-KR" altLang="en-US" dirty="0"/>
              <a:t>말 그대로 **</a:t>
            </a:r>
            <a:r>
              <a:rPr lang="en-US" altLang="ko-KR" dirty="0"/>
              <a:t>'</a:t>
            </a:r>
            <a:r>
              <a:rPr lang="ko-KR" altLang="en-US" dirty="0"/>
              <a:t>대체 불가능한 자원</a:t>
            </a:r>
            <a:r>
              <a:rPr lang="en-US" altLang="ko-KR" dirty="0"/>
              <a:t>'**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여기가 핵심입니다</a:t>
            </a:r>
            <a:r>
              <a:rPr lang="en-US" altLang="ko-KR" b="1" dirty="0"/>
              <a:t>.</a:t>
            </a:r>
            <a:r>
              <a:rPr lang="ko-KR" altLang="en-US" dirty="0"/>
              <a:t> 그래서 </a:t>
            </a:r>
            <a:r>
              <a:rPr lang="ko-KR" altLang="en-US" b="1" dirty="0"/>
              <a:t>그 수소를 어떻게 조달할 것인가</a:t>
            </a:r>
            <a:r>
              <a:rPr lang="en-US" altLang="ko-KR" b="1" dirty="0"/>
              <a:t>?</a:t>
            </a:r>
            <a:r>
              <a:rPr lang="en-US" altLang="ko-KR" dirty="0"/>
              <a:t>’ </a:t>
            </a:r>
            <a:r>
              <a:rPr lang="ko-KR" altLang="en-US" dirty="0"/>
              <a:t>에 대한 저의 해답은 바로 이 지도에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 대한민국 남부 지방</a:t>
            </a:r>
            <a:r>
              <a:rPr lang="en-US" altLang="ko-KR" dirty="0"/>
              <a:t>(</a:t>
            </a:r>
            <a:r>
              <a:rPr lang="ko-KR" altLang="en-US" dirty="0"/>
              <a:t>제주</a:t>
            </a:r>
            <a:r>
              <a:rPr lang="en-US" altLang="ko-KR" dirty="0"/>
              <a:t>·</a:t>
            </a:r>
            <a:r>
              <a:rPr lang="ko-KR" altLang="en-US" dirty="0"/>
              <a:t>호남</a:t>
            </a:r>
            <a:r>
              <a:rPr lang="en-US" altLang="ko-KR" dirty="0"/>
              <a:t>)</a:t>
            </a:r>
            <a:r>
              <a:rPr lang="ko-KR" altLang="en-US" dirty="0"/>
              <a:t>은 태양광</a:t>
            </a:r>
            <a:r>
              <a:rPr lang="en-US" altLang="ko-KR" dirty="0"/>
              <a:t>·</a:t>
            </a:r>
            <a:r>
              <a:rPr lang="ko-KR" altLang="en-US" dirty="0"/>
              <a:t>풍력 발전량이 너무 많아 전기를 강제로 버리는 </a:t>
            </a:r>
            <a:r>
              <a:rPr lang="ko-KR" altLang="en-US" b="1" dirty="0"/>
              <a:t>출력 제어</a:t>
            </a:r>
            <a:r>
              <a:rPr lang="en-US" altLang="ko-KR" b="1" dirty="0"/>
              <a:t>(Curtailment)</a:t>
            </a:r>
            <a:r>
              <a:rPr lang="ko-KR" altLang="en-US" dirty="0"/>
              <a:t>가 심각합니다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저는 이 </a:t>
            </a:r>
            <a:r>
              <a:rPr lang="ko-KR" altLang="en-US" b="1" dirty="0"/>
              <a:t>남부의 버려지는 잉여 전력</a:t>
            </a:r>
            <a:r>
              <a:rPr lang="en-US" altLang="ko-KR" b="1" dirty="0"/>
              <a:t>(Yellow)</a:t>
            </a:r>
            <a:r>
              <a:rPr lang="ko-KR" altLang="en-US" dirty="0"/>
              <a:t>을 </a:t>
            </a:r>
            <a:r>
              <a:rPr lang="en-US" altLang="ko-KR" dirty="0"/>
              <a:t>P2G </a:t>
            </a:r>
            <a:r>
              <a:rPr lang="ko-KR" altLang="en-US" dirty="0"/>
              <a:t>기술로 </a:t>
            </a:r>
            <a:r>
              <a:rPr lang="ko-KR" altLang="en-US" b="1" dirty="0"/>
              <a:t>수소</a:t>
            </a:r>
            <a:r>
              <a:rPr lang="ko-KR" altLang="en-US" dirty="0"/>
              <a:t>로 전환한 뒤</a:t>
            </a:r>
            <a:r>
              <a:rPr lang="en-US" altLang="ko-KR" dirty="0"/>
              <a:t>, </a:t>
            </a:r>
            <a:r>
              <a:rPr lang="ko-KR" altLang="en-US" dirty="0"/>
              <a:t>파이프라인을 통해 전력 수요가 폭증하는 서울로 쏘아 올리는 </a:t>
            </a:r>
            <a:r>
              <a:rPr lang="en-US" altLang="ko-KR" b="1" dirty="0"/>
              <a:t>'</a:t>
            </a:r>
            <a:r>
              <a:rPr lang="ko-KR" altLang="en-US" b="1" dirty="0"/>
              <a:t>국가 단위 에너지 고속도로</a:t>
            </a:r>
            <a:r>
              <a:rPr lang="en-US" altLang="ko-KR" b="1" dirty="0"/>
              <a:t>(Energy Highway)'</a:t>
            </a:r>
            <a:r>
              <a:rPr lang="ko-KR" altLang="en-US" dirty="0"/>
              <a:t> 모델을 제안합니다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결론적으로 단순히 연료만 바꾸는 것이 아닙니다</a:t>
            </a:r>
            <a:r>
              <a:rPr lang="en-US" altLang="ko-KR" dirty="0"/>
              <a:t>. ① </a:t>
            </a:r>
            <a:r>
              <a:rPr lang="ko-KR" altLang="en-US" dirty="0"/>
              <a:t>발전 과정의 탄소를 </a:t>
            </a:r>
            <a:r>
              <a:rPr lang="en-US" altLang="ko-KR" b="1" dirty="0"/>
              <a:t>Zero</a:t>
            </a:r>
            <a:r>
              <a:rPr lang="ko-KR" altLang="en-US" dirty="0"/>
              <a:t>로 만들고</a:t>
            </a:r>
            <a:r>
              <a:rPr lang="en-US" altLang="ko-KR" dirty="0"/>
              <a:t>, ② </a:t>
            </a:r>
            <a:r>
              <a:rPr lang="ko-KR" altLang="en-US" dirty="0"/>
              <a:t>해외 유가 변동에서 벗어나 </a:t>
            </a:r>
            <a:r>
              <a:rPr lang="ko-KR" altLang="en-US" b="1" dirty="0"/>
              <a:t>에너지 안보</a:t>
            </a:r>
            <a:r>
              <a:rPr lang="ko-KR" altLang="en-US" dirty="0"/>
              <a:t>를 확보하며</a:t>
            </a:r>
            <a:r>
              <a:rPr lang="en-US" altLang="ko-KR" dirty="0"/>
              <a:t>, ③ </a:t>
            </a:r>
            <a:r>
              <a:rPr lang="ko-KR" altLang="en-US" dirty="0"/>
              <a:t>남부의 과잉 공급과 수도권의 과잉 수요를 동시에 해결하는 </a:t>
            </a:r>
            <a:r>
              <a:rPr lang="ko-KR" altLang="en-US" b="1" dirty="0"/>
              <a:t>국토 균형 발전 모델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944886-9676-4C47-0F66-32B0E71EF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468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1365-C50B-0C52-1256-E7B507B57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F6C25-2F2E-91F1-1290-3DD8FF0FE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52756E-89E6-C480-E021-48E88DB01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보여드린 비전이 단순히 </a:t>
            </a:r>
            <a:r>
              <a:rPr lang="en-US" altLang="ko-KR" dirty="0"/>
              <a:t>'</a:t>
            </a:r>
            <a:r>
              <a:rPr lang="ko-KR" altLang="en-US" dirty="0"/>
              <a:t>이상적인 그림</a:t>
            </a:r>
            <a:r>
              <a:rPr lang="en-US" altLang="ko-KR" dirty="0"/>
              <a:t>'</a:t>
            </a:r>
            <a:r>
              <a:rPr lang="ko-KR" altLang="en-US" dirty="0"/>
              <a:t>에 그치지 않음을 </a:t>
            </a:r>
            <a:r>
              <a:rPr lang="ko-KR" altLang="en-US" b="1" dirty="0"/>
              <a:t>정량적인 데이터</a:t>
            </a:r>
            <a:r>
              <a:rPr lang="en-US" altLang="ko-KR" b="1" dirty="0"/>
              <a:t>(Quantitative Data)</a:t>
            </a:r>
            <a:r>
              <a:rPr lang="ko-KR" altLang="en-US" dirty="0"/>
              <a:t>로 증명하겠습니다</a:t>
            </a:r>
            <a:r>
              <a:rPr lang="en-US" altLang="ko-KR" dirty="0"/>
              <a:t>. </a:t>
            </a:r>
            <a:r>
              <a:rPr lang="en-US" altLang="ko-KR" b="1" dirty="0"/>
              <a:t>'From Grey to Green', </a:t>
            </a:r>
            <a:r>
              <a:rPr lang="ko-KR" altLang="en-US" b="1" dirty="0"/>
              <a:t>정량적 가치의 도약입니다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좌측 표는 기존 </a:t>
            </a:r>
            <a:r>
              <a:rPr lang="en-US" altLang="ko-KR" dirty="0"/>
              <a:t>LNG </a:t>
            </a:r>
            <a:r>
              <a:rPr lang="ko-KR" altLang="en-US" dirty="0"/>
              <a:t>방식과 제안하는 그린 수소 방식을 </a:t>
            </a:r>
            <a:r>
              <a:rPr lang="en-US" altLang="ko-KR" b="1" dirty="0"/>
              <a:t>5</a:t>
            </a:r>
            <a:r>
              <a:rPr lang="ko-KR" altLang="en-US" b="1" dirty="0"/>
              <a:t>대 핵심 지표</a:t>
            </a:r>
            <a:r>
              <a:rPr lang="ko-KR" altLang="en-US" dirty="0"/>
              <a:t>로 비교한 결과입니다</a:t>
            </a:r>
            <a:r>
              <a:rPr lang="en-US" altLang="ko-KR" dirty="0"/>
              <a:t>. </a:t>
            </a:r>
            <a:r>
              <a:rPr lang="ko-KR" altLang="en-US" dirty="0"/>
              <a:t>가장 큰 차이점은 </a:t>
            </a:r>
            <a:r>
              <a:rPr lang="en-US" altLang="ko-KR" b="1" dirty="0"/>
              <a:t>'</a:t>
            </a:r>
            <a:r>
              <a:rPr lang="ko-KR" altLang="en-US" b="1" dirty="0"/>
              <a:t>리스크의 제거</a:t>
            </a:r>
            <a:r>
              <a:rPr lang="en-US" altLang="ko-KR" b="1" dirty="0"/>
              <a:t>’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기존 방식은 연료를 전량 해외 수입에 의존하며 유가 변동 리스크에 노출되어 있지만</a:t>
            </a:r>
            <a:r>
              <a:rPr lang="en-US" altLang="ko-KR" dirty="0"/>
              <a:t>, </a:t>
            </a:r>
            <a:r>
              <a:rPr lang="ko-KR" altLang="en-US" dirty="0"/>
              <a:t>그린 수소는 </a:t>
            </a:r>
            <a:r>
              <a:rPr lang="ko-KR" altLang="en-US" b="1" dirty="0"/>
              <a:t>국내에서 생산</a:t>
            </a:r>
            <a:r>
              <a:rPr lang="en-US" altLang="ko-KR" b="1" dirty="0"/>
              <a:t>(P2G)</a:t>
            </a:r>
            <a:r>
              <a:rPr lang="en-US" altLang="ko-KR" dirty="0"/>
              <a:t> </a:t>
            </a:r>
            <a:r>
              <a:rPr lang="ko-KR" altLang="en-US" dirty="0"/>
              <a:t>되므로 외부 충격으로부터 자유롭습니다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여기가 핵심입니다</a:t>
            </a:r>
            <a:r>
              <a:rPr lang="en-US" altLang="ko-KR" b="1" dirty="0"/>
              <a:t>.</a:t>
            </a:r>
            <a:r>
              <a:rPr lang="ko-KR" altLang="en-US" dirty="0"/>
              <a:t> 이 수치들이 실제 운영에서 어떤 차이를 만드는지</a:t>
            </a:r>
            <a:r>
              <a:rPr lang="en-US" altLang="ko-KR" dirty="0"/>
              <a:t>, </a:t>
            </a:r>
            <a:r>
              <a:rPr lang="ko-KR" altLang="en-US" dirty="0"/>
              <a:t>우측 그래프를 봐 주십시오</a:t>
            </a:r>
            <a:r>
              <a:rPr lang="en-US" altLang="ko-KR" dirty="0"/>
              <a:t>. </a:t>
            </a:r>
            <a:r>
              <a:rPr lang="ko-KR" altLang="en-US" dirty="0"/>
              <a:t>보시는 것처럼 </a:t>
            </a:r>
            <a:r>
              <a:rPr lang="ko-KR" altLang="en-US" b="1" dirty="0"/>
              <a:t>세 가지 지표가 드라마틱하게 교차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b="1" dirty="0" err="1"/>
              <a:t>환경성</a:t>
            </a:r>
            <a:r>
              <a:rPr lang="en-US" altLang="ko-KR" b="1" dirty="0"/>
              <a:t>(CO2)</a:t>
            </a:r>
            <a:r>
              <a:rPr lang="ko-KR" altLang="en-US" dirty="0"/>
              <a:t>과 </a:t>
            </a:r>
            <a:r>
              <a:rPr lang="ko-KR" altLang="en-US" b="1" dirty="0"/>
              <a:t>기동 시간</a:t>
            </a:r>
            <a:r>
              <a:rPr lang="en-US" altLang="ko-KR" b="1" dirty="0"/>
              <a:t>(Start-up Time)</a:t>
            </a:r>
            <a:r>
              <a:rPr lang="ko-KR" altLang="en-US" dirty="0"/>
              <a:t>은 바닥으로 뚝 떨어집니다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1</a:t>
            </a:r>
            <a:r>
              <a:rPr lang="ko-KR" altLang="en-US" dirty="0"/>
              <a:t>시간 이상 걸리던 기동 시간을 </a:t>
            </a:r>
            <a:r>
              <a:rPr lang="en-US" altLang="ko-KR" b="1" dirty="0"/>
              <a:t>10</a:t>
            </a:r>
            <a:r>
              <a:rPr lang="ko-KR" altLang="en-US" b="1" dirty="0"/>
              <a:t>분 이내</a:t>
            </a:r>
            <a:r>
              <a:rPr lang="ko-KR" altLang="en-US" dirty="0"/>
              <a:t>로 단축하여</a:t>
            </a:r>
            <a:r>
              <a:rPr lang="en-US" altLang="ko-KR" dirty="0"/>
              <a:t>, </a:t>
            </a:r>
            <a:r>
              <a:rPr lang="ko-KR" altLang="en-US" dirty="0"/>
              <a:t>급변하는 전력 수요에 즉각 대응할 수 있는</a:t>
            </a:r>
            <a:r>
              <a:rPr lang="ko-KR" altLang="en-US" b="1" dirty="0"/>
              <a:t> </a:t>
            </a:r>
            <a:r>
              <a:rPr lang="en-US" altLang="ko-KR" b="1" dirty="0"/>
              <a:t>‘</a:t>
            </a:r>
            <a:r>
              <a:rPr lang="ko-KR" altLang="en-US" b="1" dirty="0"/>
              <a:t>유연성</a:t>
            </a:r>
            <a:r>
              <a:rPr lang="en-US" altLang="ko-KR" b="1" dirty="0"/>
              <a:t>(Flexibility)'</a:t>
            </a:r>
            <a:r>
              <a:rPr lang="ko-KR" altLang="en-US" dirty="0"/>
              <a:t>을 확보했습니다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반대로 </a:t>
            </a:r>
            <a:r>
              <a:rPr lang="ko-KR" altLang="en-US" b="1" dirty="0"/>
              <a:t>수익성</a:t>
            </a:r>
            <a:r>
              <a:rPr lang="en-US" altLang="ko-KR" b="1" dirty="0"/>
              <a:t>(REC </a:t>
            </a:r>
            <a:r>
              <a:rPr lang="ko-KR" altLang="en-US" b="1" dirty="0"/>
              <a:t>가중치</a:t>
            </a:r>
            <a:r>
              <a:rPr lang="en-US" altLang="ko-KR" b="1" dirty="0"/>
              <a:t>)</a:t>
            </a:r>
            <a:r>
              <a:rPr lang="ko-KR" altLang="en-US" dirty="0"/>
              <a:t>은 가파르게 상승합니다</a:t>
            </a:r>
            <a:r>
              <a:rPr lang="en-US" altLang="ko-KR" dirty="0"/>
              <a:t>. </a:t>
            </a:r>
            <a:r>
              <a:rPr lang="ko-KR" altLang="en-US" dirty="0"/>
              <a:t>청정 수소 인센티브를 통해 가중치가 </a:t>
            </a:r>
            <a:r>
              <a:rPr lang="en-US" altLang="ko-KR" dirty="0"/>
              <a:t>1.9</a:t>
            </a:r>
            <a:r>
              <a:rPr lang="ko-KR" altLang="en-US" dirty="0"/>
              <a:t>에서 </a:t>
            </a:r>
            <a:r>
              <a:rPr lang="en-US" altLang="ko-KR" b="1" dirty="0"/>
              <a:t>3.0 </a:t>
            </a:r>
            <a:r>
              <a:rPr lang="ko-KR" altLang="en-US" b="1" dirty="0"/>
              <a:t>이상</a:t>
            </a:r>
            <a:r>
              <a:rPr lang="ko-KR" altLang="en-US" dirty="0"/>
              <a:t>으로 뛰며</a:t>
            </a:r>
            <a:r>
              <a:rPr lang="en-US" altLang="ko-KR" dirty="0"/>
              <a:t>, </a:t>
            </a:r>
            <a:r>
              <a:rPr lang="ko-KR" altLang="en-US" dirty="0"/>
              <a:t>이는 프로젝트의 </a:t>
            </a:r>
            <a:r>
              <a:rPr lang="ko-KR" altLang="en-US" b="1" dirty="0"/>
              <a:t>경제적 타당성</a:t>
            </a:r>
            <a:r>
              <a:rPr lang="en-US" altLang="ko-KR" b="1" dirty="0"/>
              <a:t>(Feasibility)</a:t>
            </a:r>
            <a:r>
              <a:rPr lang="ko-KR" altLang="en-US" dirty="0"/>
              <a:t>을 보장하는 핵심 근거가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결론적으로 수소 연료전지로의 전환은</a:t>
            </a:r>
            <a:r>
              <a:rPr lang="en-US" altLang="ko-KR" dirty="0"/>
              <a:t>, </a:t>
            </a:r>
            <a:r>
              <a:rPr lang="ko-KR" altLang="en-US" dirty="0"/>
              <a:t>단순한 친환경 캠페인이 아니라 </a:t>
            </a:r>
            <a:r>
              <a:rPr lang="en-US" altLang="ko-KR" b="1" dirty="0"/>
              <a:t>'</a:t>
            </a:r>
            <a:r>
              <a:rPr lang="ko-KR" altLang="en-US" b="1" dirty="0"/>
              <a:t>운영 효율</a:t>
            </a:r>
            <a:r>
              <a:rPr lang="en-US" altLang="ko-KR" b="1" dirty="0"/>
              <a:t>'</a:t>
            </a:r>
            <a:r>
              <a:rPr lang="ko-KR" altLang="en-US" b="1" dirty="0"/>
              <a:t>과 </a:t>
            </a:r>
            <a:r>
              <a:rPr lang="en-US" altLang="ko-KR" b="1" dirty="0"/>
              <a:t>'</a:t>
            </a:r>
            <a:r>
              <a:rPr lang="ko-KR" altLang="en-US" b="1" dirty="0"/>
              <a:t>수익성</a:t>
            </a:r>
            <a:r>
              <a:rPr lang="en-US" altLang="ko-KR" b="1" dirty="0"/>
              <a:t>' </a:t>
            </a:r>
            <a:r>
              <a:rPr lang="ko-KR" altLang="en-US" b="1" dirty="0"/>
              <a:t>두 마리 토끼를 잡는 가장 합리적인 전략적 선택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438276-2EF5-FB79-FB29-D170BC0F6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4078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E300-0E92-394B-2201-7F5656F6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EC068A-9CE8-E0CF-4520-42B2E9C48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F99F6B-35F9-05AA-7F9F-DD4B79E97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슬라이드는 ‘에너지 전환을 한 번에 뛰어넘을 수 </a:t>
            </a:r>
            <a:r>
              <a:rPr lang="ko-KR" altLang="en-US" dirty="0" err="1"/>
              <a:t>있는가’에</a:t>
            </a:r>
            <a:r>
              <a:rPr lang="ko-KR" altLang="en-US" dirty="0"/>
              <a:t> 대한 답을 담고 있습니다</a:t>
            </a:r>
            <a:r>
              <a:rPr lang="en-US" altLang="ko-KR" dirty="0"/>
              <a:t>. </a:t>
            </a:r>
            <a:r>
              <a:rPr lang="ko-KR" altLang="en-US" dirty="0"/>
              <a:t>결론부터 말씀드리면</a:t>
            </a:r>
            <a:r>
              <a:rPr lang="en-US" altLang="ko-KR" dirty="0"/>
              <a:t>, </a:t>
            </a:r>
            <a:r>
              <a:rPr lang="ko-KR" altLang="en-US" b="1" dirty="0"/>
              <a:t>완전한 그린 수소 체계는 ‘도착지’ 이지 출발점이 아닙니다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첫 번째 단계는 </a:t>
            </a:r>
            <a:r>
              <a:rPr lang="ko-KR" altLang="en-US" i="1" dirty="0"/>
              <a:t>기반 조성 단계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단계에서는 새로운 인프라를 만드는 것이 아니라</a:t>
            </a:r>
            <a:r>
              <a:rPr lang="en-US" altLang="ko-KR" dirty="0"/>
              <a:t>, </a:t>
            </a:r>
            <a:r>
              <a:rPr lang="ko-KR" altLang="en-US" b="1" dirty="0"/>
              <a:t>이미 존재하는 </a:t>
            </a:r>
            <a:r>
              <a:rPr lang="en-US" altLang="ko-KR" b="1" dirty="0"/>
              <a:t>LNG </a:t>
            </a:r>
            <a:r>
              <a:rPr lang="ko-KR" altLang="en-US" b="1" dirty="0"/>
              <a:t>인프라를 활용해 분산형 전원을 구축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핵심은 ‘지금 당장 가능한 선택’ 으로 </a:t>
            </a:r>
            <a:r>
              <a:rPr lang="ko-KR" altLang="en-US" b="1" dirty="0"/>
              <a:t>도심 인근 전력 공급 안정성을 확보하는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번째는 </a:t>
            </a:r>
            <a:r>
              <a:rPr lang="ko-KR" altLang="en-US" i="1" dirty="0"/>
              <a:t>전환 단계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여기서 중요한 변화는 연료전지가 단순 발전 설비가 아니라</a:t>
            </a:r>
            <a:r>
              <a:rPr lang="en-US" altLang="ko-KR" dirty="0"/>
              <a:t>, </a:t>
            </a:r>
            <a:r>
              <a:rPr lang="ko-KR" altLang="en-US" b="1" dirty="0"/>
              <a:t>에너지 저장과 전환을 동시에 수행하는 구조로 확장된다는 점</a:t>
            </a:r>
            <a:r>
              <a:rPr lang="ko-KR" altLang="en-US" dirty="0"/>
              <a:t>입니다</a:t>
            </a:r>
            <a:r>
              <a:rPr lang="en-US" altLang="ko-KR" dirty="0"/>
              <a:t>. ESS</a:t>
            </a:r>
            <a:r>
              <a:rPr lang="ko-KR" altLang="en-US" dirty="0"/>
              <a:t>와 연료전지를 결합하면서 전력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, </a:t>
            </a:r>
            <a:r>
              <a:rPr lang="ko-KR" altLang="en-US" dirty="0"/>
              <a:t>수소가 분리되지 않고 연결되는 </a:t>
            </a:r>
            <a:endParaRPr lang="en-US" altLang="ko-KR" dirty="0"/>
          </a:p>
          <a:p>
            <a:r>
              <a:rPr lang="en-US" altLang="ko-KR" b="1" dirty="0"/>
              <a:t>Sector Coupling </a:t>
            </a:r>
            <a:r>
              <a:rPr lang="ko-KR" altLang="en-US" b="1" dirty="0"/>
              <a:t>구조가 형성됩니다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마지막 단계는 </a:t>
            </a:r>
            <a:r>
              <a:rPr lang="ko-KR" altLang="en-US" i="1" dirty="0"/>
              <a:t>완전 자립 단계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단계에서는 연료가 </a:t>
            </a:r>
            <a:r>
              <a:rPr lang="en-US" altLang="ko-KR" dirty="0"/>
              <a:t>LNG</a:t>
            </a:r>
            <a:r>
              <a:rPr lang="ko-KR" altLang="en-US" dirty="0"/>
              <a:t>가 아니라 </a:t>
            </a:r>
            <a:r>
              <a:rPr lang="ko-KR" altLang="en-US" b="1" dirty="0"/>
              <a:t>재생에너지 기반 그린 수소로 전환</a:t>
            </a:r>
            <a:r>
              <a:rPr lang="ko-KR" altLang="en-US" dirty="0"/>
              <a:t>됩니다</a:t>
            </a:r>
            <a:r>
              <a:rPr lang="en-US" altLang="ko-KR" dirty="0"/>
              <a:t>. </a:t>
            </a:r>
            <a:r>
              <a:rPr lang="ko-KR" altLang="en-US" dirty="0"/>
              <a:t>결과적으로 탄소 배출은 ‘</a:t>
            </a:r>
            <a:r>
              <a:rPr lang="ko-KR" altLang="en-US" dirty="0" err="1"/>
              <a:t>제로’에</a:t>
            </a:r>
            <a:r>
              <a:rPr lang="ko-KR" altLang="en-US" dirty="0"/>
              <a:t> 수렴하고</a:t>
            </a:r>
            <a:r>
              <a:rPr lang="en-US" altLang="ko-KR" dirty="0"/>
              <a:t>, </a:t>
            </a:r>
            <a:r>
              <a:rPr lang="ko-KR" altLang="en-US" dirty="0"/>
              <a:t>동시에 에너지 안보와 가격 안정성까지 확보됩니다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정리하면</a:t>
            </a:r>
            <a:r>
              <a:rPr lang="en-US" altLang="ko-KR" dirty="0"/>
              <a:t>, </a:t>
            </a:r>
            <a:r>
              <a:rPr lang="ko-KR" altLang="en-US" b="1" dirty="0"/>
              <a:t>오늘의 현실적인 선택인 </a:t>
            </a:r>
            <a:r>
              <a:rPr lang="en-US" altLang="ko-KR" b="1" dirty="0"/>
              <a:t>LNG</a:t>
            </a:r>
            <a:r>
              <a:rPr lang="ko-KR" altLang="en-US" b="1" dirty="0"/>
              <a:t>는 내일의 완전한 그린 수소로 가기 위한 ‘</a:t>
            </a:r>
            <a:r>
              <a:rPr lang="ko-KR" altLang="en-US" b="1" dirty="0" err="1"/>
              <a:t>징검다리’입니다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r>
              <a:rPr lang="ko-KR" altLang="en-US" dirty="0"/>
              <a:t>이 로드맵은 기술 교체가 아니라</a:t>
            </a:r>
            <a:r>
              <a:rPr lang="en-US" altLang="ko-KR" dirty="0"/>
              <a:t>, </a:t>
            </a:r>
            <a:r>
              <a:rPr lang="ko-KR" altLang="en-US" b="1" dirty="0"/>
              <a:t>리스크를 최소화하면서 미래로 이동하는 전략적 경로</a:t>
            </a:r>
            <a:r>
              <a:rPr lang="ko-KR" altLang="en-US" dirty="0"/>
              <a:t>입니다</a:t>
            </a:r>
          </a:p>
          <a:p>
            <a:endParaRPr lang="en-US" altLang="ko-KR" dirty="0"/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0E49C9-9A00-BF69-E2B3-F7E7D6653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859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보셨듯 단일 </a:t>
            </a:r>
            <a:r>
              <a:rPr lang="en-US" altLang="ko-KR" dirty="0"/>
              <a:t>ESS</a:t>
            </a:r>
            <a:r>
              <a:rPr lang="ko-KR" altLang="en-US" dirty="0"/>
              <a:t>만으로는 저녁 피크를 근본적으로 해결하기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문제는 특정 설비 하나의 문제가 아니라</a:t>
            </a:r>
            <a:r>
              <a:rPr lang="en-US" altLang="ko-KR" dirty="0"/>
              <a:t>, </a:t>
            </a:r>
            <a:r>
              <a:rPr lang="ko-KR" altLang="en-US" b="1" dirty="0"/>
              <a:t>각 설비가 담당하는 시간대와 역할의 문제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저녁 피크 대응의 핵심은 </a:t>
            </a:r>
            <a:r>
              <a:rPr lang="ko-KR" altLang="en-US" b="1" dirty="0"/>
              <a:t>단일 설비 확대가 아니라 역할 기반의 설비 조합 전략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0551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D025-228B-FFD1-6D5A-924B89E3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DB8968-C2E6-4D22-40FB-B37BDECD8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22091D-1167-7071-F6E7-619DEA87C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보신 단일 </a:t>
            </a:r>
            <a:r>
              <a:rPr lang="en-US" altLang="ko-KR" dirty="0"/>
              <a:t>ESS </a:t>
            </a:r>
            <a:r>
              <a:rPr lang="ko-KR" altLang="en-US" dirty="0"/>
              <a:t>한계를 바탕으로 이번에는 </a:t>
            </a:r>
            <a:r>
              <a:rPr lang="ko-KR" altLang="en-US" b="1" dirty="0"/>
              <a:t>역할을 나눠보았습니다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ko-KR" altLang="en-US" b="1" dirty="0"/>
              <a:t>연료전지</a:t>
            </a:r>
            <a:r>
              <a:rPr lang="ko-KR" altLang="en-US" dirty="0"/>
              <a:t>는 시간 제약 없이 안정적인 출력으로 </a:t>
            </a:r>
            <a:r>
              <a:rPr lang="ko-KR" altLang="en-US" b="1" dirty="0"/>
              <a:t>기저 부하를 보완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dirty="0" err="1"/>
              <a:t>이것만으로는</a:t>
            </a:r>
            <a:r>
              <a:rPr lang="ko-KR" altLang="en-US" dirty="0"/>
              <a:t> 저녁 시간대의 급격한 피크를 제거하기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b="1" dirty="0"/>
              <a:t>ESS</a:t>
            </a:r>
            <a:r>
              <a:rPr lang="ko-KR" altLang="en-US" b="1" dirty="0"/>
              <a:t>를 결합</a:t>
            </a:r>
            <a:r>
              <a:rPr lang="ko-KR" altLang="en-US" dirty="0"/>
              <a:t>해 </a:t>
            </a:r>
            <a:r>
              <a:rPr lang="ko-KR" altLang="en-US" b="1" dirty="0"/>
              <a:t>저녁 피크 구간만 정밀하게 절삭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구조의 핵심은 저장이나 생산이 아니라 </a:t>
            </a:r>
            <a:r>
              <a:rPr lang="en-US" altLang="ko-KR" b="1" dirty="0"/>
              <a:t>Base</a:t>
            </a:r>
            <a:r>
              <a:rPr lang="ko-KR" altLang="en-US" b="1" dirty="0"/>
              <a:t>와 </a:t>
            </a:r>
            <a:r>
              <a:rPr lang="en-US" altLang="ko-KR" b="1" dirty="0"/>
              <a:t>Peak</a:t>
            </a:r>
            <a:r>
              <a:rPr lang="ko-KR" altLang="en-US" b="1" dirty="0"/>
              <a:t>의 역할 분담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연료전지</a:t>
            </a:r>
            <a:r>
              <a:rPr lang="en-US" altLang="ko-KR" dirty="0"/>
              <a:t>: </a:t>
            </a:r>
            <a:r>
              <a:rPr lang="ko-KR" altLang="en-US" dirty="0"/>
              <a:t>항상성</a:t>
            </a:r>
            <a:r>
              <a:rPr lang="en-US" altLang="ko-KR" dirty="0"/>
              <a:t>, </a:t>
            </a:r>
            <a:r>
              <a:rPr lang="ko-KR" altLang="en-US" dirty="0"/>
              <a:t>기저 부하 담당 </a:t>
            </a:r>
            <a:r>
              <a:rPr lang="en-US" altLang="ko-KR" dirty="0"/>
              <a:t>(Base)</a:t>
            </a:r>
          </a:p>
          <a:p>
            <a:r>
              <a:rPr lang="en-US" altLang="ko-KR" b="1" dirty="0"/>
              <a:t>ESS</a:t>
            </a:r>
            <a:r>
              <a:rPr lang="en-US" altLang="ko-KR" dirty="0"/>
              <a:t>: </a:t>
            </a:r>
            <a:r>
              <a:rPr lang="ko-KR" altLang="en-US" dirty="0"/>
              <a:t>민감도 대응</a:t>
            </a:r>
            <a:r>
              <a:rPr lang="en-US" altLang="ko-KR" dirty="0"/>
              <a:t>, </a:t>
            </a:r>
            <a:r>
              <a:rPr lang="ko-KR" altLang="en-US" dirty="0"/>
              <a:t>피크 절삭 </a:t>
            </a:r>
            <a:r>
              <a:rPr lang="en-US" altLang="ko-KR" dirty="0"/>
              <a:t>(Peak)</a:t>
            </a:r>
          </a:p>
          <a:p>
            <a:r>
              <a:rPr lang="ko-KR" altLang="en-US" dirty="0"/>
              <a:t>이렇게 역할을 분리하면 단일 설비로는 제거할 수 없던 </a:t>
            </a:r>
            <a:r>
              <a:rPr lang="ko-KR" altLang="en-US" b="1" dirty="0"/>
              <a:t>저녁 피크를 구조적으로 완화</a:t>
            </a:r>
            <a:r>
              <a:rPr lang="ko-KR" altLang="en-US" dirty="0"/>
              <a:t>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E16BE4-8263-ECDE-E321-A6C2C2295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96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주요 분산 자원을 역할 기준으로 정리해보면 각 자원은 </a:t>
            </a:r>
            <a:r>
              <a:rPr lang="ko-KR" altLang="en-US" b="1" dirty="0"/>
              <a:t>시간대와 기능이 명확히 다릅니다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태양광</a:t>
            </a:r>
            <a:r>
              <a:rPr lang="en-US" altLang="ko-KR" dirty="0"/>
              <a:t>: </a:t>
            </a:r>
            <a:r>
              <a:rPr lang="ko-KR" altLang="en-US" dirty="0"/>
              <a:t>주간 자원</a:t>
            </a:r>
            <a:r>
              <a:rPr lang="en-US" altLang="ko-KR" dirty="0"/>
              <a:t>, </a:t>
            </a:r>
            <a:r>
              <a:rPr lang="ko-KR" altLang="en-US" dirty="0"/>
              <a:t>저녁 대응 부적합</a:t>
            </a:r>
          </a:p>
          <a:p>
            <a:r>
              <a:rPr lang="en-US" altLang="ko-KR" b="1" dirty="0"/>
              <a:t>ESS</a:t>
            </a:r>
            <a:r>
              <a:rPr lang="en-US" altLang="ko-KR" dirty="0"/>
              <a:t>: </a:t>
            </a:r>
            <a:r>
              <a:rPr lang="ko-KR" altLang="en-US" dirty="0"/>
              <a:t>시간 이동 수단</a:t>
            </a:r>
            <a:r>
              <a:rPr lang="en-US" altLang="ko-KR" dirty="0"/>
              <a:t>, </a:t>
            </a:r>
            <a:r>
              <a:rPr lang="ko-KR" altLang="en-US" dirty="0"/>
              <a:t>보조 수단</a:t>
            </a:r>
          </a:p>
          <a:p>
            <a:r>
              <a:rPr lang="ko-KR" altLang="en-US" b="1" dirty="0"/>
              <a:t>연료전지</a:t>
            </a:r>
            <a:r>
              <a:rPr lang="en-US" altLang="ko-KR" dirty="0"/>
              <a:t>: </a:t>
            </a:r>
            <a:r>
              <a:rPr lang="ko-KR" altLang="en-US" dirty="0"/>
              <a:t>시간 제약 없는 기저 자원</a:t>
            </a:r>
            <a:r>
              <a:rPr lang="en-US" altLang="ko-KR" dirty="0"/>
              <a:t>, </a:t>
            </a:r>
            <a:r>
              <a:rPr lang="ko-KR" altLang="en-US" b="1" dirty="0"/>
              <a:t>핵심 자원</a:t>
            </a:r>
            <a:endParaRPr lang="ko-KR" altLang="en-US" dirty="0"/>
          </a:p>
          <a:p>
            <a:r>
              <a:rPr lang="en-US" altLang="ko-KR" b="1" dirty="0"/>
              <a:t>DR</a:t>
            </a:r>
            <a:r>
              <a:rPr lang="en-US" altLang="ko-KR" dirty="0"/>
              <a:t>: </a:t>
            </a:r>
            <a:r>
              <a:rPr lang="ko-KR" altLang="en-US" dirty="0"/>
              <a:t>참여 불확실성</a:t>
            </a:r>
            <a:r>
              <a:rPr lang="en-US" altLang="ko-KR" dirty="0"/>
              <a:t>, </a:t>
            </a:r>
            <a:r>
              <a:rPr lang="ko-KR" altLang="en-US" dirty="0"/>
              <a:t>보조적 활용</a:t>
            </a:r>
          </a:p>
          <a:p>
            <a:r>
              <a:rPr lang="ko-KR" altLang="en-US" dirty="0"/>
              <a:t>저녁 피크 문제는 어느 하나를 키운다고 해결되지 않고</a:t>
            </a:r>
            <a:r>
              <a:rPr lang="en-US" altLang="ko-KR" dirty="0"/>
              <a:t>, </a:t>
            </a:r>
            <a:r>
              <a:rPr lang="ko-KR" altLang="en-US" b="1" dirty="0"/>
              <a:t>이 역할을 어떻게 </a:t>
            </a:r>
            <a:r>
              <a:rPr lang="ko-KR" altLang="en-US" b="1" dirty="0" err="1"/>
              <a:t>조합하느냐</a:t>
            </a:r>
            <a:r>
              <a:rPr lang="ko-KR" altLang="en-US" dirty="0" err="1"/>
              <a:t>의</a:t>
            </a:r>
            <a:r>
              <a:rPr lang="ko-KR" altLang="en-US" dirty="0"/>
              <a:t> 문제입니다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464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하나의 해법이 </a:t>
            </a:r>
            <a:r>
              <a:rPr lang="ko-KR" altLang="en-US" b="1" dirty="0"/>
              <a:t>모든 지역에 통하지 않는다</a:t>
            </a:r>
            <a:r>
              <a:rPr lang="ko-KR" altLang="en-US" dirty="0"/>
              <a:t>는 결론으로 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서울시를 저녁 피크의 강도와 반복성</a:t>
            </a:r>
            <a:r>
              <a:rPr lang="en-US" altLang="ko-KR" dirty="0"/>
              <a:t>, </a:t>
            </a:r>
            <a:r>
              <a:rPr lang="ko-KR" altLang="en-US" dirty="0"/>
              <a:t>지속성 기준으로 나누면</a:t>
            </a:r>
            <a:r>
              <a:rPr lang="en-US" altLang="ko-KR" dirty="0"/>
              <a:t>, </a:t>
            </a:r>
            <a:r>
              <a:rPr lang="ko-KR" altLang="en-US" b="1" dirty="0"/>
              <a:t>설비 조합의 우선순위가 명확하게 달라집니다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Type B (</a:t>
            </a:r>
            <a:r>
              <a:rPr lang="ko-KR" altLang="en-US" b="1" dirty="0"/>
              <a:t>주거 밀집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저녁 피크가 강하고 반복성이 높음 → </a:t>
            </a:r>
            <a:r>
              <a:rPr lang="en-US" altLang="ko-KR" b="1" dirty="0"/>
              <a:t>FC+ESS </a:t>
            </a:r>
            <a:r>
              <a:rPr lang="ko-KR" altLang="en-US" b="1" dirty="0"/>
              <a:t>하이브리드 최우선</a:t>
            </a:r>
            <a:endParaRPr lang="ko-KR" altLang="en-US" dirty="0"/>
          </a:p>
          <a:p>
            <a:r>
              <a:rPr lang="en-US" altLang="ko-KR" b="1" dirty="0"/>
              <a:t>Type C (</a:t>
            </a:r>
            <a:r>
              <a:rPr lang="ko-KR" altLang="en-US" b="1" dirty="0"/>
              <a:t>혼합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피크 존재하나 중간 수준 → </a:t>
            </a:r>
            <a:r>
              <a:rPr lang="en-US" altLang="ko-KR" b="1" dirty="0"/>
              <a:t>ESS </a:t>
            </a:r>
            <a:r>
              <a:rPr lang="ko-KR" altLang="en-US" b="1" dirty="0"/>
              <a:t>중심</a:t>
            </a:r>
            <a:r>
              <a:rPr lang="en-US" altLang="ko-KR" b="1" dirty="0"/>
              <a:t>, </a:t>
            </a:r>
            <a:r>
              <a:rPr lang="ko-KR" altLang="en-US" b="1" dirty="0"/>
              <a:t>필요시 추가 자원 결합</a:t>
            </a:r>
            <a:endParaRPr lang="ko-KR" altLang="en-US" dirty="0"/>
          </a:p>
          <a:p>
            <a:r>
              <a:rPr lang="en-US" altLang="ko-KR" b="1" dirty="0"/>
              <a:t>Type A (</a:t>
            </a:r>
            <a:r>
              <a:rPr lang="ko-KR" altLang="en-US" b="1" dirty="0"/>
              <a:t>주간형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저녁 피크가 구조적 문제 아님 → </a:t>
            </a:r>
            <a:r>
              <a:rPr lang="en-US" altLang="ko-KR" b="1" dirty="0"/>
              <a:t>DR, </a:t>
            </a:r>
            <a:r>
              <a:rPr lang="ko-KR" altLang="en-US" b="1" dirty="0"/>
              <a:t>요금제 등 </a:t>
            </a:r>
            <a:r>
              <a:rPr lang="ko-KR" altLang="en-US" b="1" dirty="0" err="1"/>
              <a:t>비설비</a:t>
            </a:r>
            <a:r>
              <a:rPr lang="ko-KR" altLang="en-US" b="1" dirty="0"/>
              <a:t> 정책 연계</a:t>
            </a:r>
            <a:endParaRPr lang="ko-KR" altLang="en-US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저녁 피크 문제는 **</a:t>
            </a:r>
            <a:r>
              <a:rPr lang="en-US" altLang="ko-KR" dirty="0"/>
              <a:t>"</a:t>
            </a:r>
            <a:r>
              <a:rPr lang="ko-KR" altLang="en-US" dirty="0"/>
              <a:t>얼마나 설비를 늘릴 것인가</a:t>
            </a:r>
            <a:r>
              <a:rPr lang="en-US" altLang="ko-KR" dirty="0"/>
              <a:t>"</a:t>
            </a:r>
            <a:r>
              <a:rPr lang="ko-KR" altLang="en-US" dirty="0"/>
              <a:t>가 아니라 </a:t>
            </a:r>
            <a:r>
              <a:rPr lang="en-US" altLang="ko-KR" dirty="0"/>
              <a:t>"</a:t>
            </a:r>
            <a:r>
              <a:rPr lang="ko-KR" altLang="en-US" dirty="0"/>
              <a:t>어떤 지역에 어떤 역할의 자원을 배치할 것인가</a:t>
            </a:r>
            <a:r>
              <a:rPr lang="en-US" altLang="ko-KR" dirty="0"/>
              <a:t>"**</a:t>
            </a:r>
            <a:r>
              <a:rPr lang="ko-KR" altLang="en-US" dirty="0"/>
              <a:t>의 문제입니다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767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결론부입니다</a:t>
            </a:r>
            <a:r>
              <a:rPr lang="en-US" altLang="ko-KR" dirty="0"/>
              <a:t>. </a:t>
            </a:r>
            <a:r>
              <a:rPr lang="ko-KR" altLang="en-US" dirty="0"/>
              <a:t>이 분석이 특정 지역 사례에 그치지 않고</a:t>
            </a:r>
            <a:r>
              <a:rPr lang="en-US" altLang="ko-KR" dirty="0"/>
              <a:t>, </a:t>
            </a:r>
            <a:r>
              <a:rPr lang="ko-KR" altLang="en-US" b="1" dirty="0"/>
              <a:t>도시 단위로 어떻게 확장될 수 있는지</a:t>
            </a:r>
            <a:r>
              <a:rPr lang="ko-KR" altLang="en-US" dirty="0"/>
              <a:t> 정리했습니다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핵심은 </a:t>
            </a:r>
            <a:r>
              <a:rPr lang="en-US" altLang="ko-KR" b="1" dirty="0"/>
              <a:t>Point to Area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하나의 단지에서 검증된 모델을 서울시 전반의 에너지 운영 전략으로 확장하는 접근입니다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Phase 1 - </a:t>
            </a:r>
            <a:r>
              <a:rPr lang="ko-KR" altLang="en-US" b="1" dirty="0"/>
              <a:t>표준화</a:t>
            </a:r>
            <a:r>
              <a:rPr lang="en-US" altLang="ko-KR" dirty="0"/>
              <a:t>: </a:t>
            </a:r>
            <a:r>
              <a:rPr lang="ko-KR" altLang="en-US" dirty="0"/>
              <a:t>전력 데이터 클러스터링으로 저녁 피크 집중 단지를 식별하고</a:t>
            </a:r>
            <a:r>
              <a:rPr lang="en-US" altLang="ko-KR" dirty="0"/>
              <a:t>, </a:t>
            </a:r>
            <a:r>
              <a:rPr lang="ko-KR" altLang="en-US" dirty="0"/>
              <a:t>검증된 조합을 표준 패키지로 우선 적용합니다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Phase 2 - </a:t>
            </a:r>
            <a:r>
              <a:rPr lang="ko-KR" altLang="en-US" b="1" dirty="0"/>
              <a:t>정책화</a:t>
            </a:r>
            <a:r>
              <a:rPr lang="en-US" altLang="ko-KR" dirty="0"/>
              <a:t>: </a:t>
            </a:r>
            <a:r>
              <a:rPr lang="ko-KR" altLang="en-US" dirty="0"/>
              <a:t>서울시 기존 에너지 정책과 연계해 하이브리드 설비 운영 기준을 제도화하고</a:t>
            </a:r>
            <a:r>
              <a:rPr lang="en-US" altLang="ko-KR" dirty="0"/>
              <a:t>, </a:t>
            </a:r>
            <a:r>
              <a:rPr lang="ko-KR" altLang="en-US" dirty="0"/>
              <a:t>민간 아파트 단지의 자발적 참여를 위한 수익 모델을 설계합니다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Phase 3 - </a:t>
            </a:r>
            <a:r>
              <a:rPr lang="ko-KR" altLang="en-US" b="1" dirty="0"/>
              <a:t>네트워크화</a:t>
            </a:r>
            <a:r>
              <a:rPr lang="en-US" altLang="ko-KR" dirty="0"/>
              <a:t>: </a:t>
            </a:r>
            <a:r>
              <a:rPr lang="ko-KR" altLang="en-US" dirty="0"/>
              <a:t>개별 단지의 에너지 자원을 </a:t>
            </a:r>
            <a:r>
              <a:rPr lang="en-US" altLang="ko-KR" dirty="0"/>
              <a:t>ICT</a:t>
            </a:r>
            <a:r>
              <a:rPr lang="ko-KR" altLang="en-US" dirty="0"/>
              <a:t>로 연결해 </a:t>
            </a:r>
            <a:r>
              <a:rPr lang="en-US" altLang="ko-KR" b="1" dirty="0"/>
              <a:t>Urban VPP</a:t>
            </a:r>
            <a:r>
              <a:rPr lang="ko-KR" altLang="en-US" dirty="0"/>
              <a:t>로 통합하고</a:t>
            </a:r>
            <a:r>
              <a:rPr lang="en-US" altLang="ko-KR" dirty="0"/>
              <a:t>, </a:t>
            </a:r>
            <a:r>
              <a:rPr lang="ko-KR" altLang="en-US" dirty="0"/>
              <a:t>지역 간 잉여 전력 거래와 보조서비스 시장 참여까지 확장합니다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4592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결론의 핵심입니다</a:t>
            </a:r>
            <a:r>
              <a:rPr lang="en-US" altLang="ko-KR" dirty="0"/>
              <a:t>. </a:t>
            </a:r>
            <a:r>
              <a:rPr lang="ko-KR" altLang="en-US" b="1" dirty="0"/>
              <a:t>저녁 피크 문제는 단일 자원의 성능 문제가 아니라 구조의 문제</a:t>
            </a:r>
            <a:r>
              <a:rPr lang="ko-KR" altLang="en-US" dirty="0"/>
              <a:t>라는 점입니다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단일 </a:t>
            </a:r>
            <a:r>
              <a:rPr lang="en-US" altLang="ko-KR" b="1" dirty="0"/>
              <a:t>ESS </a:t>
            </a:r>
            <a:r>
              <a:rPr lang="ko-KR" altLang="en-US" b="1" dirty="0"/>
              <a:t>한계 </a:t>
            </a:r>
            <a:r>
              <a:rPr lang="en-US" altLang="ko-KR" b="1" dirty="0"/>
              <a:t>(</a:t>
            </a:r>
            <a:r>
              <a:rPr lang="ko-KR" altLang="en-US" b="1" dirty="0"/>
              <a:t>용량 절벽</a:t>
            </a:r>
            <a:r>
              <a:rPr lang="en-US" altLang="ko-KR" b="1" dirty="0"/>
              <a:t>)</a:t>
            </a:r>
            <a:r>
              <a:rPr lang="en-US" altLang="ko-KR" dirty="0"/>
              <a:t>: ESS </a:t>
            </a:r>
            <a:r>
              <a:rPr lang="ko-KR" altLang="en-US" dirty="0"/>
              <a:t>단독 운전은 </a:t>
            </a:r>
            <a:r>
              <a:rPr lang="en-US" altLang="ko-KR" dirty="0"/>
              <a:t>Time Shift</a:t>
            </a:r>
            <a:r>
              <a:rPr lang="ko-KR" altLang="en-US" dirty="0"/>
              <a:t>는 가능하지만</a:t>
            </a:r>
            <a:r>
              <a:rPr lang="en-US" altLang="ko-KR" dirty="0"/>
              <a:t>, </a:t>
            </a:r>
            <a:r>
              <a:rPr lang="ko-KR" altLang="en-US" dirty="0"/>
              <a:t>용량 한계 때문에 저녁 피크를 지속적으로 제거하지는 못합니다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19</a:t>
            </a:r>
            <a:r>
              <a:rPr lang="ko-KR" altLang="en-US" dirty="0"/>
              <a:t>시 이후 반복되는 피크는 </a:t>
            </a:r>
            <a:r>
              <a:rPr lang="en-US" altLang="ko-KR" dirty="0"/>
              <a:t>ESS </a:t>
            </a:r>
            <a:r>
              <a:rPr lang="ko-KR" altLang="en-US" dirty="0"/>
              <a:t>용량을 키워도 구조적으로 남게 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하이브리드 구조 </a:t>
            </a:r>
            <a:r>
              <a:rPr lang="en-US" altLang="ko-KR" b="1" dirty="0"/>
              <a:t>(</a:t>
            </a:r>
            <a:r>
              <a:rPr lang="ko-KR" altLang="en-US" b="1" dirty="0"/>
              <a:t>이중 방어선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연료전지는 기저 부하를 상시 담당하고</a:t>
            </a:r>
            <a:r>
              <a:rPr lang="en-US" altLang="ko-KR" dirty="0"/>
              <a:t>, ESS</a:t>
            </a:r>
            <a:r>
              <a:rPr lang="ko-KR" altLang="en-US" dirty="0"/>
              <a:t>는 급격한 피크만 정밀하게 제거합니다</a:t>
            </a:r>
            <a:r>
              <a:rPr lang="en-US" altLang="ko-KR" dirty="0"/>
              <a:t>. </a:t>
            </a:r>
            <a:r>
              <a:rPr lang="ko-KR" altLang="en-US" dirty="0"/>
              <a:t>이렇게 </a:t>
            </a:r>
            <a:r>
              <a:rPr lang="en-US" altLang="ko-KR" dirty="0"/>
              <a:t>Base</a:t>
            </a:r>
            <a:r>
              <a:rPr lang="ko-KR" altLang="en-US" dirty="0"/>
              <a:t>와 </a:t>
            </a:r>
            <a:r>
              <a:rPr lang="en-US" altLang="ko-KR" dirty="0"/>
              <a:t>Peak</a:t>
            </a:r>
            <a:r>
              <a:rPr lang="ko-KR" altLang="en-US" dirty="0"/>
              <a:t>를 분리하면 단일 설비로는 제거할 수 없던 저녁 피크를 </a:t>
            </a:r>
            <a:r>
              <a:rPr lang="ko-KR" altLang="en-US" b="1" dirty="0"/>
              <a:t>구조적으로 완화</a:t>
            </a:r>
            <a:r>
              <a:rPr lang="ko-KR" altLang="en-US" dirty="0"/>
              <a:t>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구조의 장점은 </a:t>
            </a:r>
            <a:r>
              <a:rPr lang="ko-KR" altLang="en-US" b="1" dirty="0"/>
              <a:t>안정성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주민 참여나 외부 변수에 의존하지 않고</a:t>
            </a:r>
            <a:r>
              <a:rPr lang="en-US" altLang="ko-KR" dirty="0"/>
              <a:t>, </a:t>
            </a:r>
            <a:r>
              <a:rPr lang="ko-KR" altLang="en-US" dirty="0"/>
              <a:t>설비 자체의 역할 분담과 운영 로직만으로 </a:t>
            </a:r>
            <a:r>
              <a:rPr lang="ko-KR" altLang="en-US" b="1" dirty="0"/>
              <a:t>예측 가능한 시스템</a:t>
            </a:r>
            <a:r>
              <a:rPr lang="ko-KR" altLang="en-US" dirty="0"/>
              <a:t>을 만들 수 있습니다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결론</a:t>
            </a:r>
            <a:r>
              <a:rPr lang="en-US" altLang="ko-KR" b="1" dirty="0"/>
              <a:t>: </a:t>
            </a:r>
            <a:r>
              <a:rPr lang="ko-KR" altLang="en-US" b="1" dirty="0"/>
              <a:t>저녁 피크 대응의 핵심은 설비를 키우는 것이 아닌 역할을 나누는 구조 설계입니다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5393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이 프로젝트의 메시지를 한 문장으로 정리하겠습니다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지금까지의 전력 정책은 전력이 부족하면 발전소를 더 짓는 </a:t>
            </a:r>
            <a:r>
              <a:rPr lang="ko-KR" altLang="en-US" b="1" dirty="0"/>
              <a:t>용량 중심의 접근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재생에너지가 확대된 이후 문제의 본질은 총량이 아니라 </a:t>
            </a:r>
            <a:r>
              <a:rPr lang="ko-KR" altLang="en-US" b="1" dirty="0"/>
              <a:t>전력 수요와 공급의 시간대 불일치</a:t>
            </a:r>
            <a:r>
              <a:rPr lang="ko-KR" altLang="en-US" dirty="0"/>
              <a:t>로 바뀌었습니다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 중요한 질문은 </a:t>
            </a:r>
            <a:r>
              <a:rPr lang="en-US" altLang="ko-KR" dirty="0"/>
              <a:t>"</a:t>
            </a:r>
            <a:r>
              <a:rPr lang="ko-KR" altLang="en-US" dirty="0"/>
              <a:t>얼마나 많이 생산하느냐</a:t>
            </a:r>
            <a:r>
              <a:rPr lang="en-US" altLang="ko-KR" dirty="0"/>
              <a:t>"</a:t>
            </a:r>
            <a:r>
              <a:rPr lang="ko-KR" altLang="en-US" dirty="0"/>
              <a:t>가 아니라 **</a:t>
            </a:r>
            <a:r>
              <a:rPr lang="en-US" altLang="ko-KR" dirty="0"/>
              <a:t>"</a:t>
            </a:r>
            <a:r>
              <a:rPr lang="ko-KR" altLang="en-US" dirty="0"/>
              <a:t>언제 어떤 역할로 전기를 배분하느냐</a:t>
            </a:r>
            <a:r>
              <a:rPr lang="en-US" altLang="ko-KR" dirty="0"/>
              <a:t>"**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프로젝트는 전력 수요의 시간 구조를 데이터로 해석하고</a:t>
            </a:r>
            <a:r>
              <a:rPr lang="en-US" altLang="ko-KR" dirty="0"/>
              <a:t>, </a:t>
            </a:r>
            <a:r>
              <a:rPr lang="ko-KR" altLang="en-US" dirty="0"/>
              <a:t>분산된 에너지 자원을 </a:t>
            </a:r>
            <a:r>
              <a:rPr lang="ko-KR" altLang="en-US" b="1" dirty="0"/>
              <a:t>운영 관점에서 </a:t>
            </a:r>
            <a:r>
              <a:rPr lang="ko-KR" altLang="en-US" b="1" dirty="0" err="1"/>
              <a:t>재조합</a:t>
            </a:r>
            <a:r>
              <a:rPr lang="ko-KR" altLang="en-US" dirty="0" err="1"/>
              <a:t>하는</a:t>
            </a:r>
            <a:r>
              <a:rPr lang="ko-KR" altLang="en-US" dirty="0"/>
              <a:t> 도시 단위 해법을 제안합니다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"</a:t>
            </a:r>
            <a:r>
              <a:rPr lang="ko-KR" altLang="en-US" b="1" dirty="0"/>
              <a:t>전력의 미래는 더 짓는 것이 아니라 시간을 설계하는 데 있습니다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ko-KR" altLang="en-US" dirty="0" err="1"/>
              <a:t>경청해주셔서</a:t>
            </a:r>
            <a:r>
              <a:rPr lang="ko-KR" altLang="en-US" dirty="0"/>
              <a:t> 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5535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4306F-C564-2037-8AD0-93D9DB08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CF4E4B-102C-4E1D-EA51-A5CB1AFD4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8902BB-6279-081B-8DAB-765094AB7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A6ED2B-6E10-C5FD-614C-3A95E054C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4932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3ED8-9A06-ADFA-A93A-60D5E4FD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8AE84B-80CA-5A92-513A-E56B22CFE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913362-71CE-29C3-09B4-8D3533DC1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05CBC-137D-AB78-F779-9F2BDF94C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2133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424A-350D-8415-26F8-69BD3D4E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4F2D38-D108-9CAF-3796-8D28E22E4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53D40-742A-5D5E-C768-E96DA122A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3BCCF-842A-F48E-3F08-F2DD3B63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8744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424A-350D-8415-26F8-69BD3D4E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4F2D38-D108-9CAF-3796-8D28E22E4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53D40-742A-5D5E-C768-E96DA122A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3BCCF-842A-F48E-3F08-F2DD3B63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2528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9470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8910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ECA3-DBD4-D0CE-AA9B-916CB207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1C1C60-EEBF-ED17-4F6F-24EA63AD1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40425A-3004-A8A3-705A-18D0FA116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8EF595-95E7-2939-2722-B95F94671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2384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F8CA2-42C0-6F1F-3DEF-BF4874308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E82F0C-7940-2D30-457D-A8CFFF3FD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714368-2EF0-D991-7614-A6796B450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7FCA0-A151-0D59-D090-F6F7F2A72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E2CF0-E396-46AF-983E-21BE5E9692EE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739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9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8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8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2" r:id="rId8"/>
    <p:sldLayoutId id="2147483661" r:id="rId9"/>
    <p:sldLayoutId id="2147483660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7.png"/><Relationship Id="rId5" Type="http://schemas.openxmlformats.org/officeDocument/2006/relationships/image" Target="../media/image38.png"/><Relationship Id="rId10" Type="http://schemas.openxmlformats.org/officeDocument/2006/relationships/image" Target="../media/image46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5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61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62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63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49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57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28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35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28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35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55.png"/><Relationship Id="rId5" Type="http://schemas.openxmlformats.org/officeDocument/2006/relationships/image" Target="../media/image97.png"/><Relationship Id="rId10" Type="http://schemas.openxmlformats.org/officeDocument/2006/relationships/image" Target="../media/image101.png"/><Relationship Id="rId4" Type="http://schemas.openxmlformats.org/officeDocument/2006/relationships/image" Target="../media/image96.png"/><Relationship Id="rId9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06.png"/><Relationship Id="rId3" Type="http://schemas.openxmlformats.org/officeDocument/2006/relationships/image" Target="../media/image102.png"/><Relationship Id="rId7" Type="http://schemas.openxmlformats.org/officeDocument/2006/relationships/image" Target="../media/image55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35.png"/><Relationship Id="rId14" Type="http://schemas.openxmlformats.org/officeDocument/2006/relationships/image" Target="../media/image10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35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5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5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35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35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4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35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35.png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35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3" Type="http://schemas.openxmlformats.org/officeDocument/2006/relationships/image" Target="../media/image28.png"/><Relationship Id="rId21" Type="http://schemas.openxmlformats.org/officeDocument/2006/relationships/image" Target="../media/image135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24" Type="http://schemas.openxmlformats.org/officeDocument/2006/relationships/image" Target="../media/image138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10" Type="http://schemas.openxmlformats.org/officeDocument/2006/relationships/image" Target="../media/image124.png"/><Relationship Id="rId19" Type="http://schemas.openxmlformats.org/officeDocument/2006/relationships/image" Target="../media/image133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Relationship Id="rId22" Type="http://schemas.openxmlformats.org/officeDocument/2006/relationships/image" Target="../media/image1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5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37.png"/><Relationship Id="rId3" Type="http://schemas.openxmlformats.org/officeDocument/2006/relationships/image" Target="../media/image140.png"/><Relationship Id="rId7" Type="http://schemas.openxmlformats.org/officeDocument/2006/relationships/image" Target="../media/image141.png"/><Relationship Id="rId12" Type="http://schemas.openxmlformats.org/officeDocument/2006/relationships/image" Target="../media/image1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11" Type="http://schemas.openxmlformats.org/officeDocument/2006/relationships/image" Target="../media/image136.png"/><Relationship Id="rId5" Type="http://schemas.openxmlformats.org/officeDocument/2006/relationships/image" Target="../media/image100.png"/><Relationship Id="rId15" Type="http://schemas.openxmlformats.org/officeDocument/2006/relationships/image" Target="../media/image146.png"/><Relationship Id="rId10" Type="http://schemas.openxmlformats.org/officeDocument/2006/relationships/image" Target="../media/image144.png"/><Relationship Id="rId4" Type="http://schemas.openxmlformats.org/officeDocument/2006/relationships/image" Target="../media/image54.png"/><Relationship Id="rId9" Type="http://schemas.openxmlformats.org/officeDocument/2006/relationships/image" Target="../media/image143.png"/><Relationship Id="rId14" Type="http://schemas.openxmlformats.org/officeDocument/2006/relationships/image" Target="../media/image13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49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17" Type="http://schemas.openxmlformats.org/officeDocument/2006/relationships/image" Target="../media/image160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49.pn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35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49.png"/><Relationship Id="rId7" Type="http://schemas.openxmlformats.org/officeDocument/2006/relationships/image" Target="../media/image16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5" Type="http://schemas.openxmlformats.org/officeDocument/2006/relationships/image" Target="../media/image35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jpg"/><Relationship Id="rId5" Type="http://schemas.openxmlformats.org/officeDocument/2006/relationships/image" Target="../media/image35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97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9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7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5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7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8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7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8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8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0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4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18186400" y="-127000"/>
            <a:ext cx="14084300" cy="1408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5700" y="4229100"/>
            <a:ext cx="1651000" cy="165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8445500"/>
            <a:ext cx="1930400" cy="1930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0" y="1079500"/>
            <a:ext cx="1397000" cy="139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18500" y="10337800"/>
            <a:ext cx="1270000" cy="1270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12001500"/>
            <a:ext cx="3822700" cy="7747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96999" y="4644631"/>
            <a:ext cx="19157401" cy="1397000"/>
          </a:xfrm>
          <a:prstGeom prst="rect">
            <a:avLst/>
          </a:prstGeom>
        </p:spPr>
        <p:txBody>
          <a:bodyPr lIns="0" tIns="69426" rIns="0" bIns="0" rtlCol="0" anchor="t"/>
          <a:lstStyle/>
          <a:p>
            <a:pPr lvl="0">
              <a:lnSpc>
                <a:spcPct val="107899"/>
              </a:lnSpc>
            </a:pPr>
            <a:r>
              <a:rPr lang="ko-KR" altLang="en-US" sz="6600" dirty="0">
                <a:latin typeface="Pretendard SemiBold" panose="020B0600000101010101" charset="-127"/>
                <a:ea typeface="Pretendard SemiBold" panose="020B0600000101010101" charset="-127"/>
              </a:rPr>
              <a:t>전력은 충분한데</a:t>
            </a:r>
            <a:r>
              <a:rPr lang="en-US" altLang="ko-KR" sz="6600" dirty="0"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6600" dirty="0">
                <a:latin typeface="Pretendard SemiBold" panose="020B0600000101010101" charset="-127"/>
                <a:ea typeface="Pretendard SemiBold" panose="020B0600000101010101" charset="-127"/>
              </a:rPr>
              <a:t>위험은 왜 생길까</a:t>
            </a:r>
            <a:endParaRPr lang="ko-KR" sz="6600" b="0" i="0" u="none" strike="noStrike" spc="-54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96999" y="5880100"/>
            <a:ext cx="13995401" cy="7112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ko-KR" altLang="en-US" sz="4000" b="0" i="0" u="none" strike="noStrike" spc="-16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 불일치 관점에서 본 서울시 전력구조</a:t>
            </a:r>
            <a:endParaRPr lang="ko-KR" sz="4000" b="0" i="0" u="none" strike="noStrike" spc="-16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11995404"/>
            <a:ext cx="1981200" cy="7112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4000" spc="-160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원 두 희</a:t>
            </a:r>
            <a:endParaRPr lang="ko-KR" sz="4000" b="0" i="0" u="none" strike="noStrike" spc="-160" dirty="0">
              <a:solidFill>
                <a:schemeClr val="bg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4401" y="4614151"/>
            <a:ext cx="944399" cy="944399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0" y="8839200"/>
            <a:ext cx="1143000" cy="11430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0274" y="10549574"/>
            <a:ext cx="846452" cy="846452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425" y="1305925"/>
            <a:ext cx="944150" cy="944150"/>
          </a:xfrm>
          <a:prstGeom prst="rect">
            <a:avLst/>
          </a:prstGeom>
        </p:spPr>
      </p:pic>
      <p:sp>
        <p:nvSpPr>
          <p:cNvPr id="30" name="TextBox 17"/>
          <p:cNvSpPr txBox="1"/>
          <p:nvPr/>
        </p:nvSpPr>
        <p:spPr>
          <a:xfrm>
            <a:off x="5285374" y="12179300"/>
            <a:ext cx="7973426" cy="419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333" b="0" i="0" u="none" strike="noStrike" dirty="0">
                <a:solidFill>
                  <a:srgbClr val="222222"/>
                </a:solidFill>
                <a:latin typeface="Pretendard Regular"/>
              </a:rPr>
              <a:t>(Data Analyst &amp; Energy System Researcher)</a:t>
            </a:r>
            <a:endParaRPr lang="en" sz="2333" b="0" i="0" u="none" strike="noStrike" dirty="0">
              <a:solidFill>
                <a:srgbClr val="222222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2000"/>
            <a:ext cx="24625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654300" y="9779000"/>
            <a:ext cx="78613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79000"/>
            <a:ext cx="246253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80453" y="1911350"/>
            <a:ext cx="23126700" cy="1879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7200" b="0" i="0" u="none" strike="noStrike" dirty="0">
                <a:latin typeface="Pretendard Regular" panose="020B0600000101010101" charset="-127"/>
                <a:ea typeface="Pretendard Regular" panose="020B0600000101010101" charset="-127"/>
              </a:rPr>
              <a:t>전력 문제는 </a:t>
            </a:r>
            <a:r>
              <a:rPr lang="en-US" altLang="ko-KR" sz="7200" b="0" i="0" u="none" strike="noStrike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7200" b="0" i="0" u="none" strike="noStrike" dirty="0">
                <a:latin typeface="Pretendard Regular" panose="020B0600000101010101" charset="-127"/>
                <a:ea typeface="Pretendard Regular" panose="020B0600000101010101" charset="-127"/>
              </a:rPr>
              <a:t>얼마나 발전하는가</a:t>
            </a:r>
            <a:r>
              <a:rPr lang="en-US" altLang="ko-KR" sz="7200" b="0" i="0" u="none" strike="noStrike" dirty="0"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r>
              <a:rPr lang="ko-KR" altLang="en-US" sz="7200" b="0" i="0" u="none" strike="noStrike" dirty="0">
                <a:latin typeface="Pretendard Regular" panose="020B0600000101010101" charset="-127"/>
                <a:ea typeface="Pretendard Regular" panose="020B0600000101010101" charset="-127"/>
              </a:rPr>
              <a:t>의 문제가 아니다</a:t>
            </a:r>
            <a:r>
              <a:rPr lang="en-US" altLang="ko-KR" sz="7200" b="0" i="0" u="none" strike="noStrike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sz="7200" b="0" i="0" u="none" strike="noStrike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0453" y="3676650"/>
            <a:ext cx="18783300" cy="1879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10546" b="0" i="0" u="none" strike="noStrike" dirty="0">
                <a:ea typeface="Pretendard SemiBold"/>
              </a:rPr>
              <a:t>“</a:t>
            </a:r>
            <a:r>
              <a:rPr lang="ko-KR" altLang="en-US" sz="10546" b="0" i="0" u="none" strike="noStrike" dirty="0">
                <a:ea typeface="Pretendard SemiBold"/>
              </a:rPr>
              <a:t>언제 겹치지 않는가</a:t>
            </a:r>
            <a:r>
              <a:rPr lang="en-US" altLang="ko-KR" sz="10546" b="0" i="0" u="none" strike="noStrike" dirty="0">
                <a:ea typeface="Pretendard SemiBold"/>
              </a:rPr>
              <a:t>”</a:t>
            </a:r>
            <a:r>
              <a:rPr lang="ko-KR" altLang="en-US" sz="10546" b="0" i="0" u="none" strike="noStrike" dirty="0">
                <a:ea typeface="Pretendard SemiBold"/>
              </a:rPr>
              <a:t>의 문제다</a:t>
            </a:r>
            <a:r>
              <a:rPr lang="en-US" altLang="ko-KR" sz="10546" b="0" i="0" u="none" strike="noStrike" dirty="0">
                <a:ea typeface="Pretendard SemiBold"/>
              </a:rPr>
              <a:t>.</a:t>
            </a:r>
            <a:endParaRPr lang="ko-KR" sz="10546" b="0" i="0" u="none" strike="noStrike" dirty="0">
              <a:ea typeface="Pretendard SemiBold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299" y="6565900"/>
            <a:ext cx="279400" cy="279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743200" y="7035800"/>
            <a:ext cx="106299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 수요의 특정 시간대 집중</a:t>
            </a:r>
            <a:endParaRPr lang="ko-KR" sz="5000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552700" y="6273800"/>
            <a:ext cx="27305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500" b="0" i="0" u="none" strike="noStrike" dirty="0">
                <a:solidFill>
                  <a:srgbClr val="222222"/>
                </a:solidFill>
                <a:latin typeface="Pretendard Semi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43199" y="8077200"/>
            <a:ext cx="9500604" cy="1003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0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시</a:t>
            </a:r>
            <a:r>
              <a:rPr lang="ko-KR" altLang="en-US" sz="40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간대 수요 집중 구조 반복</a:t>
            </a:r>
            <a:endParaRPr lang="en-US" sz="4000" b="0" i="0" u="none" strike="noStrike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299" y="10502900"/>
            <a:ext cx="279400" cy="279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743200" y="10972800"/>
            <a:ext cx="106299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재생에너지 확대에도 운영 리스크 잔존</a:t>
            </a:r>
            <a:endParaRPr lang="ko-KR" sz="5000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552700" y="10210800"/>
            <a:ext cx="27305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500" b="0" i="0" u="none" strike="noStrike" dirty="0">
                <a:solidFill>
                  <a:srgbClr val="222222"/>
                </a:solidFill>
                <a:latin typeface="Pretendard Semi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43198" y="12014200"/>
            <a:ext cx="10826991" cy="1003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0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발전량 증가 ≠ </a:t>
            </a:r>
            <a:r>
              <a:rPr lang="ko-KR" altLang="en-US" sz="40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운영 안정성</a:t>
            </a:r>
            <a:endParaRPr lang="en-US" sz="4000" b="0" i="0" u="none" strike="noStrike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3" name="Picture 3">
            <a:extLst>
              <a:ext uri="{FF2B5EF4-FFF2-40B4-BE49-F238E27FC236}">
                <a16:creationId xmlns:a16="http://schemas.microsoft.com/office/drawing/2014/main" id="{ADC877C5-AC96-C4BE-5D4E-9E3C538D3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07450" y="9779000"/>
            <a:ext cx="7861300" cy="25400"/>
          </a:xfrm>
          <a:prstGeom prst="rect">
            <a:avLst/>
          </a:prstGeom>
        </p:spPr>
      </p:pic>
      <p:pic>
        <p:nvPicPr>
          <p:cNvPr id="44" name="Picture 10">
            <a:extLst>
              <a:ext uri="{FF2B5EF4-FFF2-40B4-BE49-F238E27FC236}">
                <a16:creationId xmlns:a16="http://schemas.microsoft.com/office/drawing/2014/main" id="{4A22A2BE-1B6B-5237-76AE-B1FE43853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5049" y="6565900"/>
            <a:ext cx="279400" cy="279400"/>
          </a:xfrm>
          <a:prstGeom prst="rect">
            <a:avLst/>
          </a:prstGeom>
        </p:spPr>
      </p:pic>
      <p:sp>
        <p:nvSpPr>
          <p:cNvPr id="45" name="TextBox 11">
            <a:extLst>
              <a:ext uri="{FF2B5EF4-FFF2-40B4-BE49-F238E27FC236}">
                <a16:creationId xmlns:a16="http://schemas.microsoft.com/office/drawing/2014/main" id="{A9A3223B-8DAC-9FE3-548E-C964602990B8}"/>
              </a:ext>
            </a:extLst>
          </p:cNvPr>
          <p:cNvSpPr txBox="1"/>
          <p:nvPr/>
        </p:nvSpPr>
        <p:spPr>
          <a:xfrm>
            <a:off x="14204950" y="7035800"/>
            <a:ext cx="106299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피크 </a:t>
            </a:r>
            <a:r>
              <a:rPr lang="ko-KR" altLang="en-US" sz="5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및 </a:t>
            </a:r>
            <a:r>
              <a:rPr lang="ko-KR" altLang="en-US" sz="500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램핑</a:t>
            </a:r>
            <a:r>
              <a:rPr lang="en-US" altLang="ko-KR" sz="5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(Ramping) </a:t>
            </a:r>
            <a:r>
              <a:rPr lang="ko-KR" altLang="en-US" sz="5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문제 지속</a:t>
            </a:r>
            <a:endParaRPr lang="ko-KR" sz="5000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8D76A483-6F00-97B3-4293-E090C10DC284}"/>
              </a:ext>
            </a:extLst>
          </p:cNvPr>
          <p:cNvSpPr txBox="1"/>
          <p:nvPr/>
        </p:nvSpPr>
        <p:spPr>
          <a:xfrm>
            <a:off x="14014450" y="6273800"/>
            <a:ext cx="27305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500" b="0" i="0" u="none" strike="noStrike" dirty="0">
                <a:solidFill>
                  <a:srgbClr val="222222"/>
                </a:solidFill>
                <a:latin typeface="Pretendard SemiBold"/>
              </a:rPr>
              <a:t>02</a:t>
            </a: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C0561485-06B7-4549-7AB3-214190F509BD}"/>
              </a:ext>
            </a:extLst>
          </p:cNvPr>
          <p:cNvSpPr txBox="1"/>
          <p:nvPr/>
        </p:nvSpPr>
        <p:spPr>
          <a:xfrm>
            <a:off x="14204949" y="8077200"/>
            <a:ext cx="9500604" cy="1003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0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단시간 내 수급 조정 부담 증가</a:t>
            </a:r>
            <a:endParaRPr lang="en-US" sz="4000" b="0" i="0" u="none" strike="noStrike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8" name="Picture 23">
            <a:extLst>
              <a:ext uri="{FF2B5EF4-FFF2-40B4-BE49-F238E27FC236}">
                <a16:creationId xmlns:a16="http://schemas.microsoft.com/office/drawing/2014/main" id="{BEEE6660-4B55-3F93-4412-92BA872C2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5049" y="10502900"/>
            <a:ext cx="279400" cy="279400"/>
          </a:xfrm>
          <a:prstGeom prst="rect">
            <a:avLst/>
          </a:prstGeom>
        </p:spPr>
      </p:pic>
      <p:sp>
        <p:nvSpPr>
          <p:cNvPr id="49" name="TextBox 24">
            <a:extLst>
              <a:ext uri="{FF2B5EF4-FFF2-40B4-BE49-F238E27FC236}">
                <a16:creationId xmlns:a16="http://schemas.microsoft.com/office/drawing/2014/main" id="{AFD8B830-1B0B-EFCD-86BB-2B203C8C5DE9}"/>
              </a:ext>
            </a:extLst>
          </p:cNvPr>
          <p:cNvSpPr txBox="1"/>
          <p:nvPr/>
        </p:nvSpPr>
        <p:spPr>
          <a:xfrm>
            <a:off x="14204950" y="10972800"/>
            <a:ext cx="106299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총량</a:t>
            </a:r>
            <a:r>
              <a:rPr lang="en-US" altLang="ko-KR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평균 중심 접근의 한계</a:t>
            </a:r>
            <a:endParaRPr lang="ko-KR" sz="5000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0" name="TextBox 25">
            <a:extLst>
              <a:ext uri="{FF2B5EF4-FFF2-40B4-BE49-F238E27FC236}">
                <a16:creationId xmlns:a16="http://schemas.microsoft.com/office/drawing/2014/main" id="{814DF085-371E-B853-F032-78DC0CE4C4AE}"/>
              </a:ext>
            </a:extLst>
          </p:cNvPr>
          <p:cNvSpPr txBox="1"/>
          <p:nvPr/>
        </p:nvSpPr>
        <p:spPr>
          <a:xfrm>
            <a:off x="14014450" y="10210800"/>
            <a:ext cx="27305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500" b="0" i="0" u="none" strike="noStrike">
                <a:solidFill>
                  <a:srgbClr val="222222"/>
                </a:solidFill>
                <a:latin typeface="Pretendard SemiBold"/>
              </a:rPr>
              <a:t>04</a:t>
            </a: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FF17D496-E8FF-EE59-6874-4047552C2DCF}"/>
              </a:ext>
            </a:extLst>
          </p:cNvPr>
          <p:cNvSpPr txBox="1"/>
          <p:nvPr/>
        </p:nvSpPr>
        <p:spPr>
          <a:xfrm>
            <a:off x="14204949" y="12014200"/>
            <a:ext cx="9500604" cy="1003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0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평균 데이터로는 운영 리스크 설명 불가</a:t>
            </a:r>
            <a:endParaRPr lang="ko-KR" sz="4000" b="0" i="0" u="none" strike="noStrike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4FA50B6D-4831-52CD-9B2E-662DFA31E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5">
            <a:extLst>
              <a:ext uri="{FF2B5EF4-FFF2-40B4-BE49-F238E27FC236}">
                <a16:creationId xmlns:a16="http://schemas.microsoft.com/office/drawing/2014/main" id="{903A971F-C265-256E-BAE6-ECEF38EFDCC4}"/>
              </a:ext>
            </a:extLst>
          </p:cNvPr>
          <p:cNvSpPr txBox="1"/>
          <p:nvPr/>
        </p:nvSpPr>
        <p:spPr>
          <a:xfrm>
            <a:off x="-101600" y="584200"/>
            <a:ext cx="2095500" cy="927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5215" dirty="0">
                <a:solidFill>
                  <a:srgbClr val="222222"/>
                </a:solidFill>
                <a:latin typeface="Pretendard SemiBold"/>
              </a:rPr>
              <a:t>1</a:t>
            </a:r>
            <a:endParaRPr lang="en" sz="5215" b="0" i="0" u="none" strike="noStrike" dirty="0">
              <a:solidFill>
                <a:srgbClr val="222222"/>
              </a:solidFill>
              <a:latin typeface="Pretendard SemiBold"/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5EF75307-DCC0-64FE-FBA6-8756FAE3B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6300" y="1016000"/>
            <a:ext cx="2057400" cy="25400"/>
          </a:xfrm>
          <a:prstGeom prst="rect">
            <a:avLst/>
          </a:prstGeom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8C5ABCB3-AEA4-8306-5D41-9427CAEF7CFD}"/>
              </a:ext>
            </a:extLst>
          </p:cNvPr>
          <p:cNvSpPr txBox="1"/>
          <p:nvPr/>
        </p:nvSpPr>
        <p:spPr>
          <a:xfrm>
            <a:off x="2628900" y="647700"/>
            <a:ext cx="7810500" cy="876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915" dirty="0">
                <a:solidFill>
                  <a:srgbClr val="222222"/>
                </a:solidFill>
                <a:ea typeface="Pretendard SemiBold"/>
              </a:rPr>
              <a:t>전력 문제에 대한 관점 전환</a:t>
            </a:r>
            <a:endParaRPr lang="ko-KR" sz="4915" b="0" i="0" u="none" strike="noStrike" dirty="0">
              <a:solidFill>
                <a:srgbClr val="222222"/>
              </a:solidFill>
              <a:ea typeface="Pretendard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4700"/>
            <a:ext cx="24358600" cy="8699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76300" y="1016000"/>
            <a:ext cx="20574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-101600" y="584200"/>
            <a:ext cx="2095500" cy="927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5215" dirty="0">
                <a:solidFill>
                  <a:srgbClr val="222222"/>
                </a:solidFill>
                <a:latin typeface="Pretendard SemiBold"/>
              </a:rPr>
              <a:t>2</a:t>
            </a:r>
            <a:endParaRPr lang="en" sz="5215" b="0" i="0" u="none" strike="noStrike" dirty="0">
              <a:solidFill>
                <a:srgbClr val="222222"/>
              </a:solidFill>
              <a:latin typeface="Pretendard Semi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76300" y="1016000"/>
            <a:ext cx="20574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3100137"/>
            <a:ext cx="660400" cy="660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247900" y="2858837"/>
            <a:ext cx="9575800" cy="977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524" b="0" i="0" u="none" strike="noStrike" dirty="0">
                <a:solidFill>
                  <a:srgbClr val="F1F0EB"/>
                </a:solidFill>
                <a:ea typeface="Pretendard SemiBold"/>
              </a:rPr>
              <a:t>분석 기준 설정</a:t>
            </a:r>
            <a:endParaRPr lang="ko-KR" sz="5524" b="0" i="0" u="none" strike="noStrike" dirty="0">
              <a:solidFill>
                <a:srgbClr val="F1F0EB"/>
              </a:solidFill>
              <a:ea typeface="Pretendard Semi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628900" y="647700"/>
            <a:ext cx="6096000" cy="876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915" b="0" i="0" u="none" strike="noStrike" dirty="0">
                <a:solidFill>
                  <a:srgbClr val="222222"/>
                </a:solidFill>
                <a:ea typeface="Pretendard SemiBold"/>
              </a:rPr>
              <a:t>분석 관점 및 접근 방식</a:t>
            </a:r>
            <a:endParaRPr lang="ko-KR" sz="4915" b="0" i="0" u="none" strike="noStrike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19200" y="3963737"/>
            <a:ext cx="18656300" cy="1828800"/>
          </a:xfrm>
          <a:prstGeom prst="rect">
            <a:avLst/>
          </a:prstGeom>
        </p:spPr>
        <p:txBody>
          <a:bodyPr rtlCol="0" anchor="t"/>
          <a:lstStyle/>
          <a:p>
            <a:pPr lvl="1">
              <a:lnSpc>
                <a:spcPct val="141100"/>
              </a:lnSpc>
            </a:pPr>
            <a:r>
              <a:rPr lang="ko-KR" altLang="en-US" sz="4000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평균 수치나 연간 총량을 기준으로 하지 않는다</a:t>
            </a:r>
            <a:r>
              <a:rPr lang="en-US" altLang="ko-KR" sz="4000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vl="1">
              <a:lnSpc>
                <a:spcPct val="141100"/>
              </a:lnSpc>
            </a:pPr>
            <a:r>
              <a:rPr lang="ko-KR" altLang="en-US" sz="40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수요와 공급을 동일한 시간 축에서 겹쳐 해석한다</a:t>
            </a:r>
            <a:r>
              <a:rPr lang="en-US" altLang="ko-KR" sz="4000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vl="1">
              <a:lnSpc>
                <a:spcPct val="141100"/>
              </a:lnSpc>
            </a:pPr>
            <a:r>
              <a:rPr lang="ko-KR" altLang="en-US" sz="40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실제 운영 부담이 발생하는 특정 시간대에 집중한다</a:t>
            </a:r>
            <a:r>
              <a:rPr lang="en-US" altLang="ko-KR" sz="40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en-US" sz="4000" b="0" i="0" u="none" strike="noStrike" dirty="0">
              <a:solidFill>
                <a:srgbClr val="F1F0EB"/>
              </a:solidFill>
              <a:latin typeface="Pretendard Extra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801600" y="7490326"/>
            <a:ext cx="11264900" cy="9779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ko-KR" altLang="en-US" sz="66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분석의 기준은 </a:t>
            </a:r>
            <a:r>
              <a:rPr lang="en-US" altLang="ko-KR" sz="66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66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얼마나</a:t>
            </a:r>
            <a:r>
              <a:rPr lang="en-US" altLang="ko-KR" sz="66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r>
              <a:rPr lang="ko-KR" altLang="en-US" sz="66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 아니라</a:t>
            </a:r>
            <a:endParaRPr lang="ko-KR" sz="6600" b="0" i="0" u="none" strike="noStrike" dirty="0">
              <a:solidFill>
                <a:srgbClr val="F1F0EB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458200" y="8315826"/>
            <a:ext cx="15697200" cy="30480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-US" altLang="ko-KR" sz="10500" dirty="0">
                <a:solidFill>
                  <a:srgbClr val="F1F0EB"/>
                </a:solidFill>
                <a:latin typeface="Pretendard SemiBold"/>
                <a:ea typeface="Pretendard SemiBold"/>
              </a:rPr>
              <a:t>‘</a:t>
            </a:r>
            <a:r>
              <a:rPr lang="ko-KR" altLang="en-US" sz="10500" dirty="0">
                <a:solidFill>
                  <a:srgbClr val="F1F0EB"/>
                </a:solidFill>
                <a:latin typeface="Pretendard SemiBold"/>
                <a:ea typeface="Pretendard SemiBold"/>
              </a:rPr>
              <a:t>언제</a:t>
            </a:r>
            <a:r>
              <a:rPr lang="en-US" altLang="ko-KR" sz="10500" dirty="0">
                <a:solidFill>
                  <a:srgbClr val="F1F0EB"/>
                </a:solidFill>
                <a:latin typeface="Pretendard SemiBold"/>
                <a:ea typeface="Pretendard SemiBold"/>
              </a:rPr>
              <a:t>(Time-of-Day)’</a:t>
            </a:r>
            <a:r>
              <a:rPr lang="ko-KR" altLang="en-US" sz="10500" dirty="0">
                <a:solidFill>
                  <a:srgbClr val="F1F0EB"/>
                </a:solidFill>
                <a:latin typeface="Pretendard SemiBold"/>
                <a:ea typeface="Pretendard SemiBold"/>
              </a:rPr>
              <a:t>다</a:t>
            </a:r>
            <a:r>
              <a:rPr lang="en-US" altLang="ko-KR" sz="10500" dirty="0">
                <a:solidFill>
                  <a:srgbClr val="F1F0EB"/>
                </a:solidFill>
                <a:latin typeface="Pretendard SemiBold"/>
                <a:ea typeface="Pretendard SemiBold"/>
              </a:rPr>
              <a:t>.</a:t>
            </a:r>
            <a:endParaRPr lang="en" sz="10500" b="0" i="0" u="none" strike="noStrike" dirty="0">
              <a:solidFill>
                <a:srgbClr val="F1F0EB"/>
              </a:solidFill>
              <a:ea typeface="Pretendard SemiBold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71074" y="11442700"/>
            <a:ext cx="9207500" cy="1549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382750" y="11569700"/>
            <a:ext cx="7912100" cy="1257300"/>
          </a:xfrm>
          <a:prstGeom prst="rect">
            <a:avLst/>
          </a:prstGeom>
        </p:spPr>
        <p:txBody>
          <a:bodyPr lIns="0" tIns="134788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" sz="7075" b="0" i="0" u="none" strike="noStrike" dirty="0">
                <a:solidFill>
                  <a:srgbClr val="F1F0E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# </a:t>
            </a:r>
            <a:r>
              <a:rPr lang="en-US" sz="7075" dirty="0">
                <a:solidFill>
                  <a:srgbClr val="F1F0E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Operation-</a:t>
            </a:r>
            <a:r>
              <a:rPr lang="en-US" altLang="ko-KR" sz="7075" dirty="0">
                <a:solidFill>
                  <a:srgbClr val="F1F0E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View</a:t>
            </a:r>
            <a:endParaRPr lang="en" sz="7075" b="0" i="0" u="none" strike="noStrike" dirty="0">
              <a:solidFill>
                <a:srgbClr val="F1F0E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7950" y="11607800"/>
            <a:ext cx="4155574" cy="1219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226550" y="11734800"/>
            <a:ext cx="3632200" cy="762000"/>
          </a:xfrm>
          <a:prstGeom prst="rect">
            <a:avLst/>
          </a:prstGeom>
        </p:spPr>
        <p:txBody>
          <a:bodyPr lIns="0" tIns="105443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" sz="553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# </a:t>
            </a:r>
            <a:r>
              <a:rPr lang="en-US" sz="553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Overlap</a:t>
            </a:r>
            <a:endParaRPr lang="en" sz="5535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3626" y="11569700"/>
            <a:ext cx="6210300" cy="12192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372226" y="11696700"/>
            <a:ext cx="5842000" cy="1397000"/>
          </a:xfrm>
          <a:prstGeom prst="rect">
            <a:avLst/>
          </a:prstGeom>
        </p:spPr>
        <p:txBody>
          <a:bodyPr lIns="0" tIns="105443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" sz="5535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# Time-of-Day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716500" y="11734800"/>
            <a:ext cx="5283200" cy="977900"/>
          </a:xfrm>
          <a:prstGeom prst="rect">
            <a:avLst/>
          </a:prstGeom>
        </p:spPr>
        <p:txBody>
          <a:bodyPr lIns="0" tIns="105443" rIns="0" bIns="0" rtlCol="0" anchor="t"/>
          <a:lstStyle/>
          <a:p>
            <a:pPr lvl="0" algn="ctr">
              <a:lnSpc>
                <a:spcPct val="91299"/>
              </a:lnSpc>
            </a:pPr>
            <a:endParaRPr lang="ko-KR" sz="5535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032000"/>
            <a:ext cx="8128000" cy="11684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76300" y="1016000"/>
            <a:ext cx="20574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-101600" y="584200"/>
            <a:ext cx="2095500" cy="927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5215" b="0" i="0" u="none" strike="noStrike">
                <a:solidFill>
                  <a:srgbClr val="222222"/>
                </a:solidFill>
                <a:latin typeface="Pretendard SemiBold"/>
              </a:rPr>
              <a:t>3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76300" y="1016000"/>
            <a:ext cx="20574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60600" y="7874000"/>
            <a:ext cx="117348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11544300"/>
            <a:ext cx="952500" cy="952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68754" y="2726447"/>
            <a:ext cx="7073900" cy="3898900"/>
          </a:xfrm>
          <a:prstGeom prst="rect">
            <a:avLst/>
          </a:prstGeom>
        </p:spPr>
        <p:txBody>
          <a:bodyPr lIns="0" tIns="233812" rIns="0" bIns="0" rtlCol="0" anchor="ctr"/>
          <a:lstStyle/>
          <a:p>
            <a:pPr lvl="0" algn="ctr">
              <a:lnSpc>
                <a:spcPct val="91299"/>
              </a:lnSpc>
            </a:pPr>
            <a:r>
              <a:rPr lang="en" sz="8000" dirty="0">
                <a:solidFill>
                  <a:srgbClr val="222222"/>
                </a:solidFill>
                <a:latin typeface="Pretendard SemiBold"/>
              </a:rPr>
              <a:t>Type 1</a:t>
            </a:r>
          </a:p>
          <a:p>
            <a:pPr lvl="0" algn="ctr">
              <a:lnSpc>
                <a:spcPct val="91299"/>
              </a:lnSpc>
            </a:pPr>
            <a:r>
              <a:rPr lang="en" sz="12273" b="0" i="0" u="none" strike="noStrike" dirty="0">
                <a:solidFill>
                  <a:srgbClr val="222222"/>
                </a:solidFill>
                <a:latin typeface="Pretendard SemiBold"/>
              </a:rPr>
              <a:t>Daytime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38101" y="8794750"/>
            <a:ext cx="8128001" cy="182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2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주간 전력 사용 비중이 높은 유형</a:t>
            </a:r>
            <a:endParaRPr lang="en-US" altLang="ko-KR" sz="3200" b="0" i="0" u="none" strike="noStrike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32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태양광 기여 가능 시간대</a:t>
            </a:r>
            <a:endParaRPr lang="en-US" altLang="ko-KR" sz="3200" b="0" i="0" u="none" strike="noStrike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32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피크 단독 해결</a:t>
            </a:r>
            <a:r>
              <a:rPr lang="en-US" altLang="ko-KR" sz="32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32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불가</a:t>
            </a:r>
            <a:endParaRPr lang="en-US" sz="3200" b="0" i="0" u="none" strike="noStrike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628900" y="647700"/>
            <a:ext cx="11696700" cy="876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91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부하의 시간대 성향에 따른 유형 분류</a:t>
            </a:r>
            <a:endParaRPr lang="ko-KR" sz="4915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388600" y="7899400"/>
            <a:ext cx="117348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8600" y="11544300"/>
            <a:ext cx="952500" cy="952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11700" y="11544300"/>
            <a:ext cx="952500" cy="952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763000" y="2726447"/>
            <a:ext cx="7073900" cy="3898900"/>
          </a:xfrm>
          <a:prstGeom prst="rect">
            <a:avLst/>
          </a:prstGeom>
        </p:spPr>
        <p:txBody>
          <a:bodyPr lIns="0" tIns="233812" rIns="0" bIns="0" rtlCol="0" anchor="ctr"/>
          <a:lstStyle/>
          <a:p>
            <a:pPr lvl="0" algn="ctr">
              <a:lnSpc>
                <a:spcPct val="91299"/>
              </a:lnSpc>
            </a:pPr>
            <a:r>
              <a:rPr lang="en" sz="8000" dirty="0">
                <a:solidFill>
                  <a:srgbClr val="F1F0EB"/>
                </a:solidFill>
                <a:latin typeface="Pretendard SemiBold"/>
              </a:rPr>
              <a:t>Type 2</a:t>
            </a:r>
            <a:endParaRPr lang="en" sz="8000" b="0" i="0" u="none" strike="noStrike" dirty="0">
              <a:solidFill>
                <a:srgbClr val="F1F0EB"/>
              </a:solidFill>
              <a:latin typeface="Pretendard SemiBold"/>
            </a:endParaRPr>
          </a:p>
          <a:p>
            <a:pPr lvl="0" algn="ctr">
              <a:lnSpc>
                <a:spcPct val="91299"/>
              </a:lnSpc>
            </a:pPr>
            <a:r>
              <a:rPr lang="en" sz="12273" b="0" i="0" u="none" strike="noStrike" dirty="0">
                <a:solidFill>
                  <a:srgbClr val="F1F0EB"/>
                </a:solidFill>
                <a:latin typeface="Pretendard SemiBold"/>
              </a:rPr>
              <a:t>Evening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2800" y="8794750"/>
            <a:ext cx="7493000" cy="182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200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시간대 수요</a:t>
            </a:r>
            <a:r>
              <a:rPr lang="en-US" altLang="ko-KR" sz="3200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3200" dirty="0" err="1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램핑</a:t>
            </a:r>
            <a:r>
              <a:rPr lang="ko-KR" altLang="en-US" sz="3200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집중</a:t>
            </a:r>
            <a:endParaRPr lang="en-US" altLang="ko-KR" sz="3200" dirty="0">
              <a:solidFill>
                <a:srgbClr val="F1F0EB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3200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태양광 기여 급감</a:t>
            </a:r>
            <a:endParaRPr lang="en-US" altLang="ko-KR" sz="3200" dirty="0">
              <a:solidFill>
                <a:srgbClr val="F1F0EB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3200" b="0" i="0" u="none" strike="noStrike" dirty="0">
                <a:solidFill>
                  <a:srgbClr val="F1F0EB"/>
                </a:solidFill>
                <a:latin typeface="Pretendard Regular" panose="020B0600000101010101" charset="-127"/>
                <a:ea typeface="Pretendard Regular" panose="020B0600000101010101" charset="-127"/>
              </a:rPr>
              <a:t>조절 자원 필요성 큼</a:t>
            </a:r>
            <a:endParaRPr lang="en-US" sz="3200" b="0" i="0" u="none" strike="noStrike" dirty="0">
              <a:solidFill>
                <a:srgbClr val="F1F0EB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784595" y="2726447"/>
            <a:ext cx="7073900" cy="3898900"/>
          </a:xfrm>
          <a:prstGeom prst="rect">
            <a:avLst/>
          </a:prstGeom>
        </p:spPr>
        <p:txBody>
          <a:bodyPr lIns="0" tIns="233812" rIns="0" bIns="0" rtlCol="0" anchor="ctr"/>
          <a:lstStyle/>
          <a:p>
            <a:pPr lvl="0" algn="ctr">
              <a:lnSpc>
                <a:spcPct val="91299"/>
              </a:lnSpc>
            </a:pPr>
            <a:r>
              <a:rPr lang="en" sz="8000" b="0" i="0" u="none" strike="noStrike" dirty="0">
                <a:solidFill>
                  <a:srgbClr val="222222"/>
                </a:solidFill>
                <a:latin typeface="Pretendard SemiBold"/>
              </a:rPr>
              <a:t>Type 3</a:t>
            </a:r>
          </a:p>
          <a:p>
            <a:pPr lvl="0" algn="ctr">
              <a:lnSpc>
                <a:spcPct val="91299"/>
              </a:lnSpc>
            </a:pPr>
            <a:r>
              <a:rPr lang="en" sz="12273" dirty="0">
                <a:solidFill>
                  <a:srgbClr val="222222"/>
                </a:solidFill>
                <a:latin typeface="Pretendard SemiBold"/>
              </a:rPr>
              <a:t>Bridging</a:t>
            </a:r>
            <a:endParaRPr lang="en" sz="12273" b="0" i="0" u="none" strike="noStrike" dirty="0">
              <a:solidFill>
                <a:srgbClr val="222222"/>
              </a:solidFill>
              <a:latin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575045" y="8794750"/>
            <a:ext cx="7493000" cy="182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2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</a:t>
            </a:r>
            <a:r>
              <a:rPr lang="en-US" altLang="ko-KR" sz="32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32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야간 </a:t>
            </a:r>
            <a:r>
              <a:rPr lang="ko-KR" altLang="en-US" sz="32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수요가 혼재된 유형</a:t>
            </a:r>
            <a:endParaRPr lang="en-US" altLang="ko-KR" sz="32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3200" b="0" i="0" u="none" strike="noStrike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단일 시간대 전략 한계</a:t>
            </a:r>
            <a:endParaRPr lang="en-US" altLang="ko-KR" sz="3200" b="0" i="0" u="none" strike="noStrike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32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자원 조합 필요</a:t>
            </a:r>
            <a:endParaRPr lang="en-US" altLang="ko-KR" sz="32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444DA8F5-12A6-2471-29CA-2705713FAD3D}"/>
              </a:ext>
            </a:extLst>
          </p:cNvPr>
          <p:cNvSpPr txBox="1"/>
          <p:nvPr/>
        </p:nvSpPr>
        <p:spPr>
          <a:xfrm>
            <a:off x="568754" y="7072730"/>
            <a:ext cx="7073900" cy="1220203"/>
          </a:xfrm>
          <a:prstGeom prst="rect">
            <a:avLst/>
          </a:prstGeom>
        </p:spPr>
        <p:txBody>
          <a:bodyPr lIns="0" tIns="233812" rIns="0" bIns="0" rtlCol="0" anchor="t"/>
          <a:lstStyle/>
          <a:p>
            <a:pPr lvl="0" algn="ctr">
              <a:lnSpc>
                <a:spcPct val="91299"/>
              </a:lnSpc>
            </a:pPr>
            <a:r>
              <a:rPr lang="ko-KR" altLang="en-US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주간 부하 중심형</a:t>
            </a:r>
            <a:endParaRPr lang="en" sz="5000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DE3F4307-8129-A8F9-7727-A24DB098C53D}"/>
              </a:ext>
            </a:extLst>
          </p:cNvPr>
          <p:cNvSpPr txBox="1"/>
          <p:nvPr/>
        </p:nvSpPr>
        <p:spPr>
          <a:xfrm>
            <a:off x="8763000" y="7072730"/>
            <a:ext cx="7073900" cy="1220203"/>
          </a:xfrm>
          <a:prstGeom prst="rect">
            <a:avLst/>
          </a:prstGeom>
        </p:spPr>
        <p:txBody>
          <a:bodyPr lIns="0" tIns="233812" rIns="0" bIns="0" rtlCol="0" anchor="t"/>
          <a:lstStyle/>
          <a:p>
            <a:pPr lvl="0" algn="ctr">
              <a:lnSpc>
                <a:spcPct val="91299"/>
              </a:lnSpc>
            </a:pPr>
            <a:r>
              <a:rPr lang="ko-KR" altLang="en-US" sz="5000" dirty="0">
                <a:solidFill>
                  <a:srgbClr val="F1F0E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피크 집중형</a:t>
            </a:r>
            <a:endParaRPr lang="en" sz="5000" b="0" i="0" u="none" strike="noStrike" dirty="0">
              <a:solidFill>
                <a:srgbClr val="F1F0E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79AE00FF-54B1-E8F0-32DC-C684E7296BC6}"/>
              </a:ext>
            </a:extLst>
          </p:cNvPr>
          <p:cNvSpPr txBox="1"/>
          <p:nvPr/>
        </p:nvSpPr>
        <p:spPr>
          <a:xfrm>
            <a:off x="16784595" y="7072730"/>
            <a:ext cx="7073900" cy="1220203"/>
          </a:xfrm>
          <a:prstGeom prst="rect">
            <a:avLst/>
          </a:prstGeom>
        </p:spPr>
        <p:txBody>
          <a:bodyPr lIns="0" tIns="233812" rIns="0" bIns="0" rtlCol="0" anchor="t"/>
          <a:lstStyle/>
          <a:p>
            <a:pPr lvl="0" algn="ctr">
              <a:lnSpc>
                <a:spcPct val="91299"/>
              </a:lnSpc>
            </a:pPr>
            <a:r>
              <a:rPr lang="ko-KR" altLang="en-US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</a:t>
            </a:r>
            <a:r>
              <a:rPr lang="en-US" altLang="ko-KR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50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야간 혼합형</a:t>
            </a:r>
            <a:endParaRPr lang="en" sz="5000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3994961"/>
            <a:ext cx="22593300" cy="1453339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2D946634-E202-5E6E-1B7F-9D141F045D7B}"/>
              </a:ext>
            </a:extLst>
          </p:cNvPr>
          <p:cNvGrpSpPr/>
          <p:nvPr/>
        </p:nvGrpSpPr>
        <p:grpSpPr>
          <a:xfrm>
            <a:off x="1308100" y="4439461"/>
            <a:ext cx="622300" cy="609600"/>
            <a:chOff x="139700" y="4724400"/>
            <a:chExt cx="622300" cy="60960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400" y="4724400"/>
              <a:ext cx="609600" cy="6096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139700" y="4749800"/>
              <a:ext cx="609600" cy="5715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" sz="3210" b="0" i="0" u="none" strike="noStrike" dirty="0">
                  <a:solidFill>
                    <a:srgbClr val="FFFFFF"/>
                  </a:solidFill>
                  <a:latin typeface="Pretendard Regular"/>
                </a:rPr>
                <a:t>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95550" y="4375961"/>
            <a:ext cx="1838325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[PART Ⅰ.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진단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(Diagnosis) ]: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 시스템은 지금 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아프다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endParaRPr lang="ko-KR" sz="3733" b="0" i="0" u="none" strike="noStrike" spc="-112" dirty="0">
              <a:solidFill>
                <a:schemeClr val="tx1">
                  <a:lumMod val="50000"/>
                  <a:lumOff val="50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1996400" y="889000"/>
            <a:ext cx="11049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>
                <a:solidFill>
                  <a:srgbClr val="FFFFFF"/>
                </a:solidFill>
                <a:latin typeface="Gmarket Sans Bold"/>
              </a:rPr>
              <a:t>Index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BED26CF4-07D2-E2EE-ACA7-622AEA821532}"/>
              </a:ext>
            </a:extLst>
          </p:cNvPr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000" i="0" u="none" strike="noStrike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St</a:t>
            </a:r>
            <a:r>
              <a:rPr lang="en-US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rategic Roadmap</a:t>
            </a:r>
            <a:endParaRPr lang="en" sz="2000" i="0" u="none" strike="noStrike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19326625-11B3-559D-65D9-3D19058330FE}"/>
              </a:ext>
            </a:extLst>
          </p:cNvPr>
          <p:cNvSpPr txBox="1"/>
          <p:nvPr/>
        </p:nvSpPr>
        <p:spPr>
          <a:xfrm>
            <a:off x="1282700" y="1968500"/>
            <a:ext cx="171577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 시스템 리스크 진단과 유연성 확보를 위한 전략 로드맵</a:t>
            </a:r>
            <a:endParaRPr lang="ko-KR" sz="5333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70">
            <a:extLst>
              <a:ext uri="{FF2B5EF4-FFF2-40B4-BE49-F238E27FC236}">
                <a16:creationId xmlns:a16="http://schemas.microsoft.com/office/drawing/2014/main" id="{7948170E-7E15-68A5-7194-23B07E18871B}"/>
              </a:ext>
            </a:extLst>
          </p:cNvPr>
          <p:cNvSpPr txBox="1"/>
          <p:nvPr/>
        </p:nvSpPr>
        <p:spPr>
          <a:xfrm>
            <a:off x="1282700" y="3111500"/>
            <a:ext cx="143383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덕 커브 현상을 시간대 관점에서 분석하고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계통 안정화를 위한 단계별 대응 흐름을 제시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942BCA72-7531-FA09-569E-FDF56E552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5645962"/>
            <a:ext cx="22593300" cy="1453339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567E9A48-F29D-4485-B3CF-A0A927265A00}"/>
              </a:ext>
            </a:extLst>
          </p:cNvPr>
          <p:cNvGrpSpPr/>
          <p:nvPr/>
        </p:nvGrpSpPr>
        <p:grpSpPr>
          <a:xfrm>
            <a:off x="1308100" y="6090462"/>
            <a:ext cx="622300" cy="609600"/>
            <a:chOff x="139700" y="4724400"/>
            <a:chExt cx="622300" cy="609600"/>
          </a:xfrm>
        </p:grpSpPr>
        <p:pic>
          <p:nvPicPr>
            <p:cNvPr id="70" name="Picture 10">
              <a:extLst>
                <a:ext uri="{FF2B5EF4-FFF2-40B4-BE49-F238E27FC236}">
                  <a16:creationId xmlns:a16="http://schemas.microsoft.com/office/drawing/2014/main" id="{AAD27AE8-D598-6343-B23F-36EDEDA3E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400" y="4724400"/>
              <a:ext cx="609600" cy="609600"/>
            </a:xfrm>
            <a:prstGeom prst="rect">
              <a:avLst/>
            </a:prstGeom>
          </p:spPr>
        </p:pic>
        <p:sp>
          <p:nvSpPr>
            <p:cNvPr id="71" name="TextBox 17">
              <a:extLst>
                <a:ext uri="{FF2B5EF4-FFF2-40B4-BE49-F238E27FC236}">
                  <a16:creationId xmlns:a16="http://schemas.microsoft.com/office/drawing/2014/main" id="{EA698BA3-7447-3E55-AE00-A007345E0AD2}"/>
                </a:ext>
              </a:extLst>
            </p:cNvPr>
            <p:cNvSpPr txBox="1"/>
            <p:nvPr/>
          </p:nvSpPr>
          <p:spPr>
            <a:xfrm>
              <a:off x="139700" y="4749800"/>
              <a:ext cx="609600" cy="5715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" sz="3210" b="0" i="0" u="none" strike="noStrike" dirty="0">
                  <a:solidFill>
                    <a:srgbClr val="FFFFFF"/>
                  </a:solidFill>
                  <a:latin typeface="Pretendard Regular"/>
                </a:rPr>
                <a:t>2</a:t>
              </a:r>
            </a:p>
          </p:txBody>
        </p:sp>
      </p:grpSp>
      <p:sp>
        <p:nvSpPr>
          <p:cNvPr id="72" name="TextBox 18">
            <a:extLst>
              <a:ext uri="{FF2B5EF4-FFF2-40B4-BE49-F238E27FC236}">
                <a16:creationId xmlns:a16="http://schemas.microsoft.com/office/drawing/2014/main" id="{9AA32259-363C-A3F3-CC83-A0547F887FC4}"/>
              </a:ext>
            </a:extLst>
          </p:cNvPr>
          <p:cNvSpPr txBox="1"/>
          <p:nvPr/>
        </p:nvSpPr>
        <p:spPr>
          <a:xfrm>
            <a:off x="2495550" y="6026962"/>
            <a:ext cx="1967865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[PART Ⅱ. </a:t>
            </a:r>
            <a:r>
              <a:rPr lang="ko-KR" altLang="en-US" sz="3733" spc="-112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타겟팅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(Targeting) ]: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그래서 어디를 고칠 것인가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?</a:t>
            </a:r>
            <a:endParaRPr lang="ko-KR" sz="3733" b="0" i="0" u="none" strike="noStrike" spc="-112" dirty="0">
              <a:solidFill>
                <a:schemeClr val="tx1">
                  <a:lumMod val="50000"/>
                  <a:lumOff val="50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3" name="Picture 2">
            <a:extLst>
              <a:ext uri="{FF2B5EF4-FFF2-40B4-BE49-F238E27FC236}">
                <a16:creationId xmlns:a16="http://schemas.microsoft.com/office/drawing/2014/main" id="{13221938-D1C6-480C-C07C-30487E709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7296963"/>
            <a:ext cx="22593300" cy="1453339"/>
          </a:xfrm>
          <a:prstGeom prst="rect">
            <a:avLst/>
          </a:prstGeom>
        </p:spPr>
      </p:pic>
      <p:grpSp>
        <p:nvGrpSpPr>
          <p:cNvPr id="74" name="그룹 73">
            <a:extLst>
              <a:ext uri="{FF2B5EF4-FFF2-40B4-BE49-F238E27FC236}">
                <a16:creationId xmlns:a16="http://schemas.microsoft.com/office/drawing/2014/main" id="{E08CC234-1011-291C-4CB9-4FB6E3215E31}"/>
              </a:ext>
            </a:extLst>
          </p:cNvPr>
          <p:cNvGrpSpPr/>
          <p:nvPr/>
        </p:nvGrpSpPr>
        <p:grpSpPr>
          <a:xfrm>
            <a:off x="1308100" y="7741463"/>
            <a:ext cx="622300" cy="609600"/>
            <a:chOff x="139700" y="4724400"/>
            <a:chExt cx="622300" cy="609600"/>
          </a:xfrm>
        </p:grpSpPr>
        <p:pic>
          <p:nvPicPr>
            <p:cNvPr id="75" name="Picture 10">
              <a:extLst>
                <a:ext uri="{FF2B5EF4-FFF2-40B4-BE49-F238E27FC236}">
                  <a16:creationId xmlns:a16="http://schemas.microsoft.com/office/drawing/2014/main" id="{1AAE1608-524C-F7C2-8618-FBF379495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400" y="4724400"/>
              <a:ext cx="609600" cy="609600"/>
            </a:xfrm>
            <a:prstGeom prst="rect">
              <a:avLst/>
            </a:prstGeom>
          </p:spPr>
        </p:pic>
        <p:sp>
          <p:nvSpPr>
            <p:cNvPr id="76" name="TextBox 17">
              <a:extLst>
                <a:ext uri="{FF2B5EF4-FFF2-40B4-BE49-F238E27FC236}">
                  <a16:creationId xmlns:a16="http://schemas.microsoft.com/office/drawing/2014/main" id="{58E48330-0A22-E8A2-A4B9-C2428466C8C8}"/>
                </a:ext>
              </a:extLst>
            </p:cNvPr>
            <p:cNvSpPr txBox="1"/>
            <p:nvPr/>
          </p:nvSpPr>
          <p:spPr>
            <a:xfrm>
              <a:off x="139700" y="4749800"/>
              <a:ext cx="609600" cy="5715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" sz="3210" b="0" i="0" u="none" strike="noStrike" dirty="0">
                  <a:solidFill>
                    <a:srgbClr val="FFFFFF"/>
                  </a:solidFill>
                  <a:latin typeface="Pretendard Regular"/>
                </a:rPr>
                <a:t>3</a:t>
              </a:r>
            </a:p>
          </p:txBody>
        </p:sp>
      </p:grpSp>
      <p:sp>
        <p:nvSpPr>
          <p:cNvPr id="77" name="TextBox 18">
            <a:extLst>
              <a:ext uri="{FF2B5EF4-FFF2-40B4-BE49-F238E27FC236}">
                <a16:creationId xmlns:a16="http://schemas.microsoft.com/office/drawing/2014/main" id="{CB92DEF0-47D7-C66F-6C18-5FEA5BDD5DD2}"/>
              </a:ext>
            </a:extLst>
          </p:cNvPr>
          <p:cNvSpPr txBox="1"/>
          <p:nvPr/>
        </p:nvSpPr>
        <p:spPr>
          <a:xfrm>
            <a:off x="2495550" y="7677963"/>
            <a:ext cx="1906905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[PART Ⅲ.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솔루션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(Solution)]: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어떤 약을 쓸 것인가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?</a:t>
            </a:r>
            <a:endParaRPr lang="ko-KR" sz="3733" b="0" i="0" u="none" strike="noStrike" spc="-112" dirty="0">
              <a:solidFill>
                <a:schemeClr val="tx1">
                  <a:lumMod val="50000"/>
                  <a:lumOff val="50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8" name="Picture 2">
            <a:extLst>
              <a:ext uri="{FF2B5EF4-FFF2-40B4-BE49-F238E27FC236}">
                <a16:creationId xmlns:a16="http://schemas.microsoft.com/office/drawing/2014/main" id="{9612E0BE-82EC-CC60-2748-A959431B4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8947964"/>
            <a:ext cx="22593300" cy="1453339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5E6EC2DF-7A2E-373D-710D-73FD8D51867D}"/>
              </a:ext>
            </a:extLst>
          </p:cNvPr>
          <p:cNvGrpSpPr/>
          <p:nvPr/>
        </p:nvGrpSpPr>
        <p:grpSpPr>
          <a:xfrm>
            <a:off x="1308100" y="9392464"/>
            <a:ext cx="622300" cy="609600"/>
            <a:chOff x="139700" y="4724400"/>
            <a:chExt cx="622300" cy="609600"/>
          </a:xfrm>
        </p:grpSpPr>
        <p:pic>
          <p:nvPicPr>
            <p:cNvPr id="80" name="Picture 10">
              <a:extLst>
                <a:ext uri="{FF2B5EF4-FFF2-40B4-BE49-F238E27FC236}">
                  <a16:creationId xmlns:a16="http://schemas.microsoft.com/office/drawing/2014/main" id="{920A06F0-BE01-2508-9600-813399C4A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400" y="4724400"/>
              <a:ext cx="609600" cy="609600"/>
            </a:xfrm>
            <a:prstGeom prst="rect">
              <a:avLst/>
            </a:prstGeom>
          </p:spPr>
        </p:pic>
        <p:sp>
          <p:nvSpPr>
            <p:cNvPr id="81" name="TextBox 17">
              <a:extLst>
                <a:ext uri="{FF2B5EF4-FFF2-40B4-BE49-F238E27FC236}">
                  <a16:creationId xmlns:a16="http://schemas.microsoft.com/office/drawing/2014/main" id="{3FAD228A-60A8-7A08-74F7-71C93D32FA59}"/>
                </a:ext>
              </a:extLst>
            </p:cNvPr>
            <p:cNvSpPr txBox="1"/>
            <p:nvPr/>
          </p:nvSpPr>
          <p:spPr>
            <a:xfrm>
              <a:off x="139700" y="4749800"/>
              <a:ext cx="609600" cy="5715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" sz="3210" b="0" i="0" u="none" strike="noStrike" dirty="0">
                  <a:solidFill>
                    <a:srgbClr val="FFFFFF"/>
                  </a:solidFill>
                  <a:latin typeface="Pretendard Regular"/>
                </a:rPr>
                <a:t>4</a:t>
              </a:r>
            </a:p>
          </p:txBody>
        </p:sp>
      </p:grpSp>
      <p:sp>
        <p:nvSpPr>
          <p:cNvPr id="82" name="TextBox 18">
            <a:extLst>
              <a:ext uri="{FF2B5EF4-FFF2-40B4-BE49-F238E27FC236}">
                <a16:creationId xmlns:a16="http://schemas.microsoft.com/office/drawing/2014/main" id="{1FEB44B7-7ACB-B761-58F3-52A895428E02}"/>
              </a:ext>
            </a:extLst>
          </p:cNvPr>
          <p:cNvSpPr txBox="1"/>
          <p:nvPr/>
        </p:nvSpPr>
        <p:spPr>
          <a:xfrm>
            <a:off x="2495550" y="9328964"/>
            <a:ext cx="2150745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[PART Ⅳ.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검증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(Feasibility)]: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진짜 효과가 있는가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?</a:t>
            </a:r>
            <a:endParaRPr lang="ko-KR" sz="3733" b="0" i="0" u="none" strike="noStrike" spc="-112" dirty="0">
              <a:solidFill>
                <a:schemeClr val="tx1">
                  <a:lumMod val="50000"/>
                  <a:lumOff val="50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83" name="Picture 2">
            <a:extLst>
              <a:ext uri="{FF2B5EF4-FFF2-40B4-BE49-F238E27FC236}">
                <a16:creationId xmlns:a16="http://schemas.microsoft.com/office/drawing/2014/main" id="{C8D453E8-F25F-0A95-0A23-287EA8FE7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0598965"/>
            <a:ext cx="22593300" cy="1453339"/>
          </a:xfrm>
          <a:prstGeom prst="rect">
            <a:avLst/>
          </a:prstGeom>
        </p:spPr>
      </p:pic>
      <p:grpSp>
        <p:nvGrpSpPr>
          <p:cNvPr id="84" name="그룹 83">
            <a:extLst>
              <a:ext uri="{FF2B5EF4-FFF2-40B4-BE49-F238E27FC236}">
                <a16:creationId xmlns:a16="http://schemas.microsoft.com/office/drawing/2014/main" id="{C4037368-1871-F5B8-24AB-3A6BAB90CFF3}"/>
              </a:ext>
            </a:extLst>
          </p:cNvPr>
          <p:cNvGrpSpPr/>
          <p:nvPr/>
        </p:nvGrpSpPr>
        <p:grpSpPr>
          <a:xfrm>
            <a:off x="1308100" y="11043465"/>
            <a:ext cx="622300" cy="609600"/>
            <a:chOff x="139700" y="4724400"/>
            <a:chExt cx="622300" cy="609600"/>
          </a:xfrm>
        </p:grpSpPr>
        <p:pic>
          <p:nvPicPr>
            <p:cNvPr id="85" name="Picture 10">
              <a:extLst>
                <a:ext uri="{FF2B5EF4-FFF2-40B4-BE49-F238E27FC236}">
                  <a16:creationId xmlns:a16="http://schemas.microsoft.com/office/drawing/2014/main" id="{5F590DA5-67FB-A8F3-5644-26415974A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400" y="4724400"/>
              <a:ext cx="609600" cy="609600"/>
            </a:xfrm>
            <a:prstGeom prst="rect">
              <a:avLst/>
            </a:prstGeom>
          </p:spPr>
        </p:pic>
        <p:sp>
          <p:nvSpPr>
            <p:cNvPr id="86" name="TextBox 17">
              <a:extLst>
                <a:ext uri="{FF2B5EF4-FFF2-40B4-BE49-F238E27FC236}">
                  <a16:creationId xmlns:a16="http://schemas.microsoft.com/office/drawing/2014/main" id="{37DBC3D1-A946-8E85-B6A9-28F486F3E651}"/>
                </a:ext>
              </a:extLst>
            </p:cNvPr>
            <p:cNvSpPr txBox="1"/>
            <p:nvPr/>
          </p:nvSpPr>
          <p:spPr>
            <a:xfrm>
              <a:off x="139700" y="4749800"/>
              <a:ext cx="609600" cy="5715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" sz="3210" b="0" i="0" u="none" strike="noStrike" dirty="0">
                  <a:solidFill>
                    <a:srgbClr val="FFFFFF"/>
                  </a:solidFill>
                  <a:latin typeface="Pretendard Regular"/>
                </a:rPr>
                <a:t>5</a:t>
              </a:r>
            </a:p>
          </p:txBody>
        </p:sp>
      </p:grpSp>
      <p:sp>
        <p:nvSpPr>
          <p:cNvPr id="87" name="TextBox 18">
            <a:extLst>
              <a:ext uri="{FF2B5EF4-FFF2-40B4-BE49-F238E27FC236}">
                <a16:creationId xmlns:a16="http://schemas.microsoft.com/office/drawing/2014/main" id="{56C5C860-0EFB-050B-9D9C-C2B97C94B9B2}"/>
              </a:ext>
            </a:extLst>
          </p:cNvPr>
          <p:cNvSpPr txBox="1"/>
          <p:nvPr/>
        </p:nvSpPr>
        <p:spPr>
          <a:xfrm>
            <a:off x="2495550" y="10979965"/>
            <a:ext cx="2028825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[PART Ⅴ.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결론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(Conclusion]: </a:t>
            </a:r>
            <a:r>
              <a:rPr lang="ko-KR" altLang="en-US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미래는 이렇게 바뀐다</a:t>
            </a:r>
            <a:r>
              <a:rPr lang="en-US" altLang="ko-KR" sz="3733" spc="-11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ko-KR" sz="3733" b="0" i="0" u="none" strike="noStrike" spc="-112" dirty="0">
              <a:solidFill>
                <a:schemeClr val="tx1">
                  <a:lumMod val="50000"/>
                  <a:lumOff val="50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8" name="TextBox 70">
            <a:extLst>
              <a:ext uri="{FF2B5EF4-FFF2-40B4-BE49-F238E27FC236}">
                <a16:creationId xmlns:a16="http://schemas.microsoft.com/office/drawing/2014/main" id="{36CF0019-FFA4-B45D-95B3-67D4C5A24B48}"/>
              </a:ext>
            </a:extLst>
          </p:cNvPr>
          <p:cNvSpPr txBox="1"/>
          <p:nvPr/>
        </p:nvSpPr>
        <p:spPr>
          <a:xfrm>
            <a:off x="1282700" y="12396825"/>
            <a:ext cx="143383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본 분석은 기술적 한계를 넘어 </a:t>
            </a:r>
            <a:r>
              <a:rPr lang="ko-KR" altLang="en-US" sz="2933" spc="-88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시스템 전체의 회복 탄력성을 구축하기 위한 통합적 시각 견지</a:t>
            </a:r>
            <a:endParaRPr lang="ko-KR" sz="2933" b="0" i="0" u="none" strike="noStrike" spc="-88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>
            <a:extLst>
              <a:ext uri="{FF2B5EF4-FFF2-40B4-BE49-F238E27FC236}">
                <a16:creationId xmlns:a16="http://schemas.microsoft.com/office/drawing/2014/main" id="{111C6D72-B323-9148-AF39-2C6691D39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4215850"/>
            <a:ext cx="10947400" cy="8814350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CDB67158-510F-B240-F5B6-BCEB86616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7600" y="4215850"/>
            <a:ext cx="10947400" cy="8814350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491" y="4679939"/>
            <a:ext cx="8991618" cy="5334011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68300" y="10299700"/>
            <a:ext cx="9436100" cy="254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282700" y="1968500"/>
            <a:ext cx="178816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덕 커브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(Duck Curve):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 확대가 만든 저녁 피크의 역설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82700" y="3111500"/>
            <a:ext cx="18440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태양광 발전은 낮 시간대 순 부하를 감소시키지만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일몰 이후 전력 수요 급증과 램프 리스크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(Ramp Risk)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동시에 만든다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002</a:t>
            </a:r>
          </a:p>
        </p:txBody>
      </p:sp>
      <p:sp>
        <p:nvSpPr>
          <p:cNvPr id="43" name="TextBox 22"/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[Background] Renewable Energy Paradox</a:t>
            </a:r>
            <a:endParaRPr lang="en" sz="2000" i="0" u="none" strike="noStrike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73B083A-CFD3-5A6A-E4C8-513BD29C0381}"/>
              </a:ext>
            </a:extLst>
          </p:cNvPr>
          <p:cNvGrpSpPr/>
          <p:nvPr/>
        </p:nvGrpSpPr>
        <p:grpSpPr>
          <a:xfrm>
            <a:off x="1407561" y="4775200"/>
            <a:ext cx="10130389" cy="7531100"/>
            <a:chOff x="1436136" y="4775200"/>
            <a:chExt cx="10130389" cy="75311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2440" y="5638800"/>
              <a:ext cx="9803912" cy="16129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1436136" y="5962650"/>
              <a:ext cx="9843233" cy="965200"/>
            </a:xfrm>
            <a:prstGeom prst="rect">
              <a:avLst/>
            </a:prstGeom>
          </p:spPr>
          <p:txBody>
            <a:bodyPr rtlCol="0" anchor="ctr"/>
            <a:lstStyle/>
            <a:p>
              <a:pPr lvl="0">
                <a:lnSpc>
                  <a:spcPct val="132800"/>
                </a:lnSpc>
              </a:pPr>
              <a:r>
                <a:rPr lang="ko-KR" altLang="en-US" sz="2200" dirty="0">
                  <a:latin typeface="Pretendard Regular" panose="020B0600000101010101" charset="-127"/>
                  <a:ea typeface="Pretendard Regular" panose="020B0600000101010101" charset="-127"/>
                </a:rPr>
                <a:t>문제의 본질은 발전량 부족이 아니라</a:t>
              </a:r>
              <a:r>
                <a:rPr lang="ko-KR" altLang="en-US" sz="2200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</a:t>
              </a:r>
              <a:r>
                <a:rPr lang="ko-KR" altLang="en-US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전력 수요</a:t>
              </a:r>
              <a:r>
                <a:rPr lang="en-US" altLang="ko-KR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-</a:t>
              </a:r>
              <a:r>
                <a:rPr lang="ko-KR" altLang="en-US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발전 간 시간대 불일치</a:t>
              </a:r>
              <a:r>
                <a:rPr lang="en-US" altLang="ko-KR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(Time Mismatch)</a:t>
              </a:r>
              <a:endParaRPr lang="ko-KR" sz="22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>
                <a:lnSpc>
                  <a:spcPct val="132800"/>
                </a:lnSpc>
              </a:pPr>
              <a:r>
                <a:rPr lang="ko-KR" altLang="en-US" sz="2200" dirty="0">
                  <a:latin typeface="Pretendard Regular" panose="020B0600000101010101" charset="-127"/>
                  <a:ea typeface="Pretendard Regular" panose="020B0600000101010101" charset="-127"/>
                </a:rPr>
                <a:t>해법은 </a:t>
              </a:r>
              <a:r>
                <a:rPr lang="en-US" altLang="ko-KR" sz="2200" dirty="0">
                  <a:latin typeface="Pretendard Regular" panose="020B0600000101010101" charset="-127"/>
                  <a:ea typeface="Pretendard Regular" panose="020B0600000101010101" charset="-127"/>
                </a:rPr>
                <a:t>“</a:t>
              </a:r>
              <a:r>
                <a:rPr lang="ko-KR" altLang="en-US" sz="2200" dirty="0">
                  <a:latin typeface="Pretendard Regular" panose="020B0600000101010101" charset="-127"/>
                  <a:ea typeface="Pretendard Regular" panose="020B0600000101010101" charset="-127"/>
                </a:rPr>
                <a:t>얼마나 더 발전할 것인가</a:t>
              </a:r>
              <a:r>
                <a:rPr lang="en-US" altLang="ko-KR" sz="2200" dirty="0">
                  <a:latin typeface="Pretendard Regular" panose="020B0600000101010101" charset="-127"/>
                  <a:ea typeface="Pretendard Regular" panose="020B0600000101010101" charset="-127"/>
                </a:rPr>
                <a:t>”</a:t>
              </a:r>
              <a:r>
                <a:rPr lang="ko-KR" altLang="en-US" sz="2200" dirty="0">
                  <a:latin typeface="Pretendard Regular" panose="020B0600000101010101" charset="-127"/>
                  <a:ea typeface="Pretendard Regular" panose="020B0600000101010101" charset="-127"/>
                </a:rPr>
                <a:t>가 아니라 </a:t>
              </a:r>
              <a:r>
                <a:rPr lang="en-US" altLang="ko-KR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“</a:t>
              </a:r>
              <a:r>
                <a:rPr lang="ko-KR" altLang="en-US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언제</a:t>
              </a:r>
              <a:r>
                <a:rPr lang="en-US" altLang="ko-KR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, </a:t>
              </a:r>
              <a:r>
                <a:rPr lang="ko-KR" altLang="en-US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어떤 자원이 대응할 것인가</a:t>
              </a:r>
              <a:r>
                <a:rPr lang="en-US" altLang="ko-KR" sz="2200" b="1" dirty="0">
                  <a:solidFill>
                    <a:srgbClr val="8C2828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” </a:t>
              </a:r>
              <a:r>
                <a:rPr lang="ko-KR" altLang="en-US" sz="2200" dirty="0">
                  <a:latin typeface="Pretendard Regular" panose="020B0600000101010101" charset="-127"/>
                  <a:ea typeface="Pretendard Regular" panose="020B0600000101010101" charset="-127"/>
                </a:rPr>
                <a:t>문제</a:t>
              </a:r>
              <a:endParaRPr lang="ko-KR" sz="2200" dirty="0"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47825" y="4775200"/>
              <a:ext cx="5384800" cy="596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ko-KR" altLang="en-US" sz="3333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핵심 포인트</a:t>
              </a:r>
              <a:r>
                <a:rPr lang="en-US" altLang="ko-KR" sz="3333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(Key Point)</a:t>
              </a:r>
              <a:endParaRPr 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8">
              <a:alphaModFix amt="80000"/>
            </a:blip>
            <a:stretch>
              <a:fillRect/>
            </a:stretch>
          </p:blipFill>
          <p:spPr>
            <a:xfrm>
              <a:off x="1452439" y="7899400"/>
              <a:ext cx="2405185" cy="198120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9">
              <a:alphaModFix amt="80000"/>
            </a:blip>
            <a:stretch>
              <a:fillRect/>
            </a:stretch>
          </p:blipFill>
          <p:spPr>
            <a:xfrm>
              <a:off x="1452439" y="10325100"/>
              <a:ext cx="2405185" cy="198120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60525" y="10096500"/>
              <a:ext cx="9436100" cy="254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1555017" y="8407400"/>
              <a:ext cx="2186110" cy="9652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33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낮 시간대</a:t>
              </a:r>
              <a:r>
                <a:rPr lang="en-US" altLang="ko-KR" sz="2533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: Belly</a:t>
              </a:r>
            </a:p>
            <a:p>
              <a:pPr lvl="0" algn="ctr">
                <a:lnSpc>
                  <a:spcPct val="132800"/>
                </a:lnSpc>
              </a:pPr>
              <a:r>
                <a:rPr lang="en-US" sz="2533" b="0" i="0" u="none" strike="noStrike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</a:t>
              </a:r>
              <a:r>
                <a:rPr lang="en-US" sz="2533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Oversupply</a:t>
              </a:r>
              <a:r>
                <a:rPr lang="en-US" sz="2533" b="0" i="0" u="none" strike="noStrike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en" sz="2533" b="0" i="0" u="none" strike="noStrike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57825" y="5918200"/>
              <a:ext cx="254000" cy="2286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16199"/>
                </a:lnSpc>
              </a:pPr>
              <a:endParaRPr lang="en" sz="1292" b="1" i="0" u="none" strike="noStrike" dirty="0">
                <a:solidFill>
                  <a:srgbClr val="8C2828"/>
                </a:solidFill>
                <a:latin typeface="Pretendard Medium"/>
              </a:endParaRPr>
            </a:p>
          </p:txBody>
        </p:sp>
        <p:sp>
          <p:nvSpPr>
            <p:cNvPr id="44" name="TextBox 30"/>
            <p:cNvSpPr txBox="1"/>
            <p:nvPr/>
          </p:nvSpPr>
          <p:spPr>
            <a:xfrm>
              <a:off x="1436136" y="10833100"/>
              <a:ext cx="2437790" cy="9652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33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저녁 시간대</a:t>
              </a:r>
              <a:r>
                <a:rPr lang="en-US" altLang="ko-KR" sz="2533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: Neck</a:t>
              </a:r>
            </a:p>
            <a:p>
              <a:pPr lvl="0" algn="ctr">
                <a:lnSpc>
                  <a:spcPct val="132800"/>
                </a:lnSpc>
              </a:pPr>
              <a:r>
                <a:rPr lang="en-US" sz="2533" b="0" i="0" u="none" strike="noStrike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</a:t>
              </a:r>
              <a:r>
                <a:rPr lang="en-US" sz="2533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Ramp Risk</a:t>
              </a:r>
              <a:r>
                <a:rPr lang="en-US" sz="2533" b="0" i="0" u="none" strike="noStrike" spc="-101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en" sz="2533" b="0" i="0" u="none" strike="noStrike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46" name="TextBox 11"/>
            <p:cNvSpPr txBox="1"/>
            <p:nvPr/>
          </p:nvSpPr>
          <p:spPr>
            <a:xfrm>
              <a:off x="3877652" y="8029575"/>
              <a:ext cx="7688873" cy="172085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sz="2400" i="0" u="none" strike="noStrike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</a:t>
              </a:r>
              <a:r>
                <a:rPr lang="ko-KR" altLang="en-US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태양광 발전 증가로 </a:t>
              </a:r>
              <a:r>
                <a:rPr lang="ko-KR" altLang="en-US" sz="2400" b="1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주간 순 부하</a:t>
              </a:r>
              <a:r>
                <a:rPr lang="en-US" altLang="ko-KR" sz="2400" b="1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(Net Load)</a:t>
              </a:r>
              <a:r>
                <a:rPr lang="ko-KR" altLang="en-US" sz="2400" b="1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가 급격히 감소</a:t>
              </a:r>
              <a:endParaRPr lang="en-US" altLang="ko-KR" sz="2400" b="1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>
                <a:lnSpc>
                  <a:spcPct val="141100"/>
                </a:lnSpc>
              </a:pPr>
              <a:r>
                <a:rPr lang="en-US" altLang="ko-KR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</a:t>
              </a:r>
              <a:r>
                <a:rPr lang="ko-KR" altLang="en-US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발전량은 충분하지만 </a:t>
              </a:r>
              <a:r>
                <a:rPr lang="ko-KR" altLang="en-US" sz="2400" b="1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수요와 시간대가 맞지 않아 과잉 구간 발생</a:t>
              </a:r>
              <a:endParaRPr lang="en-US" altLang="ko-KR" sz="2400" b="1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>
                <a:lnSpc>
                  <a:spcPct val="141100"/>
                </a:lnSpc>
              </a:pPr>
              <a:r>
                <a:rPr lang="en-US" altLang="ko-KR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</a:t>
              </a:r>
              <a:r>
                <a:rPr lang="ko-KR" altLang="en-US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단순 발전 확대는 이 구간을 더 깊게 만든다</a:t>
              </a:r>
              <a:r>
                <a:rPr lang="en-US" altLang="ko-KR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.</a:t>
              </a:r>
            </a:p>
            <a:p>
              <a:pPr lvl="0" algn="l">
                <a:lnSpc>
                  <a:spcPct val="141100"/>
                </a:lnSpc>
              </a:pPr>
              <a:endParaRPr lang="en-US" altLang="ko-KR" sz="2400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l">
                <a:lnSpc>
                  <a:spcPct val="141100"/>
                </a:lnSpc>
              </a:pPr>
              <a:endParaRPr lang="ko-KR" sz="2400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47" name="TextBox 11"/>
            <p:cNvSpPr txBox="1"/>
            <p:nvPr/>
          </p:nvSpPr>
          <p:spPr>
            <a:xfrm>
              <a:off x="3873926" y="10455275"/>
              <a:ext cx="7688873" cy="172085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sz="2400" i="0" u="none" strike="noStrike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</a:t>
              </a:r>
              <a:r>
                <a:rPr lang="ko-KR" altLang="en-US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태양광 발전 급감 </a:t>
              </a:r>
              <a:r>
                <a:rPr lang="en-US" altLang="ko-KR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+ </a:t>
              </a:r>
              <a:r>
                <a:rPr lang="ko-KR" altLang="en-US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주거 수요 급증이 </a:t>
              </a:r>
              <a:r>
                <a:rPr lang="ko-KR" altLang="en-US" sz="2400" b="1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동시에 발생</a:t>
              </a:r>
              <a:endParaRPr lang="en-US" altLang="ko-KR" sz="2400" b="1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>
                <a:lnSpc>
                  <a:spcPct val="141100"/>
                </a:lnSpc>
              </a:pPr>
              <a:r>
                <a:rPr lang="en-US" altLang="ko-KR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</a:t>
              </a:r>
              <a:r>
                <a:rPr lang="ko-KR" altLang="en-US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짧은 시간 안에 대규모 전력 공급 전환 필요</a:t>
              </a:r>
              <a:endParaRPr lang="en-US" altLang="ko-KR" sz="2400" b="1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>
                <a:lnSpc>
                  <a:spcPct val="141100"/>
                </a:lnSpc>
              </a:pPr>
              <a:r>
                <a:rPr lang="en-US" altLang="ko-KR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</a:t>
              </a:r>
              <a:r>
                <a:rPr lang="ko-KR" altLang="en-US" sz="2400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이 구간이 </a:t>
              </a:r>
              <a:r>
                <a:rPr lang="ko-KR" altLang="en-US" sz="2400" b="1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저녁 피크</a:t>
              </a:r>
              <a:r>
                <a:rPr lang="en-US" altLang="ko-KR" sz="2400" b="1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·</a:t>
              </a:r>
              <a:r>
                <a:rPr lang="ko-KR" altLang="en-US" sz="2400" b="1" spc="-8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계통 불안정의 핵심 원인</a:t>
              </a:r>
              <a:endParaRPr lang="en-US" altLang="ko-KR" sz="2400" b="1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l">
                <a:lnSpc>
                  <a:spcPct val="141100"/>
                </a:lnSpc>
              </a:pPr>
              <a:endParaRPr lang="ko-KR" sz="2400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</p:grpSp>
      <p:pic>
        <p:nvPicPr>
          <p:cNvPr id="4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88596" y="10610849"/>
            <a:ext cx="9465408" cy="1695451"/>
          </a:xfrm>
          <a:prstGeom prst="rect">
            <a:avLst/>
          </a:prstGeom>
        </p:spPr>
      </p:pic>
      <p:sp>
        <p:nvSpPr>
          <p:cNvPr id="50" name="TextBox 16"/>
          <p:cNvSpPr txBox="1"/>
          <p:nvPr/>
        </p:nvSpPr>
        <p:spPr>
          <a:xfrm>
            <a:off x="13533804" y="11242674"/>
            <a:ext cx="90805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덕 커브는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태양광의 실패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아니라 </a:t>
            </a:r>
            <a:endParaRPr lang="en-US" altLang="ko-KR" sz="2930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 시스템 운영 방식이 바뀌어야 함을 보여주는 신호다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32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988800" y="10515600"/>
            <a:ext cx="4191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06462" y="4013200"/>
            <a:ext cx="42037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800" y="4013200"/>
            <a:ext cx="17729200" cy="1841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906462" y="6261100"/>
            <a:ext cx="4203700" cy="184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800" y="6261100"/>
            <a:ext cx="17729200" cy="184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906462" y="8496300"/>
            <a:ext cx="4203700" cy="184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800" y="8496300"/>
            <a:ext cx="17729200" cy="184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700" y="11404600"/>
            <a:ext cx="22593300" cy="1168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64300" y="4381500"/>
            <a:ext cx="14554200" cy="1054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서울 열린 데이터 광장 기반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법정동별 시간별 전력사용량 데이터</a:t>
            </a:r>
            <a:endParaRPr lang="ko-KR" sz="2666" i="0" u="none" strike="noStrike" spc="-8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실측 태양광 발전량 부재 상황을 고려한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이론적 시간대 발전 패턴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(PV)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정의</a:t>
            </a:r>
            <a:endParaRPr lang="ko-KR" sz="2666" i="0" u="none" strike="noStrike" spc="-8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23962" y="4356100"/>
            <a:ext cx="30099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" sz="3333" i="0" u="none" strike="noStrike" spc="-100" baseline="30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1 </a:t>
            </a:r>
            <a:r>
              <a:rPr lang="en-US" sz="3333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Input</a:t>
            </a:r>
            <a:endParaRPr lang="ko-KR" sz="3333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464300" y="6629400"/>
            <a:ext cx="14554200" cy="10541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en-US" sz="2670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70" b="1" dirty="0">
                <a:latin typeface="Pretendard SemiBold" panose="020B0600000101010101" charset="-127"/>
                <a:ea typeface="Pretendard SemiBold" panose="020B0600000101010101" charset="-127"/>
              </a:rPr>
              <a:t>태양광 데이터</a:t>
            </a:r>
            <a:r>
              <a:rPr lang="en-US" altLang="ko-KR" sz="2670" b="1" dirty="0">
                <a:latin typeface="Pretendard SemiBold" panose="020B0600000101010101" charset="-127"/>
                <a:ea typeface="Pretendard SemiBold" panose="020B0600000101010101" charset="-127"/>
              </a:rPr>
              <a:t>:</a:t>
            </a:r>
            <a:r>
              <a:rPr lang="ko-KR" altLang="en-US" sz="2670" dirty="0"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670" dirty="0">
                <a:latin typeface="Pretendard Regular" panose="020B0600000101010101" charset="-127"/>
                <a:ea typeface="Pretendard Regular" panose="020B0600000101010101" charset="-127"/>
              </a:rPr>
              <a:t>실제 발전량이 아닌</a:t>
            </a:r>
            <a:r>
              <a:rPr lang="en-US" altLang="ko-KR" sz="267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670" dirty="0">
                <a:latin typeface="Pretendard Regular" panose="020B0600000101010101" charset="-127"/>
                <a:ea typeface="Pretendard Regular" panose="020B0600000101010101" charset="-127"/>
              </a:rPr>
              <a:t>일출</a:t>
            </a:r>
            <a:r>
              <a:rPr lang="en-US" altLang="ko-KR" sz="267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670" dirty="0">
                <a:latin typeface="Pretendard Regular" panose="020B0600000101010101" charset="-127"/>
                <a:ea typeface="Pretendard Regular" panose="020B0600000101010101" charset="-127"/>
              </a:rPr>
              <a:t>일몰과 계절별 일사 특성을 반영한 </a:t>
            </a:r>
            <a:r>
              <a:rPr lang="ko-KR" altLang="en-US" sz="2670" dirty="0">
                <a:latin typeface="Pretendard SemiBold" panose="020B0600000101010101" charset="-127"/>
                <a:ea typeface="Pretendard SemiBold" panose="020B0600000101010101" charset="-127"/>
              </a:rPr>
              <a:t>이론적 시간대 발전 패턴 </a:t>
            </a:r>
            <a:r>
              <a:rPr lang="ko-KR" altLang="en-US" sz="2670" dirty="0">
                <a:latin typeface="Pretendard Regular" panose="020B0600000101010101" charset="-127"/>
                <a:ea typeface="Pretendard Regular" panose="020B0600000101010101" charset="-127"/>
              </a:rPr>
              <a:t>사용</a:t>
            </a:r>
            <a:r>
              <a:rPr lang="ko-KR" altLang="en-US" sz="2670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ko-KR" sz="2670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침투율별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시나리오 분석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재생에너지 비중 변화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(20 ~ 40%)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에</a:t>
            </a:r>
            <a:r>
              <a:rPr lang="en-US" altLang="ko-KR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따른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순 부하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(Net Load)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형상 변화 비교</a:t>
            </a:r>
            <a:endParaRPr lang="en-US" sz="2666" i="0" u="none" strike="noStrike" spc="-8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23962" y="6591300"/>
            <a:ext cx="30099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" sz="3333" i="0" u="none" strike="noStrike" spc="-100" baseline="30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2 </a:t>
            </a:r>
            <a:r>
              <a:rPr lang="en-US" sz="3333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Process</a:t>
            </a:r>
            <a:endParaRPr lang="ko-KR" sz="3333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23962" y="8826500"/>
            <a:ext cx="30099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" sz="3333" i="0" u="none" strike="noStrike" spc="-100" baseline="30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3 </a:t>
            </a:r>
            <a:r>
              <a:rPr lang="en-US" sz="3333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3333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Output</a:t>
            </a:r>
            <a:endParaRPr lang="ko-KR" sz="3333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74800" y="11811000"/>
            <a:ext cx="2540000" cy="381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2133" i="0" u="none" strike="noStrike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Project Goal*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59315" y="11709400"/>
            <a:ext cx="17030700" cy="4953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ko-KR" altLang="en-US" sz="2930" dirty="0">
                <a:latin typeface="Pretendard SemiBold" panose="020B0600000101010101" charset="-127"/>
                <a:ea typeface="Pretendard SemiBold" panose="020B0600000101010101" charset="-127"/>
              </a:rPr>
              <a:t>본 프로젝트는 시간대</a:t>
            </a:r>
            <a:r>
              <a:rPr lang="en-US" altLang="ko-KR" sz="2930" dirty="0">
                <a:latin typeface="Pretendard SemiBold" panose="020B0600000101010101" charset="-127"/>
                <a:ea typeface="Pretendard SemiBold" panose="020B0600000101010101" charset="-127"/>
              </a:rPr>
              <a:t>(Time-of-Day) </a:t>
            </a:r>
            <a:r>
              <a:rPr lang="ko-KR" altLang="en-US" sz="2930" dirty="0">
                <a:latin typeface="Pretendard SemiBold" panose="020B0600000101010101" charset="-127"/>
                <a:ea typeface="Pretendard SemiBold" panose="020B0600000101010101" charset="-127"/>
              </a:rPr>
              <a:t>불일치 관점에서</a:t>
            </a:r>
            <a:br>
              <a:rPr lang="ko-KR" altLang="en-US" sz="2930" dirty="0">
                <a:latin typeface="Pretendard SemiBold" panose="020B0600000101010101" charset="-127"/>
                <a:ea typeface="Pretendard SemiBold" panose="020B0600000101010101" charset="-127"/>
              </a:rPr>
            </a:br>
            <a:r>
              <a:rPr lang="ko-KR" altLang="en-US" sz="2930" dirty="0">
                <a:latin typeface="Pretendard SemiBold" panose="020B0600000101010101" charset="-127"/>
                <a:ea typeface="Pretendard SemiBold" panose="020B0600000101010101" charset="-127"/>
              </a:rPr>
              <a:t>순 부하 구조 변화를 분석하고</a:t>
            </a:r>
            <a:r>
              <a:rPr lang="en-US" altLang="ko-KR" sz="2930" dirty="0"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dirty="0">
                <a:latin typeface="Pretendard SemiBold" panose="020B0600000101010101" charset="-127"/>
                <a:ea typeface="Pretendard SemiBold" panose="020B0600000101010101" charset="-127"/>
              </a:rPr>
              <a:t>전력 시스템 운영 리스크를 해석하기 위한 분석 프레임워크를 제시한다</a:t>
            </a:r>
            <a:r>
              <a:rPr lang="en-US" altLang="ko-KR" sz="2930" dirty="0"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i="0" u="none" strike="noStrike" spc="-84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82700" y="1968500"/>
            <a:ext cx="171577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계통 유연성 확보를 위한 데이터 기반 리스크 진단 프레임워크</a:t>
            </a:r>
            <a:endParaRPr lang="ko-KR" sz="5333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Project Architecture &amp; Objectives </a:t>
            </a:r>
            <a:endParaRPr lang="en" sz="2000" i="0" u="none" strike="noStrike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003</a:t>
            </a:r>
          </a:p>
        </p:txBody>
      </p:sp>
      <p:sp>
        <p:nvSpPr>
          <p:cNvPr id="24" name="TextBox 13"/>
          <p:cNvSpPr txBox="1"/>
          <p:nvPr/>
        </p:nvSpPr>
        <p:spPr>
          <a:xfrm>
            <a:off x="6464300" y="8890000"/>
            <a:ext cx="14554200" cy="1054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순 부하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(Net Load)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곡선을 기반으로 한 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주간 과잉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(Belly)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및 저녁 </a:t>
            </a:r>
            <a:r>
              <a:rPr lang="ko-KR" altLang="en-US" sz="2666" i="0" u="none" strike="noStrike" spc="-8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램핑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(Neck)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구간 식별</a:t>
            </a:r>
            <a:endParaRPr lang="ko-KR" sz="2666" i="0" u="none" strike="noStrike" spc="-8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 불일치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(Time-of-Day Mismatch)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운영 리스크로 전이되는 구조적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특성 정리</a:t>
            </a:r>
            <a:endParaRPr lang="en-US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9" name="TextBox 70"/>
          <p:cNvSpPr txBox="1"/>
          <p:nvPr/>
        </p:nvSpPr>
        <p:spPr>
          <a:xfrm>
            <a:off x="1282700" y="3111500"/>
            <a:ext cx="179197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단순 수급 불균형을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넘어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 구조 변화로 발생하는 운영 리스크를 해석하기 위한 데이터 기반 진단 프레임워크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17" name="그림 1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45B601-5AB4-7805-A4B3-C6CE36BDC2F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030" y="9218479"/>
            <a:ext cx="933275" cy="933275"/>
          </a:xfrm>
          <a:prstGeom prst="rect">
            <a:avLst/>
          </a:prstGeom>
        </p:spPr>
      </p:pic>
      <p:pic>
        <p:nvPicPr>
          <p:cNvPr id="28" name="그림 2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C58574-7718-8C41-3883-72B5F4B1FD7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030" y="6921500"/>
            <a:ext cx="1044132" cy="1044132"/>
          </a:xfrm>
          <a:prstGeom prst="rect">
            <a:avLst/>
          </a:prstGeom>
        </p:spPr>
      </p:pic>
      <p:pic>
        <p:nvPicPr>
          <p:cNvPr id="31" name="그림 3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FDD1B3-0007-3C74-E637-2F625CF0CB1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016" y="4686137"/>
            <a:ext cx="1044132" cy="1044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1CCA1-8B5E-1436-A309-16D7291DB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77AD25F-ED85-2067-51CA-35FEB7E6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56D1368-88B0-FCA0-4C8C-7C348FF27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988800" y="10515600"/>
            <a:ext cx="419100" cy="673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FC22986-613D-3882-F23F-C80FF15CD7B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01700" y="4013200"/>
            <a:ext cx="4203700" cy="1841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5352842-2C13-2D30-A78F-A1AE00FF9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800" y="4013200"/>
            <a:ext cx="17729200" cy="1841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CDDF070-C7E5-1720-E9E9-98AAD9E319A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901700" y="6261100"/>
            <a:ext cx="4203700" cy="18415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D191988-867A-4FF0-CBF5-3E927033F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800" y="6261100"/>
            <a:ext cx="17729200" cy="1841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A8C61A9-4E4A-93D6-587B-4FBC5D6A9D3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901700" y="8496300"/>
            <a:ext cx="4203700" cy="1841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3FD8D9D6-6C27-BCCD-0DFA-42313A34D4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800" y="8496300"/>
            <a:ext cx="17729200" cy="1841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35402F8D-BA2D-4C5F-CFA4-AA3B6BC85F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700" y="11404600"/>
            <a:ext cx="22593300" cy="1168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F31BAD28-1ADE-7E73-1FF5-DF83CF554DC8}"/>
              </a:ext>
            </a:extLst>
          </p:cNvPr>
          <p:cNvSpPr txBox="1"/>
          <p:nvPr/>
        </p:nvSpPr>
        <p:spPr>
          <a:xfrm>
            <a:off x="6464300" y="4381500"/>
            <a:ext cx="14554200" cy="1054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구조적 수급 불균형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자연의 생산 리듬과 인간의 소비 리듬이 어긋나 발생하는 과잉 발전 및 피크 심화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재생에너지 </a:t>
            </a:r>
            <a:r>
              <a:rPr lang="ko-KR" altLang="en-US" sz="2666" i="0" u="none" strike="noStrike" spc="-8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감발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낮 시간대 순 부하가 기저발전기 최소 출력 이하로 하락하여 발생하는 강제 출력 제한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CF35E5F-5690-1DE9-D3D8-D6325AC85EAC}"/>
              </a:ext>
            </a:extLst>
          </p:cNvPr>
          <p:cNvSpPr txBox="1"/>
          <p:nvPr/>
        </p:nvSpPr>
        <p:spPr>
          <a:xfrm>
            <a:off x="1219200" y="4356100"/>
            <a:ext cx="30099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" sz="3333" i="0" u="none" strike="noStrike" spc="-100" baseline="30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1 </a:t>
            </a:r>
            <a:r>
              <a:rPr lang="en-US" sz="3333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Physical</a:t>
            </a:r>
            <a:endParaRPr lang="ko-KR" sz="3333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C18D1C6-33DB-87BE-6FE3-34FE3BBD12DB}"/>
              </a:ext>
            </a:extLst>
          </p:cNvPr>
          <p:cNvSpPr txBox="1"/>
          <p:nvPr/>
        </p:nvSpPr>
        <p:spPr>
          <a:xfrm>
            <a:off x="6464300" y="6629400"/>
            <a:ext cx="14554200" cy="1054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관성 상실 및 주파수 위협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동기 발전기 정지로 인한 계통 관성 부족 및 주파수 변화율 급증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연쇄 탈락 위험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급격한 주파수 변동 시 보호 </a:t>
            </a:r>
            <a:r>
              <a:rPr lang="ko-KR" altLang="en-US" sz="2666" i="0" u="none" strike="noStrike" spc="-80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계전기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오동작으로 인한 광역 정전</a:t>
            </a:r>
            <a:r>
              <a:rPr lang="en-US" altLang="ko-KR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(Blackout)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가능성 증대</a:t>
            </a:r>
            <a:endParaRPr lang="en-US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C00C167-CF8F-CE96-9161-F619887F102E}"/>
              </a:ext>
            </a:extLst>
          </p:cNvPr>
          <p:cNvSpPr txBox="1"/>
          <p:nvPr/>
        </p:nvSpPr>
        <p:spPr>
          <a:xfrm>
            <a:off x="1219200" y="6591300"/>
            <a:ext cx="30099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" sz="3333" i="0" u="none" strike="noStrike" spc="-100" baseline="30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2 </a:t>
            </a:r>
            <a:r>
              <a:rPr lang="en-US" sz="3333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System</a:t>
            </a:r>
            <a:endParaRPr lang="ko-KR" sz="3333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968D519-BE05-EB04-A56D-FD557B1C1796}"/>
              </a:ext>
            </a:extLst>
          </p:cNvPr>
          <p:cNvSpPr txBox="1"/>
          <p:nvPr/>
        </p:nvSpPr>
        <p:spPr>
          <a:xfrm>
            <a:off x="1219200" y="8826500"/>
            <a:ext cx="3009900" cy="622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" sz="3333" i="0" u="none" strike="noStrike" spc="-100" baseline="300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3 </a:t>
            </a:r>
            <a:r>
              <a:rPr lang="en-US" sz="3333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3333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Economic</a:t>
            </a:r>
            <a:endParaRPr lang="ko-KR" sz="3333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723EF16-0787-493D-B102-C9EEDE9D060A}"/>
              </a:ext>
            </a:extLst>
          </p:cNvPr>
          <p:cNvSpPr txBox="1"/>
          <p:nvPr/>
        </p:nvSpPr>
        <p:spPr>
          <a:xfrm>
            <a:off x="1574800" y="11811000"/>
            <a:ext cx="2540000" cy="381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2133" i="0" u="none" strike="noStrike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Project Goal*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CEFA10C-9503-6978-BE54-A50343E6EFB1}"/>
              </a:ext>
            </a:extLst>
          </p:cNvPr>
          <p:cNvSpPr txBox="1"/>
          <p:nvPr/>
        </p:nvSpPr>
        <p:spPr>
          <a:xfrm>
            <a:off x="5759315" y="11747500"/>
            <a:ext cx="17030700" cy="4953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덕 커브는 단순한 수급 불균형이 아닌</a:t>
            </a:r>
            <a:r>
              <a:rPr lang="en-US" altLang="ko-KR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 </a:t>
            </a:r>
            <a:r>
              <a:rPr lang="ko-KR" altLang="en-US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고도화된 운영 리스크의 집합체로 정의되어야 함</a:t>
            </a:r>
            <a:endParaRPr lang="en-US" sz="2930" i="0" u="none" strike="noStrike" spc="-84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7E725C4-EEB6-5991-2974-145E11C0489F}"/>
              </a:ext>
            </a:extLst>
          </p:cNvPr>
          <p:cNvSpPr txBox="1"/>
          <p:nvPr/>
        </p:nvSpPr>
        <p:spPr>
          <a:xfrm>
            <a:off x="1282700" y="1968500"/>
            <a:ext cx="171577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에너지 생산과 소비 리듬의 구조적 어긋남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시간적 불일치</a:t>
            </a:r>
            <a:endParaRPr lang="ko-KR" sz="5333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48C9C4B-60B2-09D0-75DA-747E263110A6}"/>
              </a:ext>
            </a:extLst>
          </p:cNvPr>
          <p:cNvSpPr txBox="1"/>
          <p:nvPr/>
        </p:nvSpPr>
        <p:spPr>
          <a:xfrm>
            <a:off x="1270000" y="901700"/>
            <a:ext cx="83312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</a:t>
            </a:r>
            <a:r>
              <a:rPr lang="en-US" sz="2000" i="0" u="none" strike="noStrike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Pro</a:t>
            </a:r>
            <a:r>
              <a:rPr lang="en-US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blem Definition: The Core Challenge</a:t>
            </a:r>
            <a:endParaRPr lang="en" sz="2000" i="0" u="none" strike="noStrike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AC9A3EA-5802-CA6E-F296-7A983BBEB37E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004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D6BECC1F-31D6-699E-C5F9-7B302ED2A1AE}"/>
              </a:ext>
            </a:extLst>
          </p:cNvPr>
          <p:cNvSpPr txBox="1"/>
          <p:nvPr/>
        </p:nvSpPr>
        <p:spPr>
          <a:xfrm>
            <a:off x="6464300" y="8890000"/>
            <a:ext cx="14554200" cy="1054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음의 가격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과잉 공급 구간에서 도매 전력 가격이 </a:t>
            </a:r>
            <a:r>
              <a:rPr lang="en-US" altLang="ko-KR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0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이하로 하락하는 시장 실패 현상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미싱 머니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유연성 자원의 수익성 약화로 인한 신규 설비 투자 유인 체계 붕괴</a:t>
            </a:r>
            <a:endParaRPr lang="en-US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9" name="TextBox 70">
            <a:extLst>
              <a:ext uri="{FF2B5EF4-FFF2-40B4-BE49-F238E27FC236}">
                <a16:creationId xmlns:a16="http://schemas.microsoft.com/office/drawing/2014/main" id="{6241F8D6-DC5A-2FFE-A4E4-B50D6933E8B0}"/>
              </a:ext>
            </a:extLst>
          </p:cNvPr>
          <p:cNvSpPr txBox="1"/>
          <p:nvPr/>
        </p:nvSpPr>
        <p:spPr>
          <a:xfrm>
            <a:off x="1282700" y="3111500"/>
            <a:ext cx="190627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자연적 리듬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태양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/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바람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과 사회적 소비 리듬이 동기화되지 않음으로써 발생하는 시스템적 위기 재해석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17" name="그림 1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88F5B6-A924-DBE1-A0FB-7C759572D7B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160" y="9220200"/>
            <a:ext cx="1041095" cy="1041095"/>
          </a:xfrm>
          <a:prstGeom prst="rect">
            <a:avLst/>
          </a:prstGeom>
        </p:spPr>
      </p:pic>
      <p:pic>
        <p:nvPicPr>
          <p:cNvPr id="28" name="그림 2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BC58FD-4DA3-1A1A-561B-47B33418200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160" y="6969511"/>
            <a:ext cx="1041095" cy="1041095"/>
          </a:xfrm>
          <a:prstGeom prst="rect">
            <a:avLst/>
          </a:prstGeom>
        </p:spPr>
      </p:pic>
      <p:pic>
        <p:nvPicPr>
          <p:cNvPr id="31" name="그림 3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9A7581-73EF-918D-F270-49745C43865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015" y="4661205"/>
            <a:ext cx="1041095" cy="104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4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1428C-1553-236C-DD0B-A83F668A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>
            <a:extLst>
              <a:ext uri="{FF2B5EF4-FFF2-40B4-BE49-F238E27FC236}">
                <a16:creationId xmlns:a16="http://schemas.microsoft.com/office/drawing/2014/main" id="{83930595-BA34-21DD-E15D-C961CA4C1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4203700"/>
            <a:ext cx="22593300" cy="8763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FE299A7-685F-EFEE-D7CF-82C73AB2E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B0CEC994-DA8A-FF35-4411-89C9C9760E67}"/>
              </a:ext>
            </a:extLst>
          </p:cNvPr>
          <p:cNvSpPr txBox="1"/>
          <p:nvPr/>
        </p:nvSpPr>
        <p:spPr>
          <a:xfrm>
            <a:off x="1282700" y="1968500"/>
            <a:ext cx="142621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ea typeface="Pretendard SemiBold"/>
              </a:rPr>
              <a:t>고해상도 시뮬레이션을 위한 데이터셋 </a:t>
            </a:r>
            <a:r>
              <a:rPr lang="ko-KR" altLang="en-US" sz="5333" spc="-160">
                <a:solidFill>
                  <a:srgbClr val="222222"/>
                </a:solidFill>
                <a:ea typeface="Pretendard SemiBold"/>
              </a:rPr>
              <a:t>및 분석 환경 구축</a:t>
            </a:r>
            <a:endParaRPr lang="ko-KR" sz="5333" b="0" i="0" u="none" strike="noStrike" spc="-160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4E0244F-C03A-4647-5097-11647386BEC1}"/>
              </a:ext>
            </a:extLst>
          </p:cNvPr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ea typeface="Pretendard Regular"/>
              </a:rPr>
              <a:t>서울 열린 데이터 광장 공공데이터와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ea typeface="Pretendard Regular"/>
              </a:rPr>
              <a:t>Python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ea typeface="Pretendard Regular"/>
              </a:rPr>
              <a:t>연산 도구를 결합하여 분석의 무결성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ea typeface="Pretendard Regular"/>
              </a:rPr>
              <a:t>(Integrity)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ea typeface="Pretendard Regular"/>
              </a:rPr>
              <a:t>확보</a:t>
            </a:r>
            <a:endParaRPr lang="ko-KR" sz="2933" b="0" i="0" u="none" strike="noStrike" spc="-88" dirty="0">
              <a:solidFill>
                <a:srgbClr val="222222"/>
              </a:solidFill>
              <a:ea typeface="Pretendard Regular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ABC27BD-4781-B4CD-C9FD-F97074CACD28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</a:t>
            </a:r>
            <a:r>
              <a:rPr lang="en-US" sz="2000" dirty="0">
                <a:solidFill>
                  <a:srgbClr val="FFFFFF"/>
                </a:solidFill>
                <a:latin typeface="Gmarket Sans Bold"/>
              </a:rPr>
              <a:t>Data Engineering &amp; Analysis Environment</a:t>
            </a:r>
            <a:endParaRPr lang="en" sz="2000" b="0" i="0" u="none" strike="noStrike" dirty="0">
              <a:solidFill>
                <a:srgbClr val="FFFFFF"/>
              </a:solidFill>
              <a:latin typeface="Gmarket Sans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D0819C2-7444-DA60-07D5-826B5EA4F249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005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A9499EB-3BFB-C764-7962-B1C891BDADE3}"/>
              </a:ext>
            </a:extLst>
          </p:cNvPr>
          <p:cNvGrpSpPr/>
          <p:nvPr/>
        </p:nvGrpSpPr>
        <p:grpSpPr>
          <a:xfrm>
            <a:off x="1289050" y="4724400"/>
            <a:ext cx="21805900" cy="7505700"/>
            <a:chOff x="1295400" y="5397500"/>
            <a:chExt cx="21805900" cy="7505700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C4D8982A-EBA0-14A8-9DF2-D19166B76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40200" y="5397500"/>
              <a:ext cx="6324600" cy="990600"/>
            </a:xfrm>
            <a:prstGeom prst="rect">
              <a:avLst/>
            </a:prstGeom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70450D68-5611-5267-F7FB-3AB9E258E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64800" y="5397500"/>
              <a:ext cx="6324600" cy="990600"/>
            </a:xfrm>
            <a:prstGeom prst="rect">
              <a:avLst/>
            </a:prstGeom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E2149892-990A-0503-1C93-947CE8A2E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776700" y="5397500"/>
              <a:ext cx="6324600" cy="990600"/>
            </a:xfrm>
            <a:prstGeom prst="rect">
              <a:avLst/>
            </a:prstGeom>
          </p:spPr>
        </p:pic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7EBA767B-EDE0-3786-00C0-14C8CE9F2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95400" y="8407400"/>
              <a:ext cx="2400300" cy="25400"/>
            </a:xfrm>
            <a:prstGeom prst="rect">
              <a:avLst/>
            </a:prstGeom>
          </p:spPr>
        </p:pic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5DBB31A3-4C3F-6450-ECE8-BDA0F1D6C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16400" y="8407400"/>
              <a:ext cx="6184900" cy="25400"/>
            </a:xfrm>
            <a:prstGeom prst="rect">
              <a:avLst/>
            </a:prstGeom>
          </p:spPr>
        </p:pic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1C874734-C9B4-A0DA-1BDF-9CD35F654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28300" y="8407400"/>
              <a:ext cx="6184900" cy="25400"/>
            </a:xfrm>
            <a:prstGeom prst="rect">
              <a:avLst/>
            </a:prstGeom>
          </p:spPr>
        </p:pic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96868767-FD14-4D31-401E-4429F208B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852900" y="8407400"/>
              <a:ext cx="6184900" cy="254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89619D69-0F5A-2EAD-4204-97483FF8B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95400" y="10985500"/>
              <a:ext cx="21767800" cy="25400"/>
            </a:xfrm>
            <a:prstGeom prst="rect">
              <a:avLst/>
            </a:prstGeom>
          </p:spPr>
        </p:pic>
        <p:pic>
          <p:nvPicPr>
            <p:cNvPr id="12" name="Picture 12">
              <a:extLst>
                <a:ext uri="{FF2B5EF4-FFF2-40B4-BE49-F238E27FC236}">
                  <a16:creationId xmlns:a16="http://schemas.microsoft.com/office/drawing/2014/main" id="{02EB2FD1-4B43-ADD9-D741-05D613C5B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95400" y="6426200"/>
              <a:ext cx="2400300" cy="25400"/>
            </a:xfrm>
            <a:prstGeom prst="rect">
              <a:avLst/>
            </a:prstGeom>
          </p:spPr>
        </p:pic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58F530C9-04C8-191D-00EC-90FCF7705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95400" y="12877800"/>
              <a:ext cx="21767800" cy="25400"/>
            </a:xfrm>
            <a:prstGeom prst="rect">
              <a:avLst/>
            </a:prstGeom>
          </p:spPr>
        </p:pic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375C5E4-1F33-97BD-DC55-1242E7212692}"/>
                </a:ext>
              </a:extLst>
            </p:cNvPr>
            <p:cNvSpPr txBox="1"/>
            <p:nvPr/>
          </p:nvSpPr>
          <p:spPr>
            <a:xfrm>
              <a:off x="1346200" y="6790267"/>
              <a:ext cx="2298700" cy="12827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32800"/>
                </a:lnSpc>
              </a:pPr>
              <a:r>
                <a:rPr lang="en" sz="3066" spc="-123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Key Resources</a:t>
              </a:r>
              <a:endParaRPr lang="en" sz="3066" b="0" i="0" u="none" strike="noStrike" spc="-123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8714875-CC26-8BD0-FA1E-4EB579B4659C}"/>
                </a:ext>
              </a:extLst>
            </p:cNvPr>
            <p:cNvSpPr txBox="1"/>
            <p:nvPr/>
          </p:nvSpPr>
          <p:spPr>
            <a:xfrm>
              <a:off x="4838700" y="6832600"/>
              <a:ext cx="4927600" cy="10541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서울 열린 데이터 광장</a:t>
              </a:r>
              <a:endPara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법정동별 시간별 전력사용량</a:t>
              </a:r>
              <a:endParaRPr 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AB0FAD5-8342-A238-501E-31395A775C6C}"/>
                </a:ext>
              </a:extLst>
            </p:cNvPr>
            <p:cNvSpPr txBox="1"/>
            <p:nvPr/>
          </p:nvSpPr>
          <p:spPr>
            <a:xfrm>
              <a:off x="10521950" y="6819900"/>
              <a:ext cx="6197600" cy="10541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1</a:t>
              </a: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일 </a:t>
              </a:r>
              <a:r>
                <a:rPr lang="en-US" altLang="ko-KR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24</a:t>
              </a: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시간 </a:t>
              </a:r>
              <a:r>
                <a:rPr lang="en-US" altLang="ko-KR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(00:00 ~ 23:00) Daily cycle </a:t>
              </a: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기준</a:t>
              </a:r>
              <a:endPara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결정론적 패턴 분석을 위한 </a:t>
              </a:r>
              <a:r>
                <a:rPr lang="en-US" altLang="ko-KR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1-hour </a:t>
              </a:r>
              <a:r>
                <a:rPr lang="ko-KR" altLang="en-US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단위 해상도</a:t>
              </a:r>
              <a:endParaRPr 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416754E-320B-DDDD-E96F-8380618574CF}"/>
                </a:ext>
              </a:extLst>
            </p:cNvPr>
            <p:cNvSpPr txBox="1"/>
            <p:nvPr/>
          </p:nvSpPr>
          <p:spPr>
            <a:xfrm>
              <a:off x="17487900" y="6819900"/>
              <a:ext cx="4927600" cy="10541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sz="2666" b="0" i="0" u="none" strike="noStrike" spc="-107" dirty="0">
                  <a:solidFill>
                    <a:srgbClr val="222222"/>
                  </a:solidFill>
                  <a:latin typeface="Pretendard Regular"/>
                </a:rPr>
                <a:t>Python 3.13.9</a:t>
              </a:r>
            </a:p>
            <a:p>
              <a:pPr lvl="0" algn="ctr">
                <a:lnSpc>
                  <a:spcPct val="141100"/>
                </a:lnSpc>
              </a:pPr>
              <a:r>
                <a:rPr lang="en-US" altLang="ko-KR" sz="2666" spc="-107" dirty="0" err="1">
                  <a:solidFill>
                    <a:srgbClr val="222222"/>
                  </a:solidFill>
                  <a:latin typeface="Pretendard Regular"/>
                  <a:ea typeface="Pretendard Regular"/>
                </a:rPr>
                <a:t>Jupyter</a:t>
              </a:r>
              <a:r>
                <a:rPr lang="en-US" altLang="ko-KR" sz="2666" spc="-107" dirty="0">
                  <a:solidFill>
                    <a:srgbClr val="222222"/>
                  </a:solidFill>
                  <a:latin typeface="Pretendard Regular"/>
                  <a:ea typeface="Pretendard Regular"/>
                </a:rPr>
                <a:t> Notebook</a:t>
              </a:r>
              <a:endParaRPr lang="ko-KR" sz="2666" b="0" i="0" u="none" strike="noStrike" spc="-107" dirty="0">
                <a:solidFill>
                  <a:srgbClr val="222222"/>
                </a:solidFill>
                <a:ea typeface="Pretendard Regular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7A512FF-8D6D-3FAD-43BB-AF78F9C2A423}"/>
                </a:ext>
              </a:extLst>
            </p:cNvPr>
            <p:cNvSpPr txBox="1"/>
            <p:nvPr/>
          </p:nvSpPr>
          <p:spPr>
            <a:xfrm>
              <a:off x="4616450" y="8851900"/>
              <a:ext cx="5372100" cy="16256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 err="1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결측치</a:t>
              </a:r>
              <a:r>
                <a:rPr lang="en-US" altLang="ko-KR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</a:t>
              </a:r>
              <a:r>
                <a:rPr lang="ko-KR" altLang="en-US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제거 및 이상치 보정</a:t>
              </a:r>
              <a:endPara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시계열 인덱싱을 통한 데이터 정합성 검증</a:t>
              </a:r>
              <a:endParaRPr 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FF427C2-DE01-E32F-76CA-9F6D3B749E1C}"/>
                </a:ext>
              </a:extLst>
            </p:cNvPr>
            <p:cNvSpPr txBox="1"/>
            <p:nvPr/>
          </p:nvSpPr>
          <p:spPr>
            <a:xfrm>
              <a:off x="17487900" y="8851900"/>
              <a:ext cx="4927600" cy="16256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Pandas (</a:t>
              </a:r>
              <a:r>
                <a:rPr lang="ko-KR" altLang="en-US" sz="2666" spc="-107" dirty="0" err="1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전처리</a:t>
              </a:r>
              <a:r>
                <a:rPr lang="en-US" altLang="ko-KR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)</a:t>
              </a:r>
            </a:p>
            <a:p>
              <a:pPr lvl="0" algn="ctr">
                <a:lnSpc>
                  <a:spcPct val="141100"/>
                </a:lnSpc>
              </a:pPr>
              <a:r>
                <a:rPr lang="en-US" altLang="ko-KR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NumPy (</a:t>
              </a: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행렬연산</a:t>
              </a:r>
              <a:r>
                <a:rPr lang="en-US" altLang="ko-KR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)</a:t>
              </a:r>
            </a:p>
            <a:p>
              <a:pPr lvl="0" algn="ctr">
                <a:lnSpc>
                  <a:spcPct val="141100"/>
                </a:lnSpc>
              </a:pPr>
              <a:r>
                <a:rPr lang="en-US" altLang="ko-KR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Matplotlib (</a:t>
              </a:r>
              <a:r>
                <a:rPr lang="ko-KR" altLang="en-US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시각화</a:t>
              </a:r>
              <a:r>
                <a:rPr lang="en-US" altLang="ko-KR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)</a:t>
              </a:r>
              <a:endParaRPr 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BDC9225-58F7-910A-99B5-DADA641B7D97}"/>
                </a:ext>
              </a:extLst>
            </p:cNvPr>
            <p:cNvSpPr txBox="1"/>
            <p:nvPr/>
          </p:nvSpPr>
          <p:spPr>
            <a:xfrm>
              <a:off x="3429000" y="11391900"/>
              <a:ext cx="17513300" cy="11176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933" spc="-117" dirty="0">
                  <a:solidFill>
                    <a:srgbClr val="222222"/>
                  </a:solidFill>
                  <a:latin typeface="Pretendard SemiBold"/>
                  <a:ea typeface="Pretendard SemiBold"/>
                </a:rPr>
                <a:t>정제된 데이터와 확정적 시간 축 설정을 통해</a:t>
              </a:r>
              <a:r>
                <a:rPr lang="en-US" altLang="ko-KR" sz="2933" spc="-117" dirty="0">
                  <a:solidFill>
                    <a:srgbClr val="222222"/>
                  </a:solidFill>
                  <a:latin typeface="Pretendard SemiBold"/>
                  <a:ea typeface="Pretendard SemiBold"/>
                </a:rPr>
                <a:t>, 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2933" b="0" i="0" u="none" strike="noStrike" spc="-117" dirty="0">
                  <a:solidFill>
                    <a:srgbClr val="222222"/>
                  </a:solidFill>
                  <a:latin typeface="Pretendard SemiBold"/>
                  <a:ea typeface="Pretendard SemiBold"/>
                </a:rPr>
                <a:t>시나리오별 순 부하 변동성을 정량적으로 산출할 준비 완료</a:t>
              </a:r>
              <a:endParaRPr lang="ko-KR" sz="2933" b="0" i="0" u="none" strike="noStrike" spc="-117" dirty="0">
                <a:solidFill>
                  <a:srgbClr val="222222"/>
                </a:solidFill>
                <a:ea typeface="Pretendard SemiBold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27ED4A5E-2B51-0B3F-7D60-16BC3F914624}"/>
                </a:ext>
              </a:extLst>
            </p:cNvPr>
            <p:cNvSpPr txBox="1"/>
            <p:nvPr/>
          </p:nvSpPr>
          <p:spPr>
            <a:xfrm>
              <a:off x="5054600" y="5626100"/>
              <a:ext cx="4508500" cy="5715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sz="3200" spc="-96" dirty="0">
                  <a:solidFill>
                    <a:srgbClr val="222222"/>
                  </a:solidFill>
                  <a:latin typeface="Pretendard SemiBold"/>
                  <a:ea typeface="Pretendard SemiBold"/>
                </a:rPr>
                <a:t>Data Asset</a:t>
              </a:r>
              <a:endParaRPr lang="en-US" sz="3200" b="0" i="0" u="none" strike="noStrike" spc="-96" dirty="0">
                <a:solidFill>
                  <a:srgbClr val="222222"/>
                </a:solidFill>
                <a:latin typeface="Pretendard SemiBold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81E4EA0-3C9A-C030-4FC6-2FBC39E0BF13}"/>
                </a:ext>
              </a:extLst>
            </p:cNvPr>
            <p:cNvSpPr txBox="1"/>
            <p:nvPr/>
          </p:nvSpPr>
          <p:spPr>
            <a:xfrm>
              <a:off x="11366500" y="5626100"/>
              <a:ext cx="4508500" cy="5715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sz="3200" b="0" i="0" u="none" strike="noStrike" spc="-96" dirty="0">
                  <a:solidFill>
                    <a:srgbClr val="222222"/>
                  </a:solidFill>
                  <a:latin typeface="Pretendard SemiBold"/>
                </a:rPr>
                <a:t>Time Scope</a:t>
              </a: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6857B18-401A-DC41-8630-898F684E6331}"/>
                </a:ext>
              </a:extLst>
            </p:cNvPr>
            <p:cNvSpPr txBox="1"/>
            <p:nvPr/>
          </p:nvSpPr>
          <p:spPr>
            <a:xfrm>
              <a:off x="17703800" y="5626100"/>
              <a:ext cx="4508500" cy="5715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sz="3200" b="0" i="0" u="none" strike="noStrike" spc="-96" dirty="0">
                  <a:solidFill>
                    <a:srgbClr val="222222"/>
                  </a:solidFill>
                  <a:latin typeface="Pretendard SemiBold"/>
                </a:rPr>
                <a:t>Tech </a:t>
              </a:r>
              <a:r>
                <a:rPr lang="en-US" sz="3200" spc="-96" dirty="0">
                  <a:solidFill>
                    <a:srgbClr val="222222"/>
                  </a:solidFill>
                  <a:latin typeface="Pretendard SemiBold"/>
                </a:rPr>
                <a:t>Stack</a:t>
              </a:r>
              <a:endParaRPr lang="en-US" sz="3200" b="0" i="0" u="none" strike="noStrike" spc="-96" dirty="0">
                <a:solidFill>
                  <a:srgbClr val="222222"/>
                </a:solidFill>
                <a:latin typeface="Pretendard SemiBold"/>
              </a:endParaRPr>
            </a:p>
          </p:txBody>
        </p:sp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6694FA26-89D9-AD19-9657-663005099AAC}"/>
                </a:ext>
              </a:extLst>
            </p:cNvPr>
            <p:cNvSpPr txBox="1"/>
            <p:nvPr/>
          </p:nvSpPr>
          <p:spPr>
            <a:xfrm>
              <a:off x="1346200" y="9023350"/>
              <a:ext cx="2298700" cy="12827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32800"/>
                </a:lnSpc>
              </a:pPr>
              <a:r>
                <a:rPr lang="en" sz="3066" spc="-123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Core</a:t>
              </a:r>
            </a:p>
            <a:p>
              <a:pPr lvl="0" algn="ctr">
                <a:lnSpc>
                  <a:spcPct val="132800"/>
                </a:lnSpc>
              </a:pPr>
              <a:r>
                <a:rPr lang="en" sz="3066" b="0" i="0" u="none" strike="noStrike" spc="-123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Logic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EDEB9C0-28EE-C3C1-E172-BA14522BF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917" y="8128000"/>
            <a:ext cx="6490879" cy="173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Time-of-</a:t>
            </a:r>
            <a:r>
              <a:rPr kumimoji="0" lang="ko-KR" altLang="ko-KR" sz="267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Day</a:t>
            </a:r>
            <a:r>
              <a:rPr kumimoji="0" lang="ko-KR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기반 부하 구조 비교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시간대 불일치(Time </a:t>
            </a:r>
            <a:r>
              <a:rPr kumimoji="0" lang="ko-KR" altLang="ko-KR" sz="267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Mismatch</a:t>
            </a:r>
            <a:r>
              <a:rPr kumimoji="0" lang="ko-KR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kumimoji="0" lang="en-US" altLang="ko-KR" sz="267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2670" dirty="0">
                <a:latin typeface="Pretendard Regular" panose="020B0600000101010101" charset="-127"/>
                <a:ea typeface="Pretendard Regular" panose="020B0600000101010101" charset="-127"/>
              </a:rPr>
              <a:t>분석을</a:t>
            </a:r>
            <a:r>
              <a:rPr lang="en-US" altLang="ko-KR" sz="267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kumimoji="0" lang="ko-KR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위한 축 설정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순</a:t>
            </a:r>
            <a:r>
              <a:rPr kumimoji="0" lang="en-US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kumimoji="0" lang="ko-KR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부하(Net </a:t>
            </a:r>
            <a:r>
              <a:rPr kumimoji="0" lang="ko-KR" altLang="ko-KR" sz="267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Load</a:t>
            </a:r>
            <a:r>
              <a:rPr kumimoji="0" lang="ko-KR" altLang="ko-KR" sz="267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) 시뮬레이션 적용 가능 구조</a:t>
            </a:r>
          </a:p>
        </p:txBody>
      </p:sp>
    </p:spTree>
    <p:extLst>
      <p:ext uri="{BB962C8B-B14F-4D97-AF65-F5344CB8AC3E}">
        <p14:creationId xmlns:p14="http://schemas.microsoft.com/office/powerpoint/2010/main" val="150976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">
            <a:extLst>
              <a:ext uri="{FF2B5EF4-FFF2-40B4-BE49-F238E27FC236}">
                <a16:creationId xmlns:a16="http://schemas.microsoft.com/office/drawing/2014/main" id="{71DCA7F7-F495-3A80-DE75-84859FB05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4140200"/>
            <a:ext cx="10947400" cy="8814350"/>
          </a:xfrm>
          <a:prstGeom prst="rect">
            <a:avLst/>
          </a:prstGeom>
        </p:spPr>
      </p:pic>
      <p:pic>
        <p:nvPicPr>
          <p:cNvPr id="33" name="Picture 3">
            <a:extLst>
              <a:ext uri="{FF2B5EF4-FFF2-40B4-BE49-F238E27FC236}">
                <a16:creationId xmlns:a16="http://schemas.microsoft.com/office/drawing/2014/main" id="{0064E383-FA93-E9DE-A799-86104CBFF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7600" y="4140200"/>
            <a:ext cx="10947400" cy="881435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97000" y="5194299"/>
            <a:ext cx="9652000" cy="104140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11990939"/>
            <a:ext cx="10947400" cy="977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3950" y="11990939"/>
            <a:ext cx="10947400" cy="977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350419" y="12270339"/>
            <a:ext cx="9385361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변수 제어가 가능한 파이썬 루프 구조를 구축하여</a:t>
            </a:r>
            <a:r>
              <a:rPr lang="en-US" altLang="ko-KR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다양한 </a:t>
            </a:r>
            <a:r>
              <a:rPr lang="ko-KR" altLang="en-US" sz="2530" spc="-72" dirty="0" err="1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침투율</a:t>
            </a: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시나리오에 유연하게 대응</a:t>
            </a:r>
            <a:endParaRPr lang="en-US" sz="25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97000" y="43624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The Core Formula (</a:t>
            </a: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핵심 수식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955800" y="5359401"/>
            <a:ext cx="8470900" cy="723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3200" b="0" i="1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Net Load = L – (</a:t>
            </a:r>
            <a:r>
              <a:rPr lang="en-US" altLang="ko-KR" sz="3200" i="1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G(t)</a:t>
            </a:r>
            <a:r>
              <a:rPr lang="ko-KR" altLang="en-US" sz="3200" i="1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3200" i="1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× P × r)</a:t>
            </a:r>
            <a:endParaRPr lang="ko-KR" sz="3200" b="0" i="1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82700" y="12270339"/>
            <a:ext cx="10015427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530" b="0" i="0" u="none" strike="noStrike" spc="-72" dirty="0" err="1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가우시안</a:t>
            </a: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(Gaussian) </a:t>
            </a: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분포 기반의 이론적 모델링을 통해</a:t>
            </a:r>
            <a:r>
              <a:rPr lang="en-US" altLang="ko-KR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실측 데이터 부재 상황에서도 시간대 구조 비교가 가능하도록 설계</a:t>
            </a:r>
            <a:endParaRPr lang="en-US" sz="25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282700" y="1968500"/>
            <a:ext cx="14947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순 부하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(Net Load)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산출을 위한 시뮬레이션 로직 설계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총 전력 수요에서 태양광 발전량을 차감하여 실질적인 계통 부하를 도출하는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24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 루프 구조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70000" y="901700"/>
            <a:ext cx="99314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</a:t>
            </a:r>
            <a:r>
              <a:rPr lang="en" sz="2000" b="0" i="0" u="none" strike="noStrike" dirty="0">
                <a:solidFill>
                  <a:srgbClr val="FFFFFF"/>
                </a:solidFill>
                <a:latin typeface="Gmarket Sans Bold"/>
              </a:rPr>
              <a:t>Analytical Framework &amp; Simulation Logic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006</a:t>
            </a:r>
          </a:p>
        </p:txBody>
      </p:sp>
      <p:sp>
        <p:nvSpPr>
          <p:cNvPr id="5" name="TextBox 30">
            <a:extLst>
              <a:ext uri="{FF2B5EF4-FFF2-40B4-BE49-F238E27FC236}">
                <a16:creationId xmlns:a16="http://schemas.microsoft.com/office/drawing/2014/main" id="{5D406A8F-5231-2C95-C2DA-22910DCA6B5E}"/>
              </a:ext>
            </a:extLst>
          </p:cNvPr>
          <p:cNvSpPr txBox="1"/>
          <p:nvPr/>
        </p:nvSpPr>
        <p:spPr>
          <a:xfrm>
            <a:off x="1397000" y="6311901"/>
            <a:ext cx="8978900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800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변수 정의 </a:t>
            </a:r>
            <a:r>
              <a:rPr lang="en-US" altLang="ko-KR" sz="2800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(Variable Definitions)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D2E4424C-803E-0A49-66CB-D468A3C1C827}"/>
              </a:ext>
            </a:extLst>
          </p:cNvPr>
          <p:cNvSpPr txBox="1"/>
          <p:nvPr/>
        </p:nvSpPr>
        <p:spPr>
          <a:xfrm>
            <a:off x="1606550" y="7111999"/>
            <a:ext cx="8978900" cy="4965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800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en-US" altLang="ko-KR" sz="2800" b="0" i="1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Net Load</a:t>
            </a:r>
            <a:r>
              <a:rPr lang="en-US" altLang="ko-KR" sz="2800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800" b="0" i="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순 부하</a:t>
            </a:r>
            <a:endParaRPr lang="en-US" altLang="ko-KR" sz="2800" b="0" i="0" u="none" strike="noStrike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en-US" altLang="ko-KR" sz="2800" i="1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L</a:t>
            </a: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</a:t>
            </a:r>
            <a:r>
              <a:rPr lang="ko-KR" altLang="en-US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대표 부하 프로파일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(Code: </a:t>
            </a:r>
            <a:r>
              <a:rPr lang="en-US" altLang="ko-KR" sz="2800" spc="-100" dirty="0" err="1">
                <a:solidFill>
                  <a:srgbClr val="222222"/>
                </a:solidFill>
                <a:latin typeface="Consolas" panose="020B0609020204030204" pitchFamily="49" charset="0"/>
                <a:ea typeface="Pretendard Regular" panose="020B0600000101010101" charset="-127"/>
              </a:rPr>
              <a:t>load_mean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pPr lvl="0" algn="l">
              <a:lnSpc>
                <a:spcPct val="141100"/>
              </a:lnSpc>
            </a:pPr>
            <a:r>
              <a:rPr lang="en-US" altLang="ko-KR" sz="2800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en-US" altLang="ko-KR" sz="2800" i="1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G(t)</a:t>
            </a:r>
            <a:r>
              <a:rPr lang="en-US" altLang="ko-KR" sz="2800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800" b="0" i="0" u="none" strike="noStrike" spc="-100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가우시안</a:t>
            </a:r>
            <a:r>
              <a:rPr lang="ko-KR" altLang="en-US" sz="2800" b="0" i="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태양광 패턴 </a:t>
            </a:r>
            <a:r>
              <a:rPr lang="en-US" altLang="ko-KR" sz="2800" b="0" i="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Code: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800" spc="-100" dirty="0" err="1">
                <a:solidFill>
                  <a:srgbClr val="222222"/>
                </a:solidFill>
                <a:latin typeface="Consolas" panose="020B0609020204030204" pitchFamily="49" charset="0"/>
                <a:ea typeface="Pretendard Regular" panose="020B0600000101010101" charset="-127"/>
              </a:rPr>
              <a:t>pv_norm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</a:t>
            </a:r>
            <a:r>
              <a:rPr lang="en-US" altLang="ko-KR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설명</a:t>
            </a:r>
            <a:r>
              <a:rPr lang="en-US" altLang="ko-KR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en-US" altLang="ko-KR" sz="2200" spc="-100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np.exp</a:t>
            </a:r>
            <a:r>
              <a:rPr lang="en-US" altLang="ko-KR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함수를 이용하여 이상적인 일조량 분포를 정규분포 형태로 모델링</a:t>
            </a:r>
            <a:r>
              <a:rPr lang="en-US" altLang="ko-KR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pPr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en-US" altLang="ko-KR" sz="2800" i="1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</a:t>
            </a: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계통 최대 부하 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(Code: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800" spc="-100" dirty="0" err="1">
                <a:solidFill>
                  <a:srgbClr val="222222"/>
                </a:solidFill>
                <a:latin typeface="Consolas" panose="020B0609020204030204" pitchFamily="49" charset="0"/>
                <a:ea typeface="Pretendard Regular" panose="020B0600000101010101" charset="-127"/>
              </a:rPr>
              <a:t>load_peak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pPr>
              <a:lnSpc>
                <a:spcPct val="141100"/>
              </a:lnSpc>
            </a:pPr>
            <a:r>
              <a:rPr lang="en-US" altLang="ko-KR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   (</a:t>
            </a:r>
            <a:r>
              <a:rPr lang="ko-KR" altLang="en-US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설명</a:t>
            </a:r>
            <a:r>
              <a:rPr lang="en-US" altLang="ko-KR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설비 용량의 기준점으로 활용</a:t>
            </a:r>
            <a:r>
              <a:rPr lang="en-US" altLang="ko-KR" sz="22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pPr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en-US" altLang="ko-KR" sz="2800" i="1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</a:t>
            </a: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800" spc="-100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침투율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목표치 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(Code: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800" spc="-100" dirty="0" err="1">
                <a:solidFill>
                  <a:srgbClr val="222222"/>
                </a:solidFill>
                <a:latin typeface="Consolas" panose="020B0609020204030204" pitchFamily="49" charset="0"/>
                <a:ea typeface="Pretendard Regular" panose="020B0600000101010101" charset="-127"/>
              </a:rPr>
              <a:t>pv_ratio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pPr>
              <a:lnSpc>
                <a:spcPct val="141100"/>
              </a:lnSpc>
            </a:pPr>
            <a:r>
              <a:rPr lang="en-US" altLang="ko-KR" sz="20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   (</a:t>
            </a:r>
            <a:r>
              <a:rPr lang="ko-KR" altLang="en-US" sz="20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설명</a:t>
            </a:r>
            <a:r>
              <a:rPr lang="en-US" altLang="ko-KR" sz="20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0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피크 부하 대비 태양광 설비 비중</a:t>
            </a:r>
            <a:r>
              <a:rPr lang="en-US" altLang="ko-KR" sz="20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20 ~ 40%)</a:t>
            </a:r>
          </a:p>
          <a:p>
            <a:pPr>
              <a:lnSpc>
                <a:spcPct val="141100"/>
              </a:lnSpc>
            </a:pPr>
            <a:endParaRPr lang="en-US" altLang="ko-KR" sz="2200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112750" y="4219574"/>
            <a:ext cx="9232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Logic Flow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로직 흐름도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83A40A2-7FF9-EA04-44B2-AFD11411B0BC}"/>
              </a:ext>
            </a:extLst>
          </p:cNvPr>
          <p:cNvGrpSpPr/>
          <p:nvPr/>
        </p:nvGrpSpPr>
        <p:grpSpPr>
          <a:xfrm>
            <a:off x="13112750" y="5051423"/>
            <a:ext cx="9652000" cy="2146302"/>
            <a:chOff x="12966700" y="5194299"/>
            <a:chExt cx="9652000" cy="2146302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D52C43E-11C3-308A-8CA4-B6A895115687}"/>
                </a:ext>
              </a:extLst>
            </p:cNvPr>
            <p:cNvGrpSpPr/>
            <p:nvPr/>
          </p:nvGrpSpPr>
          <p:grpSpPr>
            <a:xfrm>
              <a:off x="12966700" y="6578601"/>
              <a:ext cx="9652000" cy="762000"/>
              <a:chOff x="12966700" y="6743702"/>
              <a:chExt cx="9652000" cy="762000"/>
            </a:xfrm>
          </p:grpSpPr>
          <p:pic>
            <p:nvPicPr>
              <p:cNvPr id="13" name="Picture 6">
                <a:extLst>
                  <a:ext uri="{FF2B5EF4-FFF2-40B4-BE49-F238E27FC236}">
                    <a16:creationId xmlns:a16="http://schemas.microsoft.com/office/drawing/2014/main" id="{1FBF3B38-8E15-2BC1-1B55-2DB301B25B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80000"/>
              </a:blip>
              <a:stretch>
                <a:fillRect/>
              </a:stretch>
            </p:blipFill>
            <p:spPr>
              <a:xfrm>
                <a:off x="12966700" y="6781802"/>
                <a:ext cx="9652000" cy="723900"/>
              </a:xfrm>
              <a:prstGeom prst="rect">
                <a:avLst/>
              </a:prstGeom>
            </p:spPr>
          </p:pic>
          <p:sp>
            <p:nvSpPr>
              <p:cNvPr id="14" name="TextBox 31">
                <a:extLst>
                  <a:ext uri="{FF2B5EF4-FFF2-40B4-BE49-F238E27FC236}">
                    <a16:creationId xmlns:a16="http://schemas.microsoft.com/office/drawing/2014/main" id="{E80B9A2C-3B84-A809-88A7-FF9E151EEA22}"/>
                  </a:ext>
                </a:extLst>
              </p:cNvPr>
              <p:cNvSpPr txBox="1"/>
              <p:nvPr/>
            </p:nvSpPr>
            <p:spPr>
              <a:xfrm>
                <a:off x="13525500" y="6743702"/>
                <a:ext cx="8470900" cy="723900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41100"/>
                  </a:lnSpc>
                </a:pPr>
                <a:r>
                  <a:rPr lang="fr-FR" altLang="ko-KR" sz="2800" i="1" spc="-72" dirty="0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G(t) = exp( - (t - t_peak)² / (2σ²) )</a:t>
                </a:r>
                <a:endParaRPr lang="ko-KR" sz="2800" i="1" u="none" strike="noStrike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endParaRPr>
              </a:p>
            </p:txBody>
          </p:sp>
        </p:grpSp>
        <p:sp>
          <p:nvSpPr>
            <p:cNvPr id="15" name="TextBox 30">
              <a:extLst>
                <a:ext uri="{FF2B5EF4-FFF2-40B4-BE49-F238E27FC236}">
                  <a16:creationId xmlns:a16="http://schemas.microsoft.com/office/drawing/2014/main" id="{C1178356-3596-F950-7EB3-29835AC501EC}"/>
                </a:ext>
              </a:extLst>
            </p:cNvPr>
            <p:cNvSpPr txBox="1"/>
            <p:nvPr/>
          </p:nvSpPr>
          <p:spPr>
            <a:xfrm>
              <a:off x="12966700" y="5194299"/>
              <a:ext cx="8978900" cy="596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altLang="ko-KR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Step 1. Gaussian PV Modeling (</a:t>
              </a:r>
              <a:r>
                <a:rPr lang="ko-KR" altLang="en-US" sz="2800" b="0" i="0" u="none" strike="noStrike" spc="-100" dirty="0" err="1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가우시안</a:t>
              </a:r>
              <a:r>
                <a:rPr lang="ko-KR" altLang="en-US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모델링</a:t>
              </a:r>
              <a:r>
                <a:rPr lang="en-US" altLang="ko-KR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7" name="TextBox 30">
              <a:extLst>
                <a:ext uri="{FF2B5EF4-FFF2-40B4-BE49-F238E27FC236}">
                  <a16:creationId xmlns:a16="http://schemas.microsoft.com/office/drawing/2014/main" id="{C660B9E2-C51D-38FA-9BF3-CAA6F87E641E}"/>
                </a:ext>
              </a:extLst>
            </p:cNvPr>
            <p:cNvSpPr txBox="1"/>
            <p:nvPr/>
          </p:nvSpPr>
          <p:spPr>
            <a:xfrm>
              <a:off x="12966700" y="5861052"/>
              <a:ext cx="9652000" cy="596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altLang="ko-KR" sz="24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- </a:t>
              </a:r>
              <a:r>
                <a:rPr lang="en-US" altLang="ko-KR" sz="24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Logic: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실측 데이터 부재 한계를 극복하기 위해 정규분포 함수로 태양광 패턴 생성</a:t>
              </a:r>
              <a:endParaRPr lang="ko-KR" sz="3200" b="0" i="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E9F1579-9825-558C-9C51-15E189D65FC2}"/>
              </a:ext>
            </a:extLst>
          </p:cNvPr>
          <p:cNvGrpSpPr/>
          <p:nvPr/>
        </p:nvGrpSpPr>
        <p:grpSpPr>
          <a:xfrm>
            <a:off x="13112750" y="7270748"/>
            <a:ext cx="9817100" cy="2146302"/>
            <a:chOff x="12966700" y="5194299"/>
            <a:chExt cx="9652000" cy="2146302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1405DA3E-C54A-AA39-7C3B-A1ADA56F5F1B}"/>
                </a:ext>
              </a:extLst>
            </p:cNvPr>
            <p:cNvGrpSpPr/>
            <p:nvPr/>
          </p:nvGrpSpPr>
          <p:grpSpPr>
            <a:xfrm>
              <a:off x="12966700" y="6578601"/>
              <a:ext cx="9652000" cy="762000"/>
              <a:chOff x="12966700" y="6743702"/>
              <a:chExt cx="9652000" cy="762000"/>
            </a:xfrm>
          </p:grpSpPr>
          <p:pic>
            <p:nvPicPr>
              <p:cNvPr id="24" name="Picture 6">
                <a:extLst>
                  <a:ext uri="{FF2B5EF4-FFF2-40B4-BE49-F238E27FC236}">
                    <a16:creationId xmlns:a16="http://schemas.microsoft.com/office/drawing/2014/main" id="{8CBE250E-7908-668D-ECB9-950C78DF4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80000"/>
              </a:blip>
              <a:stretch>
                <a:fillRect/>
              </a:stretch>
            </p:blipFill>
            <p:spPr>
              <a:xfrm>
                <a:off x="12966700" y="6781802"/>
                <a:ext cx="9652000" cy="723900"/>
              </a:xfrm>
              <a:prstGeom prst="rect">
                <a:avLst/>
              </a:prstGeom>
            </p:spPr>
          </p:pic>
          <p:sp>
            <p:nvSpPr>
              <p:cNvPr id="25" name="TextBox 31">
                <a:extLst>
                  <a:ext uri="{FF2B5EF4-FFF2-40B4-BE49-F238E27FC236}">
                    <a16:creationId xmlns:a16="http://schemas.microsoft.com/office/drawing/2014/main" id="{7BCAA953-1A8E-F603-E8B6-DC8ABFCE81D7}"/>
                  </a:ext>
                </a:extLst>
              </p:cNvPr>
              <p:cNvSpPr txBox="1"/>
              <p:nvPr/>
            </p:nvSpPr>
            <p:spPr>
              <a:xfrm>
                <a:off x="13525500" y="6743702"/>
                <a:ext cx="8470900" cy="723900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41100"/>
                  </a:lnSpc>
                </a:pPr>
                <a:r>
                  <a:rPr lang="en-US" altLang="ko-KR" sz="2800" i="1" spc="-72" dirty="0" err="1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pv</a:t>
                </a:r>
                <a:r>
                  <a:rPr lang="en-US" altLang="ko-KR" sz="2800" i="1" u="none" strike="noStrike" spc="-72" dirty="0" err="1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_kW</a:t>
                </a:r>
                <a:r>
                  <a:rPr lang="en-US" altLang="ko-KR" sz="2800" i="1" u="none" strike="noStrike" spc="-72" dirty="0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 = </a:t>
                </a:r>
                <a:r>
                  <a:rPr lang="en-US" altLang="ko-KR" sz="2800" i="1" u="none" strike="noStrike" spc="-72" dirty="0" err="1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pv_norm</a:t>
                </a:r>
                <a:r>
                  <a:rPr lang="en-US" altLang="ko-KR" sz="2800" i="1" u="none" strike="noStrike" spc="-72" dirty="0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 × </a:t>
                </a:r>
                <a:r>
                  <a:rPr lang="en-US" altLang="ko-KR" sz="2800" i="1" u="none" strike="noStrike" spc="-72" dirty="0" err="1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load_peak</a:t>
                </a:r>
                <a:r>
                  <a:rPr lang="en-US" altLang="ko-KR" sz="2800" i="1" u="none" strike="noStrike" spc="-72" dirty="0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 </a:t>
                </a:r>
                <a:r>
                  <a:rPr lang="en-US" altLang="ko-KR" sz="2800" i="1" spc="-72" dirty="0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× </a:t>
                </a:r>
                <a:r>
                  <a:rPr lang="en-US" altLang="ko-KR" sz="2800" i="1" spc="-72" dirty="0" err="1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pv_ratio</a:t>
                </a:r>
                <a:endParaRPr lang="ko-KR" sz="2800" i="1" u="none" strike="noStrike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endParaRPr>
              </a:p>
            </p:txBody>
          </p:sp>
        </p:grpSp>
        <p:sp>
          <p:nvSpPr>
            <p:cNvPr id="22" name="TextBox 30">
              <a:extLst>
                <a:ext uri="{FF2B5EF4-FFF2-40B4-BE49-F238E27FC236}">
                  <a16:creationId xmlns:a16="http://schemas.microsoft.com/office/drawing/2014/main" id="{D7E221BD-3A8C-23C8-177E-426CDF713AAD}"/>
                </a:ext>
              </a:extLst>
            </p:cNvPr>
            <p:cNvSpPr txBox="1"/>
            <p:nvPr/>
          </p:nvSpPr>
          <p:spPr>
            <a:xfrm>
              <a:off x="12966700" y="5194299"/>
              <a:ext cx="8978900" cy="596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altLang="ko-KR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Step 2. </a:t>
              </a:r>
              <a:r>
                <a:rPr lang="en-US" altLang="ko-KR" sz="28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Peak-based</a:t>
              </a:r>
              <a:r>
                <a:rPr lang="ko-KR" altLang="en-US" sz="28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en-US" altLang="ko-KR" sz="28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Scaling</a:t>
              </a:r>
              <a:r>
                <a:rPr lang="en-US" altLang="ko-KR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(</a:t>
              </a:r>
              <a:r>
                <a:rPr lang="ko-KR" altLang="en-US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용량 스케일링</a:t>
              </a:r>
              <a:r>
                <a:rPr lang="en-US" altLang="ko-KR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23" name="TextBox 30">
              <a:extLst>
                <a:ext uri="{FF2B5EF4-FFF2-40B4-BE49-F238E27FC236}">
                  <a16:creationId xmlns:a16="http://schemas.microsoft.com/office/drawing/2014/main" id="{849614E4-3C44-EC80-A321-32C6B0A80E7F}"/>
                </a:ext>
              </a:extLst>
            </p:cNvPr>
            <p:cNvSpPr txBox="1"/>
            <p:nvPr/>
          </p:nvSpPr>
          <p:spPr>
            <a:xfrm>
              <a:off x="12966700" y="5861052"/>
              <a:ext cx="9652000" cy="596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altLang="ko-KR" sz="24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- </a:t>
              </a:r>
              <a:r>
                <a:rPr lang="en-US" altLang="ko-KR" sz="24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Logic: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연중 최대 수요</a:t>
              </a:r>
              <a:r>
                <a:rPr lang="en-US" altLang="ko-KR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(P)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를 기준으로 </a:t>
              </a:r>
              <a:r>
                <a:rPr lang="ko-KR" altLang="en-US" sz="2400" spc="-100" dirty="0" err="1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침투율</a:t>
              </a:r>
              <a:r>
                <a:rPr lang="en-US" altLang="ko-KR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(r)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에 따른 상대적 태양광 기여 수준 정의</a:t>
              </a:r>
              <a:endParaRPr lang="ko-KR" sz="3200" b="0" i="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71A1CE8-542B-0B1B-1DE7-15A610FA2C6A}"/>
              </a:ext>
            </a:extLst>
          </p:cNvPr>
          <p:cNvGrpSpPr/>
          <p:nvPr/>
        </p:nvGrpSpPr>
        <p:grpSpPr>
          <a:xfrm>
            <a:off x="13112750" y="9490073"/>
            <a:ext cx="9817100" cy="2146302"/>
            <a:chOff x="12966700" y="5194299"/>
            <a:chExt cx="9817100" cy="2146302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213F4737-AD75-E58B-BDE6-864E1A6F70AB}"/>
                </a:ext>
              </a:extLst>
            </p:cNvPr>
            <p:cNvGrpSpPr/>
            <p:nvPr/>
          </p:nvGrpSpPr>
          <p:grpSpPr>
            <a:xfrm>
              <a:off x="12966700" y="6578601"/>
              <a:ext cx="9652000" cy="762000"/>
              <a:chOff x="12966700" y="6743702"/>
              <a:chExt cx="9652000" cy="762000"/>
            </a:xfrm>
          </p:grpSpPr>
          <p:pic>
            <p:nvPicPr>
              <p:cNvPr id="45" name="Picture 6">
                <a:extLst>
                  <a:ext uri="{FF2B5EF4-FFF2-40B4-BE49-F238E27FC236}">
                    <a16:creationId xmlns:a16="http://schemas.microsoft.com/office/drawing/2014/main" id="{8F1E107A-85A1-4689-14F3-6F18630E43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80000"/>
              </a:blip>
              <a:stretch>
                <a:fillRect/>
              </a:stretch>
            </p:blipFill>
            <p:spPr>
              <a:xfrm>
                <a:off x="12966700" y="6781802"/>
                <a:ext cx="9652000" cy="723900"/>
              </a:xfrm>
              <a:prstGeom prst="rect">
                <a:avLst/>
              </a:prstGeom>
            </p:spPr>
          </p:pic>
          <p:sp>
            <p:nvSpPr>
              <p:cNvPr id="46" name="TextBox 31">
                <a:extLst>
                  <a:ext uri="{FF2B5EF4-FFF2-40B4-BE49-F238E27FC236}">
                    <a16:creationId xmlns:a16="http://schemas.microsoft.com/office/drawing/2014/main" id="{0E02AE80-BC5E-276E-BEEA-7A5B8618F71D}"/>
                  </a:ext>
                </a:extLst>
              </p:cNvPr>
              <p:cNvSpPr txBox="1"/>
              <p:nvPr/>
            </p:nvSpPr>
            <p:spPr>
              <a:xfrm>
                <a:off x="13525500" y="6743702"/>
                <a:ext cx="8470900" cy="723900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41100"/>
                  </a:lnSpc>
                </a:pPr>
                <a:r>
                  <a:rPr lang="en-US" altLang="ko-KR" sz="2800" b="0" i="1" u="none" strike="noStrike" spc="-72" dirty="0" err="1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net_load</a:t>
                </a:r>
                <a:r>
                  <a:rPr lang="en-US" altLang="ko-KR" sz="2800" b="0" i="1" u="none" strike="noStrike" spc="-72" dirty="0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 = </a:t>
                </a:r>
                <a:r>
                  <a:rPr lang="en-US" altLang="ko-KR" sz="2800" b="0" i="1" u="none" strike="noStrike" spc="-72" dirty="0" err="1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load_mean</a:t>
                </a:r>
                <a:r>
                  <a:rPr lang="en-US" altLang="ko-KR" sz="2800" b="0" i="1" u="none" strike="noStrike" spc="-72" dirty="0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 – </a:t>
                </a:r>
                <a:r>
                  <a:rPr lang="en-US" altLang="ko-KR" sz="2800" b="0" i="1" u="none" strike="noStrike" spc="-72" dirty="0" err="1">
                    <a:solidFill>
                      <a:srgbClr val="222222"/>
                    </a:solidFill>
                    <a:latin typeface="Pretendard SemiBold" panose="020B0600000101010101" charset="-127"/>
                    <a:ea typeface="Pretendard SemiBold" panose="020B0600000101010101" charset="-127"/>
                  </a:rPr>
                  <a:t>pv_kW</a:t>
                </a:r>
                <a:endParaRPr lang="ko-KR" sz="2800" b="0" i="1" u="none" strike="noStrike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endParaRPr>
              </a:p>
            </p:txBody>
          </p:sp>
        </p:grpSp>
        <p:sp>
          <p:nvSpPr>
            <p:cNvPr id="29" name="TextBox 30">
              <a:extLst>
                <a:ext uri="{FF2B5EF4-FFF2-40B4-BE49-F238E27FC236}">
                  <a16:creationId xmlns:a16="http://schemas.microsoft.com/office/drawing/2014/main" id="{9D35249A-1023-96CD-6A78-913F0F0EA961}"/>
                </a:ext>
              </a:extLst>
            </p:cNvPr>
            <p:cNvSpPr txBox="1"/>
            <p:nvPr/>
          </p:nvSpPr>
          <p:spPr>
            <a:xfrm>
              <a:off x="12966700" y="5194299"/>
              <a:ext cx="8978900" cy="596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altLang="ko-KR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Step 3. Net Load Calculation (</a:t>
              </a:r>
              <a:r>
                <a:rPr lang="ko-KR" altLang="en-US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순 부하 연산</a:t>
              </a:r>
              <a:r>
                <a:rPr lang="en-US" altLang="ko-KR" sz="28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42" name="TextBox 30">
              <a:extLst>
                <a:ext uri="{FF2B5EF4-FFF2-40B4-BE49-F238E27FC236}">
                  <a16:creationId xmlns:a16="http://schemas.microsoft.com/office/drawing/2014/main" id="{CCC44537-B494-9231-9FEF-633909FC4038}"/>
                </a:ext>
              </a:extLst>
            </p:cNvPr>
            <p:cNvSpPr txBox="1"/>
            <p:nvPr/>
          </p:nvSpPr>
          <p:spPr>
            <a:xfrm>
              <a:off x="12966700" y="5861052"/>
              <a:ext cx="9817100" cy="596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altLang="ko-KR" sz="2400" b="0" i="0" u="none" strike="noStrike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- </a:t>
              </a:r>
              <a:r>
                <a:rPr lang="en-US" altLang="ko-KR" sz="24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Logic: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베이스라인 부하에서 태양광 발전량을 차감하여 </a:t>
              </a:r>
              <a:r>
                <a:rPr lang="en-US" altLang="ko-KR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“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덕 커브</a:t>
              </a:r>
              <a:r>
                <a:rPr lang="en-US" altLang="ko-KR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(Duck Curve)” </a:t>
              </a:r>
              <a:r>
                <a:rPr lang="ko-KR" altLang="en-US" sz="2400" spc="-100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도출</a:t>
              </a:r>
              <a:endParaRPr lang="ko-KR" sz="3200" b="0" i="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2E2F8792-7BF6-6B74-E142-3F1A34BD0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1" y="4203700"/>
            <a:ext cx="22593300" cy="8763000"/>
          </a:xfrm>
          <a:prstGeom prst="rect">
            <a:avLst/>
          </a:prstGeom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0FC22986-613D-3882-F23F-C80FF15CD7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6549569" y="4283770"/>
            <a:ext cx="6533917" cy="762256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/>
          <p:cNvSpPr txBox="1"/>
          <p:nvPr/>
        </p:nvSpPr>
        <p:spPr>
          <a:xfrm>
            <a:off x="1282700" y="1968500"/>
            <a:ext cx="139954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 개입 전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 계통의 표준 부하 패턴 도출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4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계절 및 요일별 부하 데이터를 분석하여 시뮬레이션의 비교 대조군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(Control Group)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수립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Baseline Load Structure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007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3268ADA7-097F-2852-53E3-96A405034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19" y="11976100"/>
            <a:ext cx="22629010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C5DDD016-47FC-573C-A4F2-020CE20F6EF7}"/>
              </a:ext>
            </a:extLst>
          </p:cNvPr>
          <p:cNvSpPr txBox="1"/>
          <p:nvPr/>
        </p:nvSpPr>
        <p:spPr>
          <a:xfrm>
            <a:off x="3581400" y="12255500"/>
            <a:ext cx="17233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현재의 안정적인 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낙타 등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(Camel Back)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 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패턴은 재생에너지 침투 시 급격한 변동성을 가진 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오리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(Duck)” 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형태로 전이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7" name="그림 16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FFE01B-8CC0-0B10-7F9D-6BE1D6144BA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514" y="5089079"/>
            <a:ext cx="14976019" cy="61202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52453A-3468-BAFE-3002-34DC1055CADA}"/>
              </a:ext>
            </a:extLst>
          </p:cNvPr>
          <p:cNvSpPr txBox="1"/>
          <p:nvPr/>
        </p:nvSpPr>
        <p:spPr>
          <a:xfrm>
            <a:off x="16695690" y="5089079"/>
            <a:ext cx="624167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Dawn Dip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심야 최저 부하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endParaRPr lang="en-US" altLang="ko-KR" sz="24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Time: 03:00 ~ 05:00</a:t>
            </a: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Insight: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산업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/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주거 활동 최소화로 인한</a:t>
            </a:r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  	     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기저 부하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(Base Load)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형성 구간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The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Camel Back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낙타 등 패턴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Feature: 13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시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(1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차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와 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19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시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(2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차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두 번의 피크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Note: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현재는 완만한 곡선이지만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태양광 개입 시</a:t>
            </a:r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            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형태 붕괴 예상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Target Zone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분석 타겟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Focus: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태양광 발전이 집중되는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11:00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~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15:00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              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구간의 순 부하 감소폭이 핵심 분석 대상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DED5E3D-8AF6-8BC8-CF7C-2413DC46011D}"/>
              </a:ext>
            </a:extLst>
          </p:cNvPr>
          <p:cNvSpPr/>
          <p:nvPr/>
        </p:nvSpPr>
        <p:spPr>
          <a:xfrm>
            <a:off x="9982200" y="5736779"/>
            <a:ext cx="228600" cy="228600"/>
          </a:xfrm>
          <a:prstGeom prst="ellipse">
            <a:avLst/>
          </a:prstGeom>
          <a:solidFill>
            <a:srgbClr val="8C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7C8E338-E4C1-E9A5-7077-E78E3F5B8D7B}"/>
              </a:ext>
            </a:extLst>
          </p:cNvPr>
          <p:cNvSpPr/>
          <p:nvPr/>
        </p:nvSpPr>
        <p:spPr>
          <a:xfrm>
            <a:off x="12731535" y="6220411"/>
            <a:ext cx="228600" cy="228600"/>
          </a:xfrm>
          <a:prstGeom prst="ellipse">
            <a:avLst/>
          </a:prstGeom>
          <a:solidFill>
            <a:srgbClr val="8C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1D6626-7DA2-5334-F312-6842F53491B0}"/>
              </a:ext>
            </a:extLst>
          </p:cNvPr>
          <p:cNvSpPr txBox="1"/>
          <p:nvPr/>
        </p:nvSpPr>
        <p:spPr>
          <a:xfrm>
            <a:off x="9677400" y="5965379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1</a:t>
            </a:r>
            <a:r>
              <a:rPr lang="ko-KR" altLang="en-US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차 피크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FF8DC-1A42-FD6F-39E0-79054B174D36}"/>
              </a:ext>
            </a:extLst>
          </p:cNvPr>
          <p:cNvSpPr txBox="1"/>
          <p:nvPr/>
        </p:nvSpPr>
        <p:spPr>
          <a:xfrm>
            <a:off x="12372788" y="589287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</a:t>
            </a:r>
            <a:r>
              <a:rPr lang="ko-KR" altLang="en-US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차 피크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AB0DE-3D04-A8FB-1571-85AAD7483469}"/>
              </a:ext>
            </a:extLst>
          </p:cNvPr>
          <p:cNvSpPr txBox="1"/>
          <p:nvPr/>
        </p:nvSpPr>
        <p:spPr>
          <a:xfrm>
            <a:off x="11976286" y="11162784"/>
            <a:ext cx="3800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※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서울시 전체 행정동의 시간대별 평균값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3DAA6-029E-B754-9ECB-52CAB7D9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0D8C00ED-264B-B4CD-E45F-3193A9B33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1" y="4203700"/>
            <a:ext cx="22593300" cy="876300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7E62A9F-E964-29C8-3992-BF11A372F36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6549569" y="4283770"/>
            <a:ext cx="6533917" cy="7622560"/>
          </a:xfrm>
          <a:prstGeom prst="rect">
            <a:avLst/>
          </a:prstGeom>
        </p:spPr>
      </p:pic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C6DAB7-2D67-C642-8886-0089A8CD51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87" y="4577277"/>
            <a:ext cx="15107793" cy="691135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CDC63ED-42AA-CE61-DC8B-6CD31EE816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7D3A9C72-E123-25DD-D4C6-5BA0CEAC1985}"/>
              </a:ext>
            </a:extLst>
          </p:cNvPr>
          <p:cNvSpPr txBox="1"/>
          <p:nvPr/>
        </p:nvSpPr>
        <p:spPr>
          <a:xfrm>
            <a:off x="1282700" y="1968500"/>
            <a:ext cx="139954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침투율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(Penetration)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상승에 따른 덕 커브 심화 분석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D5CA7CE-C893-21A6-DFEF-E8920DEABB54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태양광 발전 비중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(20 ~ 40%)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증가 시나리오별 순 부하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(Net Load)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패턴의 구조적 변화 시각화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30AB06F8-9393-F180-4C7A-C2459875084D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</a:t>
            </a:r>
            <a:r>
              <a:rPr lang="en-US" sz="2000" b="0" i="0" u="none" strike="noStrike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Scenario Simulation &amp; Duck Curve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828ECDE6-DE4D-9E7B-1DEE-92200483848A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</a:t>
            </a:r>
            <a:r>
              <a:rPr lang="en" sz="2000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08</a:t>
            </a:r>
            <a:endParaRPr lang="en" sz="2000" b="0" i="0" u="none" strike="noStrike" spc="40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FEFD0DC1-7E7E-F242-5F9D-AC944D8D7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700" y="11976100"/>
            <a:ext cx="22593300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A2B78CAC-6EE4-35AB-EC2A-6824E4973F6B}"/>
              </a:ext>
            </a:extLst>
          </p:cNvPr>
          <p:cNvSpPr txBox="1"/>
          <p:nvPr/>
        </p:nvSpPr>
        <p:spPr>
          <a:xfrm>
            <a:off x="3390900" y="12255500"/>
            <a:ext cx="176022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 비중이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40%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에 도달 할 경우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주간 순 부하의 급격한 소멸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(Belly)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은 기저발전의 운영 유연성을 위협하는 구조적 리스크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91A77-D328-CB44-6718-FB0EDA0123B5}"/>
              </a:ext>
            </a:extLst>
          </p:cNvPr>
          <p:cNvSpPr txBox="1"/>
          <p:nvPr/>
        </p:nvSpPr>
        <p:spPr>
          <a:xfrm>
            <a:off x="16594588" y="5294283"/>
            <a:ext cx="6443877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Scenario Sensitivity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시나리오 민감도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PV </a:t>
            </a:r>
            <a:r>
              <a:rPr lang="ko-KR" altLang="en-US" sz="2200" dirty="0" err="1">
                <a:latin typeface="Pretendard Regular" panose="020B0600000101010101" charset="-127"/>
                <a:ea typeface="Pretendard Regular" panose="020B0600000101010101" charset="-127"/>
              </a:rPr>
              <a:t>침투율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20-&gt;40%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증가에 따라 순 부하 구조가 점진적으로 변형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낮 시간대 부하 감소 폭이 비선형적으로 확대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단순 총량 변화가 아닌 구조 변화가 핵심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Formation of “The Belly”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오리 배 형성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태양광 출력이 집중되는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11-14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시 구간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PV 40%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시나리오에서 순 부하 급락 구간 명확히 형성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기존 부하 대비 최대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40%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이상 감소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Minimum Load Risk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최저 부하 위협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낮 시간대 순 부하 급락으로 기저발전 최소출력 제약 발생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잉여 전력 증가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-&gt;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출력 제한 불가피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운영 유연성 저하 및 계통 안정성 리스크 확대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419DD-8C2D-FC55-DAC5-2F5294FE68EC}"/>
              </a:ext>
            </a:extLst>
          </p:cNvPr>
          <p:cNvSpPr txBox="1"/>
          <p:nvPr/>
        </p:nvSpPr>
        <p:spPr>
          <a:xfrm>
            <a:off x="11976286" y="11162784"/>
            <a:ext cx="3800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※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서울시 전체 행정동의 시간대별 평균값</a:t>
            </a:r>
          </a:p>
        </p:txBody>
      </p:sp>
    </p:spTree>
    <p:extLst>
      <p:ext uri="{BB962C8B-B14F-4D97-AF65-F5344CB8AC3E}">
        <p14:creationId xmlns:p14="http://schemas.microsoft.com/office/powerpoint/2010/main" val="2826276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3DAA6-029E-B754-9ECB-52CAB7D9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3A440FBF-908C-D5AF-2855-78CB96B9D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1" y="4203700"/>
            <a:ext cx="22593300" cy="8763000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1C683FA-0D1A-82D5-3AB3-CF2D84E661E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6549569" y="4283770"/>
            <a:ext cx="6533917" cy="76225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76" y="4694123"/>
            <a:ext cx="15042652" cy="683799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CDC63ED-42AA-CE61-DC8B-6CD31EE816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7D3A9C72-E123-25DD-D4C6-5BA0CEAC1985}"/>
              </a:ext>
            </a:extLst>
          </p:cNvPr>
          <p:cNvSpPr txBox="1"/>
          <p:nvPr/>
        </p:nvSpPr>
        <p:spPr>
          <a:xfrm>
            <a:off x="1282700" y="1968500"/>
            <a:ext cx="139954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급격한 부하 변동성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5333" spc="-16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램핑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(Ramping)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리스크의 실체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D5CA7CE-C893-21A6-DFEF-E8920DEABB54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일몰 시간대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(18 ~ 20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태양광 소멸에 따른 순 부하 급증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(Ramp-up)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현상 시각화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30AB06F8-9393-F180-4C7A-C2459875084D}"/>
              </a:ext>
            </a:extLst>
          </p:cNvPr>
          <p:cNvSpPr txBox="1"/>
          <p:nvPr/>
        </p:nvSpPr>
        <p:spPr>
          <a:xfrm>
            <a:off x="1270000" y="901700"/>
            <a:ext cx="82550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</a:t>
            </a:r>
            <a:r>
              <a:rPr lang="en" sz="2000" b="0" i="0" u="none" strike="noStrike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Risk Assessment &amp; </a:t>
            </a: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Ramping Dynamics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828ECDE6-DE4D-9E7B-1DEE-92200483848A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009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FEFD0DC1-7E7E-F242-5F9D-AC944D8D7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699" y="11976100"/>
            <a:ext cx="22593299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A2B78CAC-6EE4-35AB-EC2A-6824E4973F6B}"/>
              </a:ext>
            </a:extLst>
          </p:cNvPr>
          <p:cNvSpPr txBox="1"/>
          <p:nvPr/>
        </p:nvSpPr>
        <p:spPr>
          <a:xfrm>
            <a:off x="3473450" y="12255500"/>
            <a:ext cx="174498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단시간 내 급격한 부하 상승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(Ramp-up)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은 단순한 용량 부족이 아닌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“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속도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문제이며 계통 운영에서 가장 치명적인 리스크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91A77-D328-CB44-6718-FB0EDA0123B5}"/>
              </a:ext>
            </a:extLst>
          </p:cNvPr>
          <p:cNvSpPr txBox="1"/>
          <p:nvPr/>
        </p:nvSpPr>
        <p:spPr>
          <a:xfrm>
            <a:off x="16594588" y="5596910"/>
            <a:ext cx="6443877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The “Viper Head”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급상승 구간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- 17-20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시 일몰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퇴근 시간이 겹치는 취약 구간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태양광 출력은 급감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전력 수요는 동시에 급증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순 부하가 단시간 내 급격히 상승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(Ramp-up)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Operational Challenge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운영 난이도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순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부하 기울기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(Slope)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급증으로 추종 난이도 상승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기존 기저발전의 출력 추종 한계 노출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고속 기동 가능한 유연성 자원 필요성 증가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Frequency Risk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주파수 위협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 err="1">
                <a:latin typeface="Pretendard Regular" panose="020B0600000101010101" charset="-127"/>
                <a:ea typeface="Pretendard Regular" panose="020B0600000101010101" charset="-127"/>
              </a:rPr>
              <a:t>램핑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속도를 즉시 따라가지 못할 경우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계통 주파수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(60Hz)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변동 위험 확대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주파수 불안정은 정전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(Blackout)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리스크로 직결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CC08F-3A35-669D-2E41-83803AB508EA}"/>
              </a:ext>
            </a:extLst>
          </p:cNvPr>
          <p:cNvSpPr txBox="1"/>
          <p:nvPr/>
        </p:nvSpPr>
        <p:spPr>
          <a:xfrm>
            <a:off x="11976286" y="11162784"/>
            <a:ext cx="3800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※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서울시 전체 행정동의 시간대별 평균값</a:t>
            </a:r>
          </a:p>
        </p:txBody>
      </p:sp>
    </p:spTree>
    <p:extLst>
      <p:ext uri="{BB962C8B-B14F-4D97-AF65-F5344CB8AC3E}">
        <p14:creationId xmlns:p14="http://schemas.microsoft.com/office/powerpoint/2010/main" val="772171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DAA6-029E-B754-9ECB-52CAB7D9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BB5527C8-4F6C-D010-671C-193C1BC69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2F13FF0E-4D50-2AD0-8E8A-6130693C5C1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6549569" y="4283770"/>
            <a:ext cx="6533917" cy="762256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535" y="4557940"/>
            <a:ext cx="14792519" cy="7278461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CDC63ED-42AA-CE61-DC8B-6CD31EE816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7D3A9C72-E123-25DD-D4C6-5BA0CEAC1985}"/>
              </a:ext>
            </a:extLst>
          </p:cNvPr>
          <p:cNvSpPr txBox="1"/>
          <p:nvPr/>
        </p:nvSpPr>
        <p:spPr>
          <a:xfrm>
            <a:off x="1282700" y="1968500"/>
            <a:ext cx="159385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급격한 부하 변동성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속도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(Speed)”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 전환되는 </a:t>
            </a:r>
            <a:r>
              <a:rPr lang="ko-KR" altLang="en-US" sz="5333" spc="-16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램핑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리스크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D5CA7CE-C893-21A6-DFEF-E8920DEABB54}"/>
              </a:ext>
            </a:extLst>
          </p:cNvPr>
          <p:cNvSpPr txBox="1"/>
          <p:nvPr/>
        </p:nvSpPr>
        <p:spPr>
          <a:xfrm>
            <a:off x="1282700" y="3111500"/>
            <a:ext cx="15328900" cy="520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시간대별 순 부하 증가 속도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el-GR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Δ</a:t>
            </a:r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Net Load / hour)</a:t>
            </a:r>
            <a:r>
              <a:rPr lang="ko-KR" altLang="en-US" sz="3200" dirty="0">
                <a:latin typeface="Pretendard Regular" panose="020B0600000101010101" charset="-127"/>
                <a:ea typeface="Pretendard Regular" panose="020B0600000101010101" charset="-127"/>
              </a:rPr>
              <a:t>를 통해 본 </a:t>
            </a:r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Evening Ramp </a:t>
            </a:r>
            <a:r>
              <a:rPr lang="ko-KR" altLang="en-US" sz="3200" dirty="0">
                <a:latin typeface="Pretendard Regular" panose="020B0600000101010101" charset="-127"/>
                <a:ea typeface="Pretendard Regular" panose="020B0600000101010101" charset="-127"/>
              </a:rPr>
              <a:t>리스크의 운영적 실체</a:t>
            </a:r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30AB06F8-9393-F180-4C7A-C2459875084D}"/>
              </a:ext>
            </a:extLst>
          </p:cNvPr>
          <p:cNvSpPr txBox="1"/>
          <p:nvPr/>
        </p:nvSpPr>
        <p:spPr>
          <a:xfrm>
            <a:off x="1270000" y="901700"/>
            <a:ext cx="88646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</a:t>
            </a:r>
            <a:r>
              <a:rPr lang="en" sz="2000" b="0" i="0" u="none" strike="noStrike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Risk Assessment &amp; 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Ramping Dynamics</a:t>
            </a:r>
            <a:endParaRPr lang="en" altLang="ko-KR" sz="2000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828ECDE6-DE4D-9E7B-1DEE-92200483848A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010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FEFD0DC1-7E7E-F242-5F9D-AC944D8D7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699" y="11976100"/>
            <a:ext cx="22593299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A2B78CAC-6EE4-35AB-EC2A-6824E4973F6B}"/>
              </a:ext>
            </a:extLst>
          </p:cNvPr>
          <p:cNvSpPr txBox="1"/>
          <p:nvPr/>
        </p:nvSpPr>
        <p:spPr>
          <a:xfrm>
            <a:off x="3557813" y="12255500"/>
            <a:ext cx="17233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Evening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Ramp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리스크는 발전 용량의 문제가 아니라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계통이 감당할 수 있는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출력 상승 속도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문제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91A77-D328-CB44-6718-FB0EDA0123B5}"/>
              </a:ext>
            </a:extLst>
          </p:cNvPr>
          <p:cNvSpPr txBox="1"/>
          <p:nvPr/>
        </p:nvSpPr>
        <p:spPr>
          <a:xfrm>
            <a:off x="16594588" y="5602060"/>
            <a:ext cx="6443877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Ramp Rate Concentration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속도 집중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- 18-22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시 구간에 </a:t>
            </a:r>
            <a:r>
              <a:rPr lang="ko-KR" altLang="en-US" sz="2200" dirty="0" err="1">
                <a:latin typeface="Pretendard Regular" panose="020B0600000101010101" charset="-127"/>
                <a:ea typeface="Pretendard Regular" panose="020B0600000101010101" charset="-127"/>
              </a:rPr>
              <a:t>램핑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속도 집중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단위 시간당 순 부하 변화량 급증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문제는 총부하가 아닌 변화 속도 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Operational Limit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운영 한계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 err="1">
                <a:latin typeface="Pretendard Regular" panose="020B0600000101010101" charset="-127"/>
                <a:ea typeface="Pretendard Regular" panose="020B0600000101010101" charset="-127"/>
              </a:rPr>
              <a:t>램핑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속도 증가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-&gt;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기존 기저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추종 발전기 한계 노출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출력 상승 속도가 수요 증가를 따라가지 못함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고속 대응 자원 필요성 증가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Structural Risk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구조적 위험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 err="1">
                <a:latin typeface="Pretendard Regular" panose="020B0600000101010101" charset="-127"/>
                <a:ea typeface="Pretendard Regular" panose="020B0600000101010101" charset="-127"/>
              </a:rPr>
              <a:t>램핑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한계 초과 시 주파수 불안정 리스크 확대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단기 출력 공백 계통 사고 가능성 증가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설비 용량이 아닌 운영 구조의 문제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A6857E2-981C-FE1B-B87E-A82ABD56F790}"/>
              </a:ext>
            </a:extLst>
          </p:cNvPr>
          <p:cNvSpPr/>
          <p:nvPr/>
        </p:nvSpPr>
        <p:spPr>
          <a:xfrm>
            <a:off x="11734800" y="7848600"/>
            <a:ext cx="1295400" cy="1295400"/>
          </a:xfrm>
          <a:prstGeom prst="ellipse">
            <a:avLst/>
          </a:prstGeom>
          <a:solidFill>
            <a:srgbClr val="8C2828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B7B22-0C3F-9C30-31A6-215F54EB0745}"/>
              </a:ext>
            </a:extLst>
          </p:cNvPr>
          <p:cNvSpPr txBox="1"/>
          <p:nvPr/>
        </p:nvSpPr>
        <p:spPr>
          <a:xfrm>
            <a:off x="12735767" y="7635845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Point</a:t>
            </a:r>
            <a:endParaRPr lang="ko-KR" altLang="en-US" sz="2000" b="1" spc="-150" dirty="0">
              <a:solidFill>
                <a:srgbClr val="8C2828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732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3C60A9C6-1D99-94AC-202D-49D5CD5AF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1" y="4191000"/>
            <a:ext cx="22593300" cy="8763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4622" y="10516237"/>
            <a:ext cx="7361232" cy="2451100"/>
          </a:xfrm>
          <a:prstGeom prst="rect">
            <a:avLst/>
          </a:prstGeom>
        </p:spPr>
      </p:pic>
      <p:pic>
        <p:nvPicPr>
          <p:cNvPr id="9" name="Picture 15">
            <a:extLst>
              <a:ext uri="{FF2B5EF4-FFF2-40B4-BE49-F238E27FC236}">
                <a16:creationId xmlns:a16="http://schemas.microsoft.com/office/drawing/2014/main" id="{A060B0E0-4C13-B4FA-B72A-E0BA5422C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700" y="10516237"/>
            <a:ext cx="7361232" cy="2451100"/>
          </a:xfrm>
          <a:prstGeom prst="rect">
            <a:avLst/>
          </a:prstGeom>
        </p:spPr>
      </p:pic>
      <p:pic>
        <p:nvPicPr>
          <p:cNvPr id="10" name="Picture 15">
            <a:extLst>
              <a:ext uri="{FF2B5EF4-FFF2-40B4-BE49-F238E27FC236}">
                <a16:creationId xmlns:a16="http://schemas.microsoft.com/office/drawing/2014/main" id="{A2736B2D-8958-0C21-5253-C78E506CD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344" y="10516237"/>
            <a:ext cx="7406666" cy="24511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740036" y="7607300"/>
            <a:ext cx="53721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3255444" y="7607300"/>
            <a:ext cx="5372100" cy="25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7000720" y="4494388"/>
            <a:ext cx="5448300" cy="596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본질 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(What actually matters)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518120" y="5345288"/>
            <a:ext cx="6375400" cy="9652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spc="-10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Speed-based Risk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70702" y="4494388"/>
            <a:ext cx="6286500" cy="596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전환점 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(Where it becomes critical)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019902" y="5345288"/>
            <a:ext cx="6375400" cy="9652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2533" spc="-10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Control Reversal Point</a:t>
            </a:r>
            <a:endParaRPr lang="en-US" sz="2533" b="0" i="0" u="none" strike="noStrike" spc="-101" dirty="0">
              <a:solidFill>
                <a:schemeClr val="tx1">
                  <a:lumMod val="65000"/>
                  <a:lumOff val="35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640737" y="10855962"/>
            <a:ext cx="5931877" cy="177165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-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일몰 전후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태양광 소멸과 수요 유지가 겹치며</a:t>
            </a:r>
            <a:b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</a:b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  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순 부하가 짧은 시간 안에 급격히 변형됨</a:t>
            </a:r>
            <a:endParaRPr lang="en-US" altLang="ko-KR" sz="2400" spc="-108" dirty="0">
              <a:solidFill>
                <a:srgbClr val="222222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- </a:t>
            </a:r>
            <a:r>
              <a:rPr lang="ko-KR" altLang="en-US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덕 커브는 단일 피크가 아닌 시간대</a:t>
            </a:r>
            <a:r>
              <a:rPr lang="en-US" altLang="ko-KR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(Time-of-Day)</a:t>
            </a:r>
          </a:p>
          <a:p>
            <a:pPr lvl="0" algn="l">
              <a:lnSpc>
                <a:spcPct val="141100"/>
              </a:lnSpc>
            </a:pPr>
            <a:r>
              <a:rPr lang="en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   </a:t>
            </a:r>
            <a:r>
              <a:rPr lang="ko-KR" altLang="en-US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기반 구조 변화의 결과</a:t>
            </a:r>
            <a:endParaRPr lang="en" sz="2400" b="0" i="0" u="none" strike="noStrike" spc="-108" dirty="0">
              <a:solidFill>
                <a:srgbClr val="222222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2458309" y="4494388"/>
            <a:ext cx="4368800" cy="596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현상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(What we observe)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455009" y="5345288"/>
            <a:ext cx="6375400" cy="9652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2533" spc="-10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Ramp Phenomenon</a:t>
            </a:r>
            <a:endParaRPr lang="en-US" sz="2533" b="0" i="0" u="none" strike="noStrike" spc="-101" dirty="0">
              <a:solidFill>
                <a:schemeClr val="tx1">
                  <a:lumMod val="65000"/>
                  <a:lumOff val="35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282700" y="1968500"/>
            <a:ext cx="21170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Evening Ramp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리스크는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양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 아니라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속도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와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전환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문제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ea typeface="Pretendard Regular"/>
              </a:rPr>
              <a:t>순 부하 변화 구조 분석을 </a:t>
            </a:r>
            <a:r>
              <a:rPr lang="ko-KR" altLang="en-US" sz="2933" spc="-88" dirty="0">
                <a:solidFill>
                  <a:srgbClr val="222222"/>
                </a:solidFill>
                <a:ea typeface="Pretendard Regular"/>
              </a:rPr>
              <a:t>통해 도출한 전력 계통 운영 리스크의 핵심 메커니즘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ea typeface="Pretendard Regular"/>
              </a:rPr>
              <a:t> </a:t>
            </a:r>
            <a:endParaRPr lang="ko-KR" sz="2933" b="0" i="0" u="none" strike="noStrike" spc="-88" dirty="0">
              <a:solidFill>
                <a:srgbClr val="222222"/>
              </a:solidFill>
              <a:ea typeface="Pretendard Regular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[Diagnosis] </a:t>
            </a:r>
            <a:r>
              <a:rPr lang="en" sz="2000" b="0" i="0" u="none" strike="noStrike" dirty="0">
                <a:solidFill>
                  <a:srgbClr val="FFFFFF"/>
                </a:solidFill>
                <a:latin typeface="Gmarket Sans Bold"/>
              </a:rPr>
              <a:t>Executive Insight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011</a:t>
            </a:r>
          </a:p>
        </p:txBody>
      </p:sp>
      <p:sp>
        <p:nvSpPr>
          <p:cNvPr id="64" name="TextBox 48"/>
          <p:cNvSpPr txBox="1"/>
          <p:nvPr/>
        </p:nvSpPr>
        <p:spPr>
          <a:xfrm>
            <a:off x="9207012" y="10855962"/>
            <a:ext cx="5931877" cy="177165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- </a:t>
            </a:r>
            <a:r>
              <a:rPr 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17 ~ 18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시 전후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(Pivot time),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순 부하 변화 방향이</a:t>
            </a:r>
            <a:b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</a:b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  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증가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(+)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에서 감소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(-)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로 급격히 전환</a:t>
            </a:r>
            <a:endParaRPr lang="en-US" altLang="ko-KR" sz="2400" spc="-108" dirty="0">
              <a:solidFill>
                <a:srgbClr val="222222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- </a:t>
            </a:r>
            <a:r>
              <a:rPr lang="ko-KR" altLang="en-US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출력 제어 전략이 한 시간 내에</a:t>
            </a:r>
            <a:br>
              <a:rPr lang="en-US" altLang="ko-KR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</a:br>
            <a:r>
              <a:rPr lang="en-US" altLang="ko-KR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   </a:t>
            </a:r>
            <a:r>
              <a:rPr lang="ko-KR" altLang="en-US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상승 대응 에서 감축 대응 으로 뒤집히는 구간  </a:t>
            </a:r>
            <a:endParaRPr lang="en" sz="2400" b="0" i="0" u="none" strike="noStrike" spc="-108" dirty="0">
              <a:solidFill>
                <a:srgbClr val="222222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65" name="TextBox 48"/>
          <p:cNvSpPr txBox="1"/>
          <p:nvPr/>
        </p:nvSpPr>
        <p:spPr>
          <a:xfrm>
            <a:off x="16811386" y="10855962"/>
            <a:ext cx="5931877" cy="177165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-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핵심 리스크는 최대 부하 수준이 아니라</a:t>
            </a:r>
            <a:endParaRPr lang="en-US" altLang="ko-KR" sz="2400" spc="-108" dirty="0">
              <a:solidFill>
                <a:srgbClr val="222222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  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단위 시간당 변화 속도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(Ramp Rate)</a:t>
            </a:r>
          </a:p>
          <a:p>
            <a:pPr lvl="0" algn="l">
              <a:lnSpc>
                <a:spcPct val="141100"/>
              </a:lnSpc>
            </a:pPr>
            <a:r>
              <a:rPr lang="en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- </a:t>
            </a:r>
            <a:r>
              <a:rPr lang="ko-KR" altLang="en-US" sz="2400" b="0" i="0" u="none" strike="noStrike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계통 위험은 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“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얼마나 필요한가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”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가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아니라 </a:t>
            </a:r>
            <a:b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</a:b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   “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얼마나 빠르게 대응해야 하는가</a:t>
            </a:r>
            <a:r>
              <a:rPr lang="en-US" altLang="ko-KR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”</a:t>
            </a:r>
            <a:r>
              <a:rPr lang="ko-KR" altLang="en-US" sz="2400" spc="-108" dirty="0">
                <a:solidFill>
                  <a:srgbClr val="222222"/>
                </a:solidFill>
                <a:latin typeface="Pretendard Medium" panose="020B0600000101010101" charset="-127"/>
                <a:ea typeface="Pretendard Medium" panose="020B0600000101010101" charset="-127"/>
              </a:rPr>
              <a:t>에서 발생</a:t>
            </a:r>
            <a:endParaRPr lang="en" sz="2400" b="0" i="0" u="none" strike="noStrike" spc="-108" dirty="0">
              <a:solidFill>
                <a:srgbClr val="222222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03120" flipH="1">
            <a:off x="3762740" y="7104489"/>
            <a:ext cx="2205551" cy="2496104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44" y="8562364"/>
            <a:ext cx="1005661" cy="1005661"/>
          </a:xfrm>
          <a:prstGeom prst="rect">
            <a:avLst/>
          </a:prstGeom>
        </p:spPr>
      </p:pic>
      <p:pic>
        <p:nvPicPr>
          <p:cNvPr id="72" name="그림 7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602" y="7384420"/>
            <a:ext cx="1005395" cy="1005395"/>
          </a:xfrm>
          <a:prstGeom prst="rect">
            <a:avLst/>
          </a:prstGeom>
        </p:spPr>
      </p:pic>
      <p:sp>
        <p:nvSpPr>
          <p:cNvPr id="74" name="오른쪽 화살표 73"/>
          <p:cNvSpPr/>
          <p:nvPr/>
        </p:nvSpPr>
        <p:spPr>
          <a:xfrm rot="2234839">
            <a:off x="10407854" y="6900921"/>
            <a:ext cx="1066800" cy="415361"/>
          </a:xfrm>
          <a:prstGeom prst="rightArrow">
            <a:avLst>
              <a:gd name="adj1" fmla="val 34712"/>
              <a:gd name="adj2" fmla="val 6681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오른쪽 화살표 75"/>
          <p:cNvSpPr/>
          <p:nvPr/>
        </p:nvSpPr>
        <p:spPr>
          <a:xfrm rot="19365161" flipH="1">
            <a:off x="12889055" y="6900923"/>
            <a:ext cx="1066800" cy="415361"/>
          </a:xfrm>
          <a:prstGeom prst="rightArrow">
            <a:avLst>
              <a:gd name="adj1" fmla="val 34712"/>
              <a:gd name="adj2" fmla="val 66817"/>
            </a:avLst>
          </a:prstGeom>
          <a:solidFill>
            <a:srgbClr val="8C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오른쪽 화살표 76"/>
          <p:cNvSpPr/>
          <p:nvPr/>
        </p:nvSpPr>
        <p:spPr>
          <a:xfrm rot="19365161" flipV="1">
            <a:off x="10402743" y="8459313"/>
            <a:ext cx="1066800" cy="415361"/>
          </a:xfrm>
          <a:prstGeom prst="rightArrow">
            <a:avLst>
              <a:gd name="adj1" fmla="val 34712"/>
              <a:gd name="adj2" fmla="val 6681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오른쪽 화살표 77"/>
          <p:cNvSpPr/>
          <p:nvPr/>
        </p:nvSpPr>
        <p:spPr>
          <a:xfrm rot="2234839" flipH="1" flipV="1">
            <a:off x="12883944" y="8453025"/>
            <a:ext cx="1066800" cy="415361"/>
          </a:xfrm>
          <a:prstGeom prst="rightArrow">
            <a:avLst>
              <a:gd name="adj1" fmla="val 34712"/>
              <a:gd name="adj2" fmla="val 6681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/>
          <p:cNvCxnSpPr/>
          <p:nvPr/>
        </p:nvCxnSpPr>
        <p:spPr>
          <a:xfrm flipV="1">
            <a:off x="18517821" y="7227574"/>
            <a:ext cx="2056179" cy="1236373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그림 8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2093" y="7840296"/>
            <a:ext cx="837784" cy="837784"/>
          </a:xfrm>
          <a:prstGeom prst="rect">
            <a:avLst/>
          </a:prstGeom>
        </p:spPr>
      </p:pic>
      <p:pic>
        <p:nvPicPr>
          <p:cNvPr id="84" name="그림 8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1408" y="6970979"/>
            <a:ext cx="837784" cy="837784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8822" y="8474980"/>
            <a:ext cx="869481" cy="869481"/>
          </a:xfrm>
          <a:prstGeom prst="rect">
            <a:avLst/>
          </a:prstGeom>
        </p:spPr>
      </p:pic>
      <p:pic>
        <p:nvPicPr>
          <p:cNvPr id="89" name="그림 8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065" y="6331419"/>
            <a:ext cx="869481" cy="869481"/>
          </a:xfrm>
          <a:prstGeom prst="rect">
            <a:avLst/>
          </a:prstGeom>
        </p:spPr>
      </p:pic>
      <p:sp>
        <p:nvSpPr>
          <p:cNvPr id="90" name="직사각형 89"/>
          <p:cNvSpPr/>
          <p:nvPr/>
        </p:nvSpPr>
        <p:spPr>
          <a:xfrm>
            <a:off x="1261049" y="10066839"/>
            <a:ext cx="66912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>
                <a:latin typeface="Pretendard Medium" panose="020B0600000101010101" charset="-127"/>
                <a:ea typeface="Pretendard Medium" panose="020B0600000101010101" charset="-127"/>
              </a:rPr>
              <a:t>"Sunset &amp; Load Rise"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(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태양광 ↓ 유효 수요 ↑ 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= 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순 부하 급증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)</a:t>
            </a:r>
            <a:endParaRPr lang="ko-KR" altLang="en-US" sz="20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8681906" y="10066839"/>
            <a:ext cx="70328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>
                <a:latin typeface="Pretendard Medium" panose="020B0600000101010101" charset="-127"/>
                <a:ea typeface="Pretendard Medium" panose="020B0600000101010101" charset="-127"/>
              </a:rPr>
              <a:t>"System's Breaking Point"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(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제어 방향 전환에 따른 운영 </a:t>
            </a:r>
            <a:r>
              <a:rPr lang="ko-KR" altLang="en-US" sz="2000" dirty="0" err="1">
                <a:latin typeface="Pretendard Medium" panose="020B0600000101010101" charset="-127"/>
                <a:ea typeface="Pretendard Medium" panose="020B0600000101010101" charset="-127"/>
              </a:rPr>
              <a:t>임계점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)</a:t>
            </a:r>
            <a:endParaRPr lang="ko-KR" altLang="en-US" sz="20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6528259" y="10066839"/>
            <a:ext cx="64939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>
                <a:latin typeface="Pretendard Medium" panose="020B0600000101010101" charset="-127"/>
                <a:ea typeface="Pretendard Medium" panose="020B0600000101010101" charset="-127"/>
              </a:rPr>
              <a:t>"Speed Matters More"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(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용량 확보를 넘어선 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'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속도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'</a:t>
            </a:r>
            <a:r>
              <a:rPr lang="ko-KR" altLang="en-US" sz="2000" dirty="0">
                <a:latin typeface="Pretendard Medium" panose="020B0600000101010101" charset="-127"/>
                <a:ea typeface="Pretendard Medium" panose="020B0600000101010101" charset="-127"/>
              </a:rPr>
              <a:t>의 문제</a:t>
            </a:r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)</a:t>
            </a:r>
            <a:endParaRPr lang="ko-KR" altLang="en-US" sz="20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5969100" y="8025336"/>
            <a:ext cx="10390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17~18h</a:t>
            </a:r>
            <a:endParaRPr lang="ko-KR" altLang="en-US" sz="20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95" name="그림 9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9648">
            <a:off x="5925939" y="6220061"/>
            <a:ext cx="1357996" cy="1357996"/>
          </a:xfrm>
          <a:prstGeom prst="rect">
            <a:avLst/>
          </a:prstGeom>
        </p:spPr>
      </p:pic>
      <p:sp>
        <p:nvSpPr>
          <p:cNvPr id="97" name="직사각형 96"/>
          <p:cNvSpPr/>
          <p:nvPr/>
        </p:nvSpPr>
        <p:spPr>
          <a:xfrm>
            <a:off x="11201296" y="6553231"/>
            <a:ext cx="19704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Supply Surplus</a:t>
            </a:r>
            <a:endParaRPr lang="ko-KR" altLang="en-US" sz="20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11464992" y="8695327"/>
            <a:ext cx="14430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Pivot Time</a:t>
            </a:r>
          </a:p>
          <a:p>
            <a:pPr algn="ctr"/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(17~18h)</a:t>
            </a:r>
            <a:endParaRPr lang="ko-KR" altLang="en-US" sz="20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12927219" y="7731855"/>
            <a:ext cx="2247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Ramping Demand</a:t>
            </a:r>
            <a:endParaRPr lang="ko-KR" altLang="en-US" sz="20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9217681" y="7709196"/>
            <a:ext cx="19704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latin typeface="Pretendard Medium" panose="020B0600000101010101" charset="-127"/>
                <a:ea typeface="Pretendard Medium" panose="020B0600000101010101" charset="-127"/>
              </a:rPr>
              <a:t>Supply Surplus</a:t>
            </a:r>
            <a:endParaRPr lang="ko-KR" altLang="en-US" sz="20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7983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0A8FE3-EBFC-1000-18A1-5BBDC389E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38" name="Picture 3">
            <a:extLst>
              <a:ext uri="{FF2B5EF4-FFF2-40B4-BE49-F238E27FC236}">
                <a16:creationId xmlns:a16="http://schemas.microsoft.com/office/drawing/2014/main" id="{ADC717FD-4A89-5887-23C6-0085DDB72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7600" y="4191000"/>
            <a:ext cx="10947400" cy="8763000"/>
          </a:xfrm>
          <a:prstGeom prst="rect">
            <a:avLst/>
          </a:prstGeom>
        </p:spPr>
      </p:pic>
      <p:sp>
        <p:nvSpPr>
          <p:cNvPr id="46" name="TextBox 39">
            <a:extLst>
              <a:ext uri="{FF2B5EF4-FFF2-40B4-BE49-F238E27FC236}">
                <a16:creationId xmlns:a16="http://schemas.microsoft.com/office/drawing/2014/main" id="{7C76C00D-8577-3124-BF82-351B51B99045}"/>
              </a:ext>
            </a:extLst>
          </p:cNvPr>
          <p:cNvSpPr txBox="1"/>
          <p:nvPr/>
        </p:nvSpPr>
        <p:spPr>
          <a:xfrm>
            <a:off x="13261974" y="4685750"/>
            <a:ext cx="53848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별 운영 방향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736E9B51-467E-F97A-A332-79D77E79C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4191000"/>
            <a:ext cx="10947400" cy="876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7868900" y="7185025"/>
            <a:ext cx="190500" cy="342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1216938" y="7185025"/>
            <a:ext cx="1905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4481174" y="7191375"/>
            <a:ext cx="190500" cy="342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4" y="5613400"/>
            <a:ext cx="96520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7174" y="9194800"/>
            <a:ext cx="3149600" cy="3149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1474" y="10464800"/>
            <a:ext cx="1447800" cy="1447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105774" y="10985500"/>
            <a:ext cx="1244600" cy="406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" sz="2266" b="0" i="0" u="none" strike="noStrike" spc="-68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차별화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1974" y="10464800"/>
            <a:ext cx="1447800" cy="1447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553574" y="10985500"/>
            <a:ext cx="1244600" cy="406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" sz="2266" b="0" i="0" u="none" strike="noStrike" spc="-68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지속성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8074" y="9220200"/>
            <a:ext cx="1447800" cy="1447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29674" y="9728200"/>
            <a:ext cx="1244600" cy="406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" sz="2266" b="0" i="0" u="none" strike="noStrike" spc="-68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실용성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4" y="7937500"/>
            <a:ext cx="9652000" cy="723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38150" y="5575300"/>
            <a:ext cx="9652000" cy="723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52425" y="7937500"/>
            <a:ext cx="3048000" cy="2006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421100" y="7937500"/>
            <a:ext cx="3048000" cy="2006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788188" y="7937500"/>
            <a:ext cx="3048000" cy="2006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928725" y="7404100"/>
            <a:ext cx="1282700" cy="1282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322800" y="7404100"/>
            <a:ext cx="1282700" cy="1282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664488" y="7404100"/>
            <a:ext cx="1282700" cy="12827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3442950" y="5715000"/>
            <a:ext cx="8204200" cy="4445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sz="2533" b="0" i="0" u="none" strike="noStrike" spc="-7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운영</a:t>
            </a:r>
            <a:r>
              <a:rPr lang="en-US" sz="2533" b="0" i="0" u="none" strike="noStrike" spc="-7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sz="2533" b="0" i="0" u="none" strike="noStrike" spc="-7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전략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84225" y="8890000"/>
            <a:ext cx="2171700" cy="901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33" b="0" i="0" u="none" strike="noStrike" spc="-76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주간형</a:t>
            </a:r>
            <a:endParaRPr lang="en-US" altLang="ko-KR" sz="2533" b="0" i="0" u="none" strike="noStrike" spc="-76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2533" spc="-7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에너지 구조</a:t>
            </a:r>
            <a:endParaRPr lang="ko-KR" sz="2533" b="0" i="0" u="none" strike="noStrike" spc="-76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052425" y="10312400"/>
            <a:ext cx="2990056" cy="1790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32800"/>
              </a:lnSpc>
            </a:pPr>
            <a:r>
              <a:rPr lang="en-US" altLang="ko-KR" sz="19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주간 전력 수요 비중이 높아 태양광 발전 효과가 직접 반영</a:t>
            </a:r>
            <a:endParaRPr lang="en-US" altLang="ko-KR" sz="19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ko-KR" altLang="ko-KR" sz="1900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32800"/>
              </a:lnSpc>
            </a:pPr>
            <a:r>
              <a:rPr lang="en-US" altLang="ko-KR" sz="19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en-US" altLang="ko-KR" sz="1900" dirty="0">
                <a:latin typeface="Pretendard Regular" panose="020B0600000101010101" charset="-127"/>
                <a:ea typeface="Pretendard Regular" panose="020B0600000101010101" charset="-127"/>
              </a:rPr>
              <a:t>PV 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중심 운영만으로 순 부하 감소 및 비용</a:t>
            </a:r>
            <a:r>
              <a:rPr lang="en-US" altLang="ko-KR" sz="190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탄소 절감 가능</a:t>
            </a:r>
            <a:endParaRPr lang="ko-KR" altLang="ko-KR" sz="1900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6852900" y="8890000"/>
            <a:ext cx="2171700" cy="901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</a:t>
            </a:r>
            <a:r>
              <a:rPr lang="ko-KR" altLang="en-US" sz="2533" b="0" i="0" u="none" strike="noStrike" spc="-76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집중형</a:t>
            </a:r>
            <a:endParaRPr lang="en-US" altLang="ko-KR" sz="2533" b="0" i="0" u="none" strike="noStrike" spc="-76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2533" spc="-7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에너지 구조</a:t>
            </a:r>
            <a:endParaRPr lang="en" sz="2533" b="0" i="0" u="none" strike="noStrike" spc="-76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0219988" y="8890000"/>
            <a:ext cx="2171700" cy="901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33" spc="-7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혼합형</a:t>
            </a:r>
            <a:endParaRPr lang="en-US" altLang="ko-KR" sz="2533" spc="-76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에너지 구조</a:t>
            </a:r>
            <a:endParaRPr lang="en" sz="2533" b="0" i="0" u="none" strike="noStrike" spc="-76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616074" y="4610100"/>
            <a:ext cx="53848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ea typeface="Pretendard SemiBold"/>
              </a:rPr>
              <a:t>에너지 페르소나 개념</a:t>
            </a:r>
            <a:endParaRPr lang="ko-KR" sz="3333" b="0" i="0" u="none" strike="noStrike" spc="-100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857374" y="5753100"/>
            <a:ext cx="9118600" cy="4445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2533" b="0" i="0" u="none" strike="noStrike" spc="-76" dirty="0">
                <a:solidFill>
                  <a:srgbClr val="222222"/>
                </a:solidFill>
                <a:ea typeface="Pretendard SemiBold"/>
              </a:rPr>
              <a:t>시간대별 전력 수요 구조에 따른 유형 구분</a:t>
            </a:r>
            <a:endParaRPr lang="ko-KR" sz="2533" b="0" i="0" u="none" strike="noStrike" spc="-76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857374" y="6369050"/>
            <a:ext cx="9118600" cy="1536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2400" b="0" i="0" u="none" strike="noStrike" spc="-96" dirty="0">
                <a:solidFill>
                  <a:srgbClr val="222222"/>
                </a:solidFill>
                <a:latin typeface="Pretendard Regular"/>
              </a:rPr>
              <a:t>∙ </a:t>
            </a:r>
            <a:r>
              <a:rPr lang="ko-KR" altLang="en-US" sz="2400" b="0" i="0" u="none" strike="noStrike" spc="-96" dirty="0">
                <a:solidFill>
                  <a:srgbClr val="222222"/>
                </a:solidFill>
                <a:ea typeface="Pretendard Regular"/>
              </a:rPr>
              <a:t>동일한 발전 설비라도 지역의 전력 사용 시간대에 따라 효과는 달라짐</a:t>
            </a:r>
            <a:endParaRPr lang="ko-KR" sz="2400" b="0" i="0" u="none" strike="noStrike" spc="-96" dirty="0">
              <a:solidFill>
                <a:srgbClr val="222222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</a:pPr>
            <a:r>
              <a:rPr lang="en-US" sz="2400" b="0" i="0" u="none" strike="noStrike" spc="-96" dirty="0">
                <a:solidFill>
                  <a:srgbClr val="222222"/>
                </a:solidFill>
                <a:latin typeface="Pretendard Regular"/>
              </a:rPr>
              <a:t>∙ </a:t>
            </a:r>
            <a:r>
              <a:rPr lang="ko-KR" altLang="en-US" sz="2400" spc="-96" dirty="0">
                <a:solidFill>
                  <a:srgbClr val="222222"/>
                </a:solidFill>
                <a:ea typeface="Pretendard Regular"/>
              </a:rPr>
              <a:t>에너지 문제는 설비 총량이 아니라 수요가 집중되는 시간대의 구조에서 발생</a:t>
            </a:r>
            <a:endParaRPr lang="en-US" altLang="ko-KR" sz="2400" spc="-96" dirty="0">
              <a:solidFill>
                <a:srgbClr val="222222"/>
              </a:solidFill>
              <a:ea typeface="Pretendard Regular"/>
            </a:endParaRPr>
          </a:p>
          <a:p>
            <a:pPr>
              <a:lnSpc>
                <a:spcPct val="132800"/>
              </a:lnSpc>
            </a:pPr>
            <a:r>
              <a:rPr lang="en-US" altLang="ko-KR" sz="2400" spc="-96" dirty="0">
                <a:solidFill>
                  <a:srgbClr val="222222"/>
                </a:solidFill>
                <a:latin typeface="Pretendard Regular"/>
              </a:rPr>
              <a:t>∙ </a:t>
            </a:r>
            <a:r>
              <a:rPr lang="ko-KR" altLang="en-US" sz="2400" spc="-96" dirty="0">
                <a:solidFill>
                  <a:srgbClr val="222222"/>
                </a:solidFill>
                <a:ea typeface="Pretendard Regular"/>
              </a:rPr>
              <a:t>이를 바탕으로 지역을 </a:t>
            </a:r>
            <a:r>
              <a:rPr lang="en-US" altLang="ko-KR" sz="2400" spc="-96" dirty="0">
                <a:solidFill>
                  <a:srgbClr val="222222"/>
                </a:solidFill>
                <a:ea typeface="Pretendard Regular"/>
              </a:rPr>
              <a:t>Type A·B·C</a:t>
            </a:r>
            <a:r>
              <a:rPr lang="ko-KR" altLang="en-US" sz="2400" spc="-96" dirty="0">
                <a:solidFill>
                  <a:srgbClr val="222222"/>
                </a:solidFill>
                <a:ea typeface="Pretendard Regular"/>
              </a:rPr>
              <a:t>의 에너지 페르소나로 구분</a:t>
            </a:r>
            <a:endParaRPr lang="en-US" altLang="ko-KR" sz="2400" spc="-96" dirty="0">
              <a:solidFill>
                <a:srgbClr val="222222"/>
              </a:solidFill>
              <a:ea typeface="Pretendard Regular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857374" y="8064500"/>
            <a:ext cx="9118600" cy="4445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2533" spc="-76" dirty="0">
                <a:solidFill>
                  <a:srgbClr val="222222"/>
                </a:solidFill>
                <a:ea typeface="Pretendard SemiBold"/>
              </a:rPr>
              <a:t>페르소나 구분의 핵심 가치</a:t>
            </a:r>
            <a:endParaRPr lang="ko-KR" sz="2533" b="0" i="0" u="none" strike="noStrike" spc="-76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857374" y="8851900"/>
            <a:ext cx="6870700" cy="1397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2400" b="0" i="0" u="none" strike="noStrike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400" b="0" i="0" u="none" strike="noStrike" spc="-9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실용성</a:t>
            </a:r>
            <a:r>
              <a:rPr lang="ko-KR" altLang="en-US" sz="2400" b="0" i="0" u="none" strike="noStrike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⇒ </a:t>
            </a:r>
            <a:r>
              <a:rPr lang="ko-KR" altLang="en-US" sz="24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실제 전력 사용 데이터 기반의 현실적인 구분</a:t>
            </a:r>
            <a:endParaRPr lang="ko-KR" sz="2400" b="0" i="0" u="none" strike="noStrike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32800"/>
              </a:lnSpc>
            </a:pPr>
            <a:r>
              <a:rPr lang="en-US" sz="2400" b="0" i="0" u="none" strike="noStrike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400" spc="-9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차별화</a:t>
            </a:r>
            <a:r>
              <a:rPr lang="ko-KR" altLang="en-US" sz="24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⇒ 단일 해법이 아닌 유형별 맞춤 전략 가능</a:t>
            </a:r>
            <a:endParaRPr lang="ko-KR" sz="2400" b="0" i="0" u="none" strike="noStrike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32800"/>
              </a:lnSpc>
            </a:pPr>
            <a:r>
              <a:rPr lang="en-US" sz="2400" b="0" i="0" u="none" strike="noStrike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400" spc="-9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지속성</a:t>
            </a:r>
            <a:r>
              <a:rPr lang="ko-KR" altLang="en-US" sz="2400" spc="-96" dirty="0">
                <a:solidFill>
                  <a:srgbClr val="222222"/>
                </a:solidFill>
                <a:ea typeface="Pretendard Regular"/>
              </a:rPr>
              <a:t> </a:t>
            </a:r>
            <a:r>
              <a:rPr lang="ko-KR" altLang="en-US" sz="24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⇒</a:t>
            </a:r>
            <a:r>
              <a:rPr lang="ko-KR" altLang="en-US" sz="2400" spc="-96" dirty="0">
                <a:solidFill>
                  <a:srgbClr val="222222"/>
                </a:solidFill>
                <a:ea typeface="Pretendard Regular"/>
              </a:rPr>
              <a:t> 설비 증설이 아닌 운영 개선 중심 접근</a:t>
            </a:r>
            <a:endParaRPr lang="en-US" sz="2400" b="0" i="0" u="none" strike="noStrike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82700" y="1968500"/>
            <a:ext cx="16370300" cy="9525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에너지 페르소나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(Type A·B·C)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개념 및 운영 방향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시간대별 전력 수요 구조 차이를 기반으로 한 유형별 에너지 운영 전략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012</a:t>
            </a:r>
          </a:p>
        </p:txBody>
      </p:sp>
      <p:sp>
        <p:nvSpPr>
          <p:cNvPr id="48" name="TextBox 71">
            <a:extLst>
              <a:ext uri="{FF2B5EF4-FFF2-40B4-BE49-F238E27FC236}">
                <a16:creationId xmlns:a16="http://schemas.microsoft.com/office/drawing/2014/main" id="{0D0C3C5F-D2A3-5C4A-A57D-A7F06072705C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[Targeting]  Energy Persona Concept &amp; Direction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cxnSp>
        <p:nvCxnSpPr>
          <p:cNvPr id="50" name="꺾인 연결선 49"/>
          <p:cNvCxnSpPr>
            <a:stCxn id="25" idx="0"/>
            <a:endCxn id="27" idx="0"/>
          </p:cNvCxnSpPr>
          <p:nvPr/>
        </p:nvCxnSpPr>
        <p:spPr>
          <a:xfrm rot="5400000" flipH="1" flipV="1">
            <a:off x="17937956" y="4036219"/>
            <a:ext cx="12700" cy="6735763"/>
          </a:xfrm>
          <a:prstGeom prst="bentConnector3">
            <a:avLst>
              <a:gd name="adj1" fmla="val 310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>
            <a:stCxn id="21" idx="2"/>
            <a:endCxn id="26" idx="0"/>
          </p:cNvCxnSpPr>
          <p:nvPr/>
        </p:nvCxnSpPr>
        <p:spPr>
          <a:xfrm>
            <a:off x="17964150" y="6299200"/>
            <a:ext cx="0" cy="11049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34"/>
          <p:cNvSpPr txBox="1"/>
          <p:nvPr/>
        </p:nvSpPr>
        <p:spPr>
          <a:xfrm>
            <a:off x="16398478" y="10312400"/>
            <a:ext cx="3131343" cy="1790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32800"/>
              </a:lnSpc>
            </a:pPr>
            <a:r>
              <a:rPr lang="en-US" altLang="ko-KR" sz="19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저녁 시간대 수요 집중으로 태양광 증설만으로는 한계 존재</a:t>
            </a:r>
            <a:endParaRPr lang="en-US" altLang="ko-KR" sz="19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ko-KR" altLang="ko-KR" sz="1900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32800"/>
              </a:lnSpc>
            </a:pPr>
            <a:r>
              <a:rPr lang="en-US" altLang="ko-KR" sz="19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en-US" altLang="ko-KR" sz="1900" dirty="0">
                <a:latin typeface="Pretendard Regular" panose="020B0600000101010101" charset="-127"/>
                <a:ea typeface="Pretendard Regular" panose="020B0600000101010101" charset="-127"/>
              </a:rPr>
              <a:t>ESS·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제어 자원 등 시간대 </a:t>
            </a:r>
            <a:r>
              <a:rPr lang="ko-KR" altLang="en-US" sz="1900" dirty="0" err="1">
                <a:latin typeface="Pretendard Regular" panose="020B0600000101010101" charset="-127"/>
                <a:ea typeface="Pretendard Regular" panose="020B0600000101010101" charset="-127"/>
              </a:rPr>
              <a:t>대응형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 운영 전략이 핵심</a:t>
            </a:r>
          </a:p>
          <a:p>
            <a:pPr lvl="0">
              <a:lnSpc>
                <a:spcPct val="132800"/>
              </a:lnSpc>
            </a:pPr>
            <a:endParaRPr lang="ko-KR" altLang="ko-KR" sz="1900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63" name="TextBox 34"/>
          <p:cNvSpPr txBox="1"/>
          <p:nvPr/>
        </p:nvSpPr>
        <p:spPr>
          <a:xfrm>
            <a:off x="19800095" y="10287001"/>
            <a:ext cx="2990056" cy="1790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32800"/>
              </a:lnSpc>
            </a:pPr>
            <a:r>
              <a:rPr lang="en-US" altLang="ko-KR" sz="19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주간</a:t>
            </a:r>
            <a:r>
              <a:rPr lang="en-US" altLang="ko-KR" sz="190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저녁 수요가 혼재된 중간 유형</a:t>
            </a:r>
            <a:endParaRPr lang="en-US" altLang="ko-KR" sz="19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ko-KR" altLang="ko-KR" sz="1900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32800"/>
              </a:lnSpc>
            </a:pPr>
            <a:r>
              <a:rPr lang="en-US" altLang="ko-KR" sz="19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1900" dirty="0">
                <a:latin typeface="Pretendard Regular" panose="020B0600000101010101" charset="-127"/>
                <a:ea typeface="Pretendard Regular" panose="020B0600000101010101" charset="-127"/>
              </a:rPr>
              <a:t>단일 설비보다 자원 조합 기반 유연한 운영이 효과적</a:t>
            </a:r>
          </a:p>
          <a:p>
            <a:pPr lvl="0">
              <a:lnSpc>
                <a:spcPct val="132800"/>
              </a:lnSpc>
            </a:pPr>
            <a:endParaRPr lang="ko-KR" altLang="ko-KR" sz="1900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1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7063" y="7696201"/>
            <a:ext cx="717549" cy="717549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>
          <a:blip r:embed="rId2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9952" y="7691706"/>
            <a:ext cx="690295" cy="690295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2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9369" y="7691706"/>
            <a:ext cx="690295" cy="6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A79AC-6914-EF86-8087-FE25B340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>
            <a:extLst>
              <a:ext uri="{FF2B5EF4-FFF2-40B4-BE49-F238E27FC236}">
                <a16:creationId xmlns:a16="http://schemas.microsoft.com/office/drawing/2014/main" id="{462589C2-AB26-EC92-D93B-37F8129A5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4215850"/>
            <a:ext cx="10947400" cy="87381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149" y="4965638"/>
            <a:ext cx="7810500" cy="6434666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CA74D8BC-97BA-A6FA-5E92-40D79CD81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162" y="4215850"/>
            <a:ext cx="10947400" cy="8738150"/>
          </a:xfrm>
          <a:prstGeom prst="rect">
            <a:avLst/>
          </a:prstGeom>
        </p:spPr>
      </p:pic>
      <p:sp>
        <p:nvSpPr>
          <p:cNvPr id="7" name="TextBox 30">
            <a:extLst>
              <a:ext uri="{FF2B5EF4-FFF2-40B4-BE49-F238E27FC236}">
                <a16:creationId xmlns:a16="http://schemas.microsoft.com/office/drawing/2014/main" id="{9BDE83D4-4718-AFF9-3AF7-35C23EDFF5F9}"/>
              </a:ext>
            </a:extLst>
          </p:cNvPr>
          <p:cNvSpPr txBox="1"/>
          <p:nvPr/>
        </p:nvSpPr>
        <p:spPr>
          <a:xfrm>
            <a:off x="1338874" y="4383026"/>
            <a:ext cx="8978900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서울시 시각화 이미지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3350" y="5167821"/>
            <a:ext cx="7810501" cy="6434666"/>
          </a:xfrm>
          <a:prstGeom prst="rect">
            <a:avLst/>
          </a:prstGeom>
        </p:spPr>
      </p:pic>
      <p:sp>
        <p:nvSpPr>
          <p:cNvPr id="47" name="TextBox 30">
            <a:extLst>
              <a:ext uri="{FF2B5EF4-FFF2-40B4-BE49-F238E27FC236}">
                <a16:creationId xmlns:a16="http://schemas.microsoft.com/office/drawing/2014/main" id="{01246740-E29C-9DB8-5AE8-4F09194844DD}"/>
              </a:ext>
            </a:extLst>
          </p:cNvPr>
          <p:cNvSpPr txBox="1"/>
          <p:nvPr/>
        </p:nvSpPr>
        <p:spPr>
          <a:xfrm>
            <a:off x="13003336" y="4442842"/>
            <a:ext cx="8978900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TOP3 </a:t>
            </a: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대표 지역 이미지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8" name="TextBox 30">
            <a:extLst>
              <a:ext uri="{FF2B5EF4-FFF2-40B4-BE49-F238E27FC236}">
                <a16:creationId xmlns:a16="http://schemas.microsoft.com/office/drawing/2014/main" id="{01246740-E29C-9DB8-5AE8-4F09194844DD}"/>
              </a:ext>
            </a:extLst>
          </p:cNvPr>
          <p:cNvSpPr txBox="1"/>
          <p:nvPr/>
        </p:nvSpPr>
        <p:spPr>
          <a:xfrm>
            <a:off x="13003336" y="5020204"/>
            <a:ext cx="8978900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400" b="0" i="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Representative </a:t>
            </a:r>
            <a:r>
              <a:rPr lang="en-US" altLang="ko-KR" sz="24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Areas (Top3 per Type)</a:t>
            </a:r>
            <a:endParaRPr lang="ko-KR" sz="2400" b="0" i="0" u="none" strike="noStrike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94A0DCF-FD65-1125-8401-D423E5ADB8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1B4C8DE-D753-FC7D-15AA-C623410042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12028529"/>
            <a:ext cx="10947400" cy="9779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20D30474-3CB8-2244-0FC2-0407E7E73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47600" y="12011066"/>
            <a:ext cx="10934700" cy="9779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CF613572-DF41-854E-72BF-10F2DF46CA2B}"/>
              </a:ext>
            </a:extLst>
          </p:cNvPr>
          <p:cNvSpPr txBox="1"/>
          <p:nvPr/>
        </p:nvSpPr>
        <p:spPr>
          <a:xfrm>
            <a:off x="12920795" y="12284116"/>
            <a:ext cx="10134921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유형 분류는 일부 지역의 특성이 아닌</a:t>
            </a:r>
            <a:r>
              <a:rPr lang="en-US" altLang="ko-KR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극단값에서도 유지되는 구조적 패턴 검증</a:t>
            </a:r>
            <a:endParaRPr lang="en-US" sz="25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8394AAEA-697D-DA07-1145-DCA62D379381}"/>
              </a:ext>
            </a:extLst>
          </p:cNvPr>
          <p:cNvSpPr txBox="1"/>
          <p:nvPr/>
        </p:nvSpPr>
        <p:spPr>
          <a:xfrm>
            <a:off x="1367686" y="12307929"/>
            <a:ext cx="10015427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5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서울시</a:t>
            </a:r>
            <a:r>
              <a:rPr lang="en-US" altLang="ko-KR" sz="25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5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 수요는 총량이 아닌 시간대 구조에 따라 공간적으로 분화됨</a:t>
            </a:r>
            <a:endParaRPr lang="en-US" sz="25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314F18A-647D-932E-4B5F-88C07BAFDDD6}"/>
              </a:ext>
            </a:extLst>
          </p:cNvPr>
          <p:cNvSpPr txBox="1"/>
          <p:nvPr/>
        </p:nvSpPr>
        <p:spPr>
          <a:xfrm>
            <a:off x="1282700" y="1968500"/>
            <a:ext cx="13804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서울시 전력 수요 유형 분포 및 대표 지역 검증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2B9D447A-9B34-138C-7049-94F68CB6F512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(Time-of-Day)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기반 수요 구조에 따른 공간적 분화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4E7F026D-3E0E-6A54-7216-E82322B162C6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013</a:t>
            </a:r>
          </a:p>
        </p:txBody>
      </p:sp>
      <p:sp>
        <p:nvSpPr>
          <p:cNvPr id="28" name="TextBox 71">
            <a:extLst>
              <a:ext uri="{FF2B5EF4-FFF2-40B4-BE49-F238E27FC236}">
                <a16:creationId xmlns:a16="http://schemas.microsoft.com/office/drawing/2014/main" id="{0D0C3C5F-D2A3-5C4A-A57D-A7F06072705C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[Targeting]  Spatial Validation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51551" y="11382198"/>
            <a:ext cx="57975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서울시 전 구(區)를 시간대별 전력 수요 비중 기준으로 유형화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주간·저녁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수요 구조 차이에 따라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Type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A·B·C 분포 확인</a:t>
            </a:r>
          </a:p>
        </p:txBody>
      </p:sp>
      <p:sp>
        <p:nvSpPr>
          <p:cNvPr id="49" name="Rectangle 1"/>
          <p:cNvSpPr>
            <a:spLocks noChangeArrowheads="1"/>
          </p:cNvSpPr>
          <p:nvPr/>
        </p:nvSpPr>
        <p:spPr bwMode="auto">
          <a:xfrm>
            <a:off x="17471571" y="11382198"/>
            <a:ext cx="60107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각 유형에서 시간대 특성이 가장 뚜렷한 상위 지역</a:t>
            </a:r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(Top 3) 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선정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전체 분포와 동일한 수요 시간대 패턴 유지 여부 확인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B294630B-C70E-ADDA-41B4-540EB9369FD7}"/>
              </a:ext>
            </a:extLst>
          </p:cNvPr>
          <p:cNvSpPr txBox="1"/>
          <p:nvPr/>
        </p:nvSpPr>
        <p:spPr>
          <a:xfrm>
            <a:off x="1338874" y="4960388"/>
            <a:ext cx="8978900" cy="596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en-US" altLang="ko-KR" sz="24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Seoul Energy Persona Map (Type A·B·C)</a:t>
            </a:r>
            <a:endParaRPr lang="ko-KR" altLang="ko-KR" sz="24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9838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6D35-3C7F-944C-06B5-B14AFBCC2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1206383-0F15-67E9-FB37-FFCB42C85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8E774A6-13F6-359A-CC24-B201B4749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C0AA2486-17D7-A578-CCAB-DF9E6F370C0F}"/>
              </a:ext>
            </a:extLst>
          </p:cNvPr>
          <p:cNvSpPr txBox="1"/>
          <p:nvPr/>
        </p:nvSpPr>
        <p:spPr>
          <a:xfrm>
            <a:off x="1282700" y="1968500"/>
            <a:ext cx="151003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공간적 부하 특성 유형화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(Spatial Load Typology)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E0B74F97-9416-D4FC-ED47-0BE9B5C2D6EC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서울시 행정동별 전력 데이터 군집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(Clustering)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결과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0D0C3C5F-D2A3-5C4A-A57D-A7F06072705C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[Targeting] Beyond the Average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795785B-5C28-71EC-E335-2E1D169CD8A8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014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22D2124A-4E13-9DBE-29F1-1EA16575C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6100"/>
            <a:ext cx="22593300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AAA7F23F-A622-358E-D675-EAD847472D51}"/>
              </a:ext>
            </a:extLst>
          </p:cNvPr>
          <p:cNvSpPr txBox="1"/>
          <p:nvPr/>
        </p:nvSpPr>
        <p:spPr>
          <a:xfrm>
            <a:off x="2330450" y="12192000"/>
            <a:ext cx="197358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서울시는 지역 특성에 따라 뚜렷하게  구분되는 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가지 부하 패턴을 가짐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 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특히 저녁 피크가 집중되는 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B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핵심 타겟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9" name="그림 8" descr="그래프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28237C-53C3-75ED-659C-CADE5EDC19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319" y="4324185"/>
            <a:ext cx="21212062" cy="752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59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2F661-47E9-1A65-DB75-D40C54CC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>
            <a:extLst>
              <a:ext uri="{FF2B5EF4-FFF2-40B4-BE49-F238E27FC236}">
                <a16:creationId xmlns:a16="http://schemas.microsoft.com/office/drawing/2014/main" id="{BAB3CC54-96D2-69CB-9633-9ED86900B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4215850"/>
            <a:ext cx="10947400" cy="8738150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617E8F7D-7645-C9EC-E5AD-CF89CF285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162" y="4215850"/>
            <a:ext cx="10947400" cy="8738150"/>
          </a:xfrm>
          <a:prstGeom prst="rect">
            <a:avLst/>
          </a:prstGeom>
        </p:spPr>
      </p:pic>
      <p:sp>
        <p:nvSpPr>
          <p:cNvPr id="26" name="TextBox 32">
            <a:extLst>
              <a:ext uri="{FF2B5EF4-FFF2-40B4-BE49-F238E27FC236}">
                <a16:creationId xmlns:a16="http://schemas.microsoft.com/office/drawing/2014/main" id="{3AA1A510-F6DD-A237-A072-2F477D8C59A0}"/>
              </a:ext>
            </a:extLst>
          </p:cNvPr>
          <p:cNvSpPr txBox="1"/>
          <p:nvPr/>
        </p:nvSpPr>
        <p:spPr>
          <a:xfrm>
            <a:off x="1295400" y="8261350"/>
            <a:ext cx="10134600" cy="1270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8650"/>
              </a:lnSpc>
            </a:pP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부하 집중도</a:t>
            </a:r>
            <a:r>
              <a: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(Median: 25% +)</a:t>
            </a: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타 유형 대비 압도적으로 높음</a:t>
            </a:r>
            <a:endParaRPr lang="en-US" altLang="ko-KR" sz="2133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28650"/>
              </a:lnSpc>
            </a:pP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집단 내 편차가 적어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(Box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좁음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), 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해당 유형 지역 전체에 보편적 적용 가능</a:t>
            </a:r>
            <a:endParaRPr lang="en-US" altLang="ko-KR" sz="2133" b="0" i="0" u="none" strike="noStrike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28650"/>
              </a:lnSpc>
            </a:pP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지역</a:t>
            </a:r>
            <a:r>
              <a: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중계동</a:t>
            </a:r>
            <a:r>
              <a: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묵동</a:t>
            </a:r>
            <a:r>
              <a: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금호동</a:t>
            </a:r>
            <a:endParaRPr lang="ko-KR" altLang="ko-KR" sz="2133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A489E09-981B-BCC3-1B43-20E34DD0B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407A139-C4A1-3395-71D9-5F3604D25D5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282700" y="5588000"/>
            <a:ext cx="10134600" cy="635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CA0DEEE-1C5F-9B25-3D04-C8A7909E8CF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282700" y="7594600"/>
            <a:ext cx="10134600" cy="6350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C0220D7B-7E81-0DB6-8A56-CA39B7A26BC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282700" y="9588500"/>
            <a:ext cx="10134600" cy="635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ABBF76-7B9A-C0CC-9F93-DBA7FFB03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1976100"/>
            <a:ext cx="10947400" cy="9779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1A13ABDB-0C4C-2A3A-22D3-57635B270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178550" y="11506200"/>
            <a:ext cx="292100" cy="4699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8810BBE4-6B06-CBC7-3A72-8C82B4B96D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60300" y="11976100"/>
            <a:ext cx="10922000" cy="9779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E2074603-E2B1-C86E-DEBD-D9362BF622BA}"/>
              </a:ext>
            </a:extLst>
          </p:cNvPr>
          <p:cNvSpPr txBox="1"/>
          <p:nvPr/>
        </p:nvSpPr>
        <p:spPr>
          <a:xfrm>
            <a:off x="13339507" y="12255500"/>
            <a:ext cx="9363585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통계적 유의성 검증을 통해</a:t>
            </a:r>
            <a:r>
              <a:rPr lang="en-US" altLang="ko-KR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Type B</a:t>
            </a: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지역의 피크 집중 현상이 </a:t>
            </a:r>
            <a:endParaRPr lang="en-US" altLang="ko-KR" sz="2530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개별 행정동의 예외 사례가 아닌 구조적 특징</a:t>
            </a:r>
            <a:endParaRPr lang="en-US" sz="25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236957C-D827-657A-EA0D-E775CF2EFD85}"/>
              </a:ext>
            </a:extLst>
          </p:cNvPr>
          <p:cNvSpPr txBox="1"/>
          <p:nvPr/>
        </p:nvSpPr>
        <p:spPr>
          <a:xfrm>
            <a:off x="1270000" y="42862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분석 인사이트 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(key Insights)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5CCF820-AA8B-7255-7293-3609139F9E8C}"/>
              </a:ext>
            </a:extLst>
          </p:cNvPr>
          <p:cNvSpPr txBox="1"/>
          <p:nvPr/>
        </p:nvSpPr>
        <p:spPr>
          <a:xfrm>
            <a:off x="2089150" y="5702300"/>
            <a:ext cx="8470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A (Commercial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|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상업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2400" b="0" i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DB9E8BB-4A52-5DB6-3093-6CA4A19C49F8}"/>
              </a:ext>
            </a:extLst>
          </p:cNvPr>
          <p:cNvSpPr txBox="1"/>
          <p:nvPr/>
        </p:nvSpPr>
        <p:spPr>
          <a:xfrm>
            <a:off x="1295400" y="6280150"/>
            <a:ext cx="10134600" cy="1270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8650"/>
              </a:lnSpc>
            </a:pP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주간 조업 및 상업 활동 중심의 부하구조</a:t>
            </a:r>
            <a:endParaRPr lang="en-US" altLang="ko-KR" sz="2133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28650"/>
              </a:lnSpc>
            </a:pP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비중이 가장 낮아 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 이동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(Time-shift) 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효율 저조</a:t>
            </a:r>
            <a:endParaRPr lang="en-US" altLang="ko-KR" sz="2133" b="0" i="0" u="none" strike="noStrike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28650"/>
              </a:lnSpc>
            </a:pP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지역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입정동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장사동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남대문로</a:t>
            </a:r>
            <a:endParaRPr lang="ko-KR" sz="2133" b="0" i="0" u="none" strike="noStrike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BD9A378-0AAD-8671-3619-4E2D0AE9BBF6}"/>
              </a:ext>
            </a:extLst>
          </p:cNvPr>
          <p:cNvSpPr txBox="1"/>
          <p:nvPr/>
        </p:nvSpPr>
        <p:spPr>
          <a:xfrm>
            <a:off x="2089150" y="7708900"/>
            <a:ext cx="8470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400" spc="-72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B (Residential</a:t>
            </a:r>
            <a:r>
              <a:rPr lang="ko-KR" altLang="en-US" sz="2400" spc="-72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400" spc="-72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|</a:t>
            </a:r>
            <a:r>
              <a:rPr lang="ko-KR" altLang="en-US" sz="2400" spc="-72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주거</a:t>
            </a:r>
            <a:r>
              <a:rPr lang="en-US" altLang="ko-KR" sz="2400" spc="-72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2400" b="0" i="0" u="none" strike="noStrike" spc="-72" dirty="0">
              <a:solidFill>
                <a:srgbClr val="8C2828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3337164-D95C-1A9F-CD99-6442A80F91FB}"/>
              </a:ext>
            </a:extLst>
          </p:cNvPr>
          <p:cNvSpPr txBox="1"/>
          <p:nvPr/>
        </p:nvSpPr>
        <p:spPr>
          <a:xfrm>
            <a:off x="2089150" y="9702800"/>
            <a:ext cx="8470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C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(Mixed |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혼합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2400" b="0" i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198EFD9-7A23-5B00-2EED-D2B288770507}"/>
              </a:ext>
            </a:extLst>
          </p:cNvPr>
          <p:cNvSpPr txBox="1"/>
          <p:nvPr/>
        </p:nvSpPr>
        <p:spPr>
          <a:xfrm>
            <a:off x="1524000" y="12255500"/>
            <a:ext cx="96901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5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분석 결과</a:t>
            </a:r>
            <a:r>
              <a:rPr lang="en-US" altLang="ko-KR" sz="25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Type </a:t>
            </a:r>
            <a:r>
              <a:rPr lang="en-US" altLang="ko-KR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B</a:t>
            </a:r>
            <a:r>
              <a:rPr lang="ko-KR" altLang="en-US" sz="25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는 단순 주거지가 아닌 저녁 피크 리스크를 공유하는</a:t>
            </a:r>
            <a:endParaRPr lang="en-US" altLang="ko-KR" sz="2530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sz="25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“ESS </a:t>
            </a:r>
            <a:r>
              <a:rPr lang="ko-KR" altLang="en-US" sz="25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전략 자원 집단</a:t>
            </a:r>
            <a:r>
              <a:rPr lang="en-US" sz="25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45A2C0A-0B3D-A162-56BC-8A9A7C19B6BB}"/>
              </a:ext>
            </a:extLst>
          </p:cNvPr>
          <p:cNvSpPr txBox="1"/>
          <p:nvPr/>
        </p:nvSpPr>
        <p:spPr>
          <a:xfrm>
            <a:off x="1282700" y="1968500"/>
            <a:ext cx="17995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유형별 부하 패턴의 통계적 유의성 검증 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F56C996-A7A0-9E1F-EC98-DD913FF23B6A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행정동별 저녁 시간대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(18-22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부하 비중 분석 및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타겟팅 근거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1F15B919-83AD-E7F4-D5D5-A5198AB6AF48}"/>
              </a:ext>
            </a:extLst>
          </p:cNvPr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2000" b="0" i="0" u="none" strike="noStrike" dirty="0">
                <a:solidFill>
                  <a:srgbClr val="FFFFFF"/>
                </a:solidFill>
                <a:latin typeface="Gmarket Sans Bold"/>
              </a:rPr>
              <a:t>[Targeting] </a:t>
            </a:r>
            <a:r>
              <a:rPr lang="en-US" sz="2000" dirty="0">
                <a:solidFill>
                  <a:srgbClr val="FFFFFF"/>
                </a:solidFill>
                <a:latin typeface="Gmarket Sans Bold"/>
              </a:rPr>
              <a:t>Statistical Verification</a:t>
            </a:r>
            <a:endParaRPr lang="en" sz="2000" b="0" i="0" u="none" strike="noStrike" dirty="0">
              <a:solidFill>
                <a:srgbClr val="FFFFFF"/>
              </a:solidFill>
              <a:latin typeface="Gmarket Sans Bold"/>
            </a:endParaRP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DA2E137A-C912-F27A-4BD0-8D16A07CB4A6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015</a:t>
            </a:r>
          </a:p>
        </p:txBody>
      </p:sp>
      <p:pic>
        <p:nvPicPr>
          <p:cNvPr id="25" name="그림 24" descr="스크린샷, 텍스트, 직사각형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0947D1-F1DE-3A1B-9CEE-110990CD95F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6592" y="4965700"/>
            <a:ext cx="10182008" cy="6921003"/>
          </a:xfrm>
          <a:prstGeom prst="rect">
            <a:avLst/>
          </a:prstGeom>
        </p:spPr>
      </p:pic>
      <p:sp>
        <p:nvSpPr>
          <p:cNvPr id="28" name="TextBox 32">
            <a:extLst>
              <a:ext uri="{FF2B5EF4-FFF2-40B4-BE49-F238E27FC236}">
                <a16:creationId xmlns:a16="http://schemas.microsoft.com/office/drawing/2014/main" id="{7F478F0B-3DF8-1E1E-8042-9CB6A9B654AD}"/>
              </a:ext>
            </a:extLst>
          </p:cNvPr>
          <p:cNvSpPr txBox="1"/>
          <p:nvPr/>
        </p:nvSpPr>
        <p:spPr>
          <a:xfrm>
            <a:off x="1295400" y="10191750"/>
            <a:ext cx="10134600" cy="1270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8650"/>
              </a:lnSpc>
            </a:pP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주거와 상업 부하가 상쇄되어 균형을 이룸</a:t>
            </a:r>
            <a:endParaRPr lang="en-US" altLang="ko-KR" sz="2133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28650"/>
              </a:lnSpc>
            </a:pP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특정 피크 시간대가 모호하여 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DR(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수요반응</a:t>
            </a:r>
            <a:r>
              <a:rPr lang="en-US" alt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 </a:t>
            </a:r>
            <a:r>
              <a:rPr lang="ko-KR" altLang="en-US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자원이 더 적합</a:t>
            </a:r>
            <a:endParaRPr lang="en-US" altLang="ko-KR" sz="2133" b="0" i="0" u="none" strike="noStrike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>
              <a:lnSpc>
                <a:spcPct val="128650"/>
              </a:lnSpc>
            </a:pP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지역</a:t>
            </a:r>
            <a:r>
              <a: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현석동</a:t>
            </a:r>
            <a:r>
              <a: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항동</a:t>
            </a:r>
            <a:r>
              <a: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하중동</a:t>
            </a:r>
            <a:endParaRPr lang="ko-KR" altLang="ko-KR" sz="2133" spc="-85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9" name="TextBox 30">
            <a:extLst>
              <a:ext uri="{FF2B5EF4-FFF2-40B4-BE49-F238E27FC236}">
                <a16:creationId xmlns:a16="http://schemas.microsoft.com/office/drawing/2014/main" id="{0F82A0AB-4A6E-E8FB-9046-013E638D73E6}"/>
              </a:ext>
            </a:extLst>
          </p:cNvPr>
          <p:cNvSpPr txBox="1"/>
          <p:nvPr/>
        </p:nvSpPr>
        <p:spPr>
          <a:xfrm>
            <a:off x="12954000" y="42862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데이터 정합성 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en-US" altLang="ko-KR" sz="3600" dirty="0">
                <a:latin typeface="Pretendard SemiBold" panose="020B0600000101010101" charset="-127"/>
                <a:ea typeface="Pretendard SemiBold" panose="020B0600000101010101" charset="-127"/>
              </a:rPr>
              <a:t>Data consistency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5915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F897D-BA29-5F81-B52F-78920EEE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8632CC5-836F-86E7-8351-8CD08E506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7E4D7EE-C366-525F-B33B-2743D4A41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5109B185-674F-1F40-A327-A520B0BFEF89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최우선 시범 사업지 선정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노원구 중계동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9F557868-7BCE-C6A4-7DC1-49BF111B8B7E}"/>
              </a:ext>
            </a:extLst>
          </p:cNvPr>
          <p:cNvSpPr txBox="1"/>
          <p:nvPr/>
        </p:nvSpPr>
        <p:spPr>
          <a:xfrm>
            <a:off x="1282700" y="3111500"/>
            <a:ext cx="141859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주거 밀집도와 저녁 시간대 부하 집중도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(Evening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Peak Share)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 가장 높은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“Type B”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최적지 도출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7E1EB867-A026-FAF6-7344-1817E1CE24DB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[Targeting] Data-Driven Targeting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C7BD3F26-AE13-88A9-D4C7-8F0E4DE58225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016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4A7EA894-BD4E-732B-6743-58402FA53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21CC05C5-CEBE-89FA-9576-D9DEB2171329}"/>
              </a:ext>
            </a:extLst>
          </p:cNvPr>
          <p:cNvSpPr txBox="1"/>
          <p:nvPr/>
        </p:nvSpPr>
        <p:spPr>
          <a:xfrm>
            <a:off x="3581400" y="12255500"/>
            <a:ext cx="17233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따라서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불일치 해결 모델을 검증하기에 확실한 환경인 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중계동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을 시범 사업지 선정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743A573F-D904-13A2-87CC-72F0933E87BB}"/>
              </a:ext>
            </a:extLst>
          </p:cNvPr>
          <p:cNvSpPr txBox="1"/>
          <p:nvPr/>
        </p:nvSpPr>
        <p:spPr>
          <a:xfrm>
            <a:off x="14218557" y="42862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Selection Logic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7129AF8-088A-6555-48A8-F76C48056D6C}"/>
              </a:ext>
            </a:extLst>
          </p:cNvPr>
          <p:cNvGrpSpPr/>
          <p:nvPr/>
        </p:nvGrpSpPr>
        <p:grpSpPr>
          <a:xfrm>
            <a:off x="14142356" y="5162550"/>
            <a:ext cx="8764815" cy="2428874"/>
            <a:chOff x="14142356" y="5162550"/>
            <a:chExt cx="8764815" cy="2428874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3EB37702-F58C-C345-6CDE-096859069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5162550"/>
              <a:ext cx="8684824" cy="635000"/>
            </a:xfrm>
            <a:prstGeom prst="rect">
              <a:avLst/>
            </a:prstGeom>
          </p:spPr>
        </p:pic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CA0D82E2-D3A2-AAA8-28C5-C5C8EA14DCDD}"/>
                </a:ext>
              </a:extLst>
            </p:cNvPr>
            <p:cNvSpPr txBox="1"/>
            <p:nvPr/>
          </p:nvSpPr>
          <p:spPr>
            <a:xfrm>
              <a:off x="14332857" y="527685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Data Evidence 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데이터 증거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988C305E-40BC-4866-4A91-B27F1FF0D33B}"/>
                </a:ext>
              </a:extLst>
            </p:cNvPr>
            <p:cNvSpPr txBox="1"/>
            <p:nvPr/>
          </p:nvSpPr>
          <p:spPr>
            <a:xfrm>
              <a:off x="14142356" y="5854699"/>
              <a:ext cx="8764815" cy="1736725"/>
            </a:xfrm>
            <a:prstGeom prst="rect">
              <a:avLst/>
            </a:prstGeom>
          </p:spPr>
          <p:txBody>
            <a:bodyPr rtlCol="0" anchor="t"/>
            <a:lstStyle/>
            <a:p>
              <a:pPr lvl="0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Ranking #1: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분석 대상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(Type B)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중 저녁 시간대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(18-22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시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)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전력 소비 비중이 </a:t>
              </a:r>
              <a:endParaRPr lang="en-US" altLang="ko-KR" sz="2133" spc="-85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가장 높음</a:t>
              </a:r>
              <a:endParaRPr lang="en-US" altLang="ko-KR" sz="2133" spc="-85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Extreme Duck Curve: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낮 시간대 전력 수요는 낮고 저녁에 급증하여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태양광 도입 시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“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잉여 전력 문제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”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및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“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저녁 피크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”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동시 발생할 위험이 가장 큼</a:t>
              </a:r>
              <a:endParaRPr lang="en-US" altLang="ko-KR" sz="2133" spc="-85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endParaRPr 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2A3697B-6814-5577-819B-776DF7975A18}"/>
              </a:ext>
            </a:extLst>
          </p:cNvPr>
          <p:cNvGrpSpPr/>
          <p:nvPr/>
        </p:nvGrpSpPr>
        <p:grpSpPr>
          <a:xfrm>
            <a:off x="14142356" y="10242550"/>
            <a:ext cx="8764815" cy="1873250"/>
            <a:chOff x="14142356" y="9588500"/>
            <a:chExt cx="8764815" cy="1873250"/>
          </a:xfrm>
        </p:grpSpPr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DD483492-8A3C-C987-4C07-7D59C016F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9588500"/>
              <a:ext cx="8684824" cy="635000"/>
            </a:xfrm>
            <a:prstGeom prst="rect">
              <a:avLst/>
            </a:prstGeom>
          </p:spPr>
        </p:pic>
        <p:sp>
          <p:nvSpPr>
            <p:cNvPr id="22" name="TextBox 35">
              <a:extLst>
                <a:ext uri="{FF2B5EF4-FFF2-40B4-BE49-F238E27FC236}">
                  <a16:creationId xmlns:a16="http://schemas.microsoft.com/office/drawing/2014/main" id="{A4765357-41B0-A806-C855-3994A45B7027}"/>
                </a:ext>
              </a:extLst>
            </p:cNvPr>
            <p:cNvSpPr txBox="1"/>
            <p:nvPr/>
          </p:nvSpPr>
          <p:spPr>
            <a:xfrm>
              <a:off x="14332857" y="97028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Strategy 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전략적 가치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24" name="TextBox 32">
              <a:extLst>
                <a:ext uri="{FF2B5EF4-FFF2-40B4-BE49-F238E27FC236}">
                  <a16:creationId xmlns:a16="http://schemas.microsoft.com/office/drawing/2014/main" id="{FF7E88F5-DDF7-B169-D7F0-84FF007ED53F}"/>
                </a:ext>
              </a:extLst>
            </p:cNvPr>
            <p:cNvSpPr txBox="1"/>
            <p:nvPr/>
          </p:nvSpPr>
          <p:spPr>
            <a:xfrm>
              <a:off x="14142356" y="10191750"/>
              <a:ext cx="8764815" cy="1270000"/>
            </a:xfrm>
            <a:prstGeom prst="rect">
              <a:avLst/>
            </a:prstGeom>
          </p:spPr>
          <p:txBody>
            <a:bodyPr rtlCol="0" anchor="t"/>
            <a:lstStyle/>
            <a:p>
              <a:pPr lvl="0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Optimal Test-bed: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가장 극단적인 부하 패턴을 가진 곳에서 성공한다면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,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서울시 내 다른 일반 주거 지역으로의  확산 </a:t>
              </a:r>
              <a:endParaRPr lang="en-US" altLang="ko-KR" sz="2133" spc="-85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091FA27-5193-B07D-D99E-268B02595C92}"/>
              </a:ext>
            </a:extLst>
          </p:cNvPr>
          <p:cNvGrpSpPr/>
          <p:nvPr/>
        </p:nvGrpSpPr>
        <p:grpSpPr>
          <a:xfrm>
            <a:off x="14142356" y="7693025"/>
            <a:ext cx="8764815" cy="2447924"/>
            <a:chOff x="14142356" y="7594600"/>
            <a:chExt cx="8764815" cy="2447924"/>
          </a:xfrm>
        </p:grpSpPr>
        <p:sp>
          <p:nvSpPr>
            <p:cNvPr id="7" name="TextBox 32">
              <a:extLst>
                <a:ext uri="{FF2B5EF4-FFF2-40B4-BE49-F238E27FC236}">
                  <a16:creationId xmlns:a16="http://schemas.microsoft.com/office/drawing/2014/main" id="{C195EC59-EA4D-2487-BB20-2FA2F42A6E20}"/>
                </a:ext>
              </a:extLst>
            </p:cNvPr>
            <p:cNvSpPr txBox="1"/>
            <p:nvPr/>
          </p:nvSpPr>
          <p:spPr>
            <a:xfrm>
              <a:off x="14142356" y="8261349"/>
              <a:ext cx="8764815" cy="1781175"/>
            </a:xfrm>
            <a:prstGeom prst="rect">
              <a:avLst/>
            </a:prstGeom>
          </p:spPr>
          <p:txBody>
            <a:bodyPr rtlCol="0" anchor="t"/>
            <a:lstStyle/>
            <a:p>
              <a:pPr lvl="0">
                <a:lnSpc>
                  <a:spcPct val="128650"/>
                </a:lnSpc>
              </a:pPr>
              <a:r>
                <a:rPr lang="en-US" altLang="ko-KR" sz="2133" b="1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Bed Town +Edu Zone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: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대규모 아파트 단지와 은행사거리 학원가가 결합된 특수 상권</a:t>
              </a:r>
              <a:endParaRPr lang="en-US" altLang="ko-KR" sz="2133" spc="-85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Life Pattern: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학생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/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직장인의 늦은 귀가와 학원 운영 시간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(22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시 종료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이 맞물려 심야 직전까지 전력 부하가 지속됨</a:t>
              </a:r>
              <a:endParaRPr lang="en-US" altLang="ko-KR" sz="2133" spc="-85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D1B6C5B2-DA92-D343-59CC-D0A04332D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7594600"/>
              <a:ext cx="8684824" cy="635000"/>
            </a:xfrm>
            <a:prstGeom prst="rect">
              <a:avLst/>
            </a:prstGeom>
          </p:spPr>
        </p:pic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6806B5A9-A227-211D-7FA8-973EEAE2524F}"/>
                </a:ext>
              </a:extLst>
            </p:cNvPr>
            <p:cNvSpPr txBox="1"/>
            <p:nvPr/>
          </p:nvSpPr>
          <p:spPr>
            <a:xfrm>
              <a:off x="14332857" y="77089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Demographics (</a:t>
              </a:r>
              <a:r>
                <a:rPr lang="ko-KR" altLang="en-US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지역 특성</a:t>
              </a: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pic>
        <p:nvPicPr>
          <p:cNvPr id="14" name="그림 1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C4C287-7BFD-A874-0370-B85DBCA3D6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766" y="4811835"/>
            <a:ext cx="12369122" cy="60798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425734-8EF5-6D4A-7A04-46A545C0F802}"/>
              </a:ext>
            </a:extLst>
          </p:cNvPr>
          <p:cNvSpPr txBox="1"/>
          <p:nvPr/>
        </p:nvSpPr>
        <p:spPr>
          <a:xfrm>
            <a:off x="8171690" y="10929299"/>
            <a:ext cx="556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※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Type B (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주거형</a:t>
            </a:r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군집 내 저녁 부하 비중 상위 </a:t>
            </a:r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5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개 행정동</a:t>
            </a:r>
          </a:p>
        </p:txBody>
      </p:sp>
    </p:spTree>
    <p:extLst>
      <p:ext uri="{BB962C8B-B14F-4D97-AF65-F5344CB8AC3E}">
        <p14:creationId xmlns:p14="http://schemas.microsoft.com/office/powerpoint/2010/main" val="963562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">
            <a:extLst>
              <a:ext uri="{FF2B5EF4-FFF2-40B4-BE49-F238E27FC236}">
                <a16:creationId xmlns:a16="http://schemas.microsoft.com/office/drawing/2014/main" id="{82E8B210-7491-3189-AD39-8B2B56245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200" y="4508500"/>
            <a:ext cx="6324600" cy="99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4800" y="4508500"/>
            <a:ext cx="63246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6700" y="4508500"/>
            <a:ext cx="6324600" cy="990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7381875"/>
            <a:ext cx="24003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9226550"/>
            <a:ext cx="24003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11071225"/>
            <a:ext cx="2400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400" y="7353300"/>
            <a:ext cx="61849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8300" y="7353300"/>
            <a:ext cx="61849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52900" y="7353300"/>
            <a:ext cx="61849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400" y="9207500"/>
            <a:ext cx="61849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8300" y="9207500"/>
            <a:ext cx="61849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52900" y="9207500"/>
            <a:ext cx="61849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400" y="11061700"/>
            <a:ext cx="61849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8300" y="11061700"/>
            <a:ext cx="61849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52900" y="11061700"/>
            <a:ext cx="61849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920" y="5500162"/>
            <a:ext cx="24003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12915900"/>
            <a:ext cx="24003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400" y="12915900"/>
            <a:ext cx="61849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8300" y="12915900"/>
            <a:ext cx="61849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52900" y="12915900"/>
            <a:ext cx="61849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422400" y="6102350"/>
            <a:ext cx="27686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3066" b="0" i="0" u="none" strike="noStrike" spc="-123" dirty="0">
                <a:solidFill>
                  <a:srgbClr val="222222"/>
                </a:solidFill>
                <a:ea typeface="Pretendard SemiBold"/>
              </a:rPr>
              <a:t>핵심 개념</a:t>
            </a:r>
            <a:endParaRPr lang="en" sz="3066" b="0" i="0" u="none" strike="noStrike" spc="-123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22400" y="8036460"/>
            <a:ext cx="26162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3066" b="0" i="0" u="none" strike="noStrike" spc="-123" dirty="0">
                <a:solidFill>
                  <a:srgbClr val="222222"/>
                </a:solidFill>
                <a:ea typeface="Pretendard SemiBold"/>
              </a:rPr>
              <a:t>장점</a:t>
            </a:r>
            <a:endParaRPr lang="ko-KR" sz="3066" b="0" i="0" u="none" strike="noStrike" spc="-123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22400" y="9888537"/>
            <a:ext cx="26162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3066" b="0" i="0" u="none" strike="noStrike" spc="-123" dirty="0">
                <a:solidFill>
                  <a:srgbClr val="222222"/>
                </a:solidFill>
                <a:ea typeface="Pretendard SemiBold"/>
              </a:rPr>
              <a:t>치명적 단점</a:t>
            </a:r>
            <a:endParaRPr lang="ko-KR" sz="3066" b="0" i="0" u="none" strike="noStrike" spc="-123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22400" y="11733212"/>
            <a:ext cx="26162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altLang="ko-KR" sz="3066" b="0" i="0" u="none" strike="noStrike" spc="-123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B </a:t>
            </a:r>
            <a:r>
              <a:rPr lang="ko-KR" altLang="en-US" sz="3066" b="0" i="0" u="none" strike="noStrike" spc="-123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적합성</a:t>
            </a:r>
            <a:endParaRPr lang="ko-KR" sz="3066" b="0" i="0" u="none" strike="noStrike" spc="-123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838700" y="58674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전선 굵기 늘리기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변압기 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/ 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선로 용량 증설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838700" y="77851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물리적으로 가장 확실한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용량 확보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054600" y="46736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200" spc="-96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계통 보강</a:t>
            </a:r>
            <a:endParaRPr lang="ko-KR" sz="3200" b="0" i="0" u="none" strike="noStrike" spc="-96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1366500" y="46736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200" spc="-96" dirty="0">
                <a:solidFill>
                  <a:srgbClr val="FFFFFF"/>
                </a:solidFill>
                <a:latin typeface="Pretendard SemiBold"/>
                <a:ea typeface="Pretendard SemiBold"/>
              </a:rPr>
              <a:t>수요 반응</a:t>
            </a:r>
            <a:endParaRPr lang="ko-KR" sz="3200" b="0" i="0" u="none" strike="noStrike" spc="-96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7703800" y="46736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3200" spc="-96" dirty="0">
                <a:solidFill>
                  <a:srgbClr val="FFFFFF"/>
                </a:solidFill>
                <a:latin typeface="Pretendard SemiBold"/>
                <a:ea typeface="Pretendard SemiBold"/>
              </a:rPr>
              <a:t>ESS </a:t>
            </a:r>
            <a:r>
              <a:rPr lang="ko-KR" altLang="en-US" sz="3200" spc="-96" dirty="0">
                <a:solidFill>
                  <a:srgbClr val="FFFFFF"/>
                </a:solidFill>
                <a:latin typeface="Pretendard SemiBold"/>
                <a:ea typeface="Pretendard SemiBold"/>
              </a:rPr>
              <a:t>도입</a:t>
            </a:r>
            <a:endParaRPr lang="ko-KR" sz="3200" b="0" i="0" u="none" strike="noStrike" spc="-96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82700" y="1968500"/>
            <a:ext cx="202057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단순 용량 증설이 아닌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시공간의 불일치를 해결하는 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“Time-Shift” 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솔루션 필요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82700" y="3111500"/>
            <a:ext cx="144907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기존 인프라 증설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(Grid)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과 수요 반응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(DR)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의 한계를 극복하는 유일한 대안은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기반의 유연성 확보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[Solution] Strategy Formulation: Why</a:t>
            </a:r>
            <a:r>
              <a:rPr lang="ko-KR" alt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ESS?</a:t>
            </a:r>
            <a:endParaRPr lang="en" altLang="ko-KR" sz="2000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017</a:t>
            </a:r>
          </a:p>
        </p:txBody>
      </p:sp>
      <p:sp>
        <p:nvSpPr>
          <p:cNvPr id="47" name="TextBox 30">
            <a:extLst>
              <a:ext uri="{FF2B5EF4-FFF2-40B4-BE49-F238E27FC236}">
                <a16:creationId xmlns:a16="http://schemas.microsoft.com/office/drawing/2014/main" id="{F29D43B0-2F77-7A56-5B09-B4F55D71ABC1}"/>
              </a:ext>
            </a:extLst>
          </p:cNvPr>
          <p:cNvSpPr txBox="1"/>
          <p:nvPr/>
        </p:nvSpPr>
        <p:spPr>
          <a:xfrm>
            <a:off x="4838700" y="96393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막대한  공사 비용 및 민원 발생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낮은 이용률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8" name="TextBox 30">
            <a:extLst>
              <a:ext uri="{FF2B5EF4-FFF2-40B4-BE49-F238E27FC236}">
                <a16:creationId xmlns:a16="http://schemas.microsoft.com/office/drawing/2014/main" id="{BBE7CE19-E49D-F1F6-9BEA-AB89EE40BA3C}"/>
              </a:ext>
            </a:extLst>
          </p:cNvPr>
          <p:cNvSpPr txBox="1"/>
          <p:nvPr/>
        </p:nvSpPr>
        <p:spPr>
          <a:xfrm>
            <a:off x="4838700" y="11498262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부적합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이미 포화된 도심지에 추가 공사 불가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9" name="TextBox 27">
            <a:extLst>
              <a:ext uri="{FF2B5EF4-FFF2-40B4-BE49-F238E27FC236}">
                <a16:creationId xmlns:a16="http://schemas.microsoft.com/office/drawing/2014/main" id="{B286249F-6ACF-2795-5D36-0E7805E944E6}"/>
              </a:ext>
            </a:extLst>
          </p:cNvPr>
          <p:cNvSpPr txBox="1"/>
          <p:nvPr/>
        </p:nvSpPr>
        <p:spPr>
          <a:xfrm>
            <a:off x="11201400" y="58674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소비 줄이기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피크 시간대 절전 요청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ED87DF47-3436-8AE8-77D5-E1A762A392EB}"/>
              </a:ext>
            </a:extLst>
          </p:cNvPr>
          <p:cNvSpPr txBox="1"/>
          <p:nvPr/>
        </p:nvSpPr>
        <p:spPr>
          <a:xfrm>
            <a:off x="11201400" y="77851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초기 투자 비용이 거의 없음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(Low Cost)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1" name="TextBox 30">
            <a:extLst>
              <a:ext uri="{FF2B5EF4-FFF2-40B4-BE49-F238E27FC236}">
                <a16:creationId xmlns:a16="http://schemas.microsoft.com/office/drawing/2014/main" id="{E683E809-7E0B-A5CF-3B4C-A77A740578F1}"/>
              </a:ext>
            </a:extLst>
          </p:cNvPr>
          <p:cNvSpPr txBox="1"/>
          <p:nvPr/>
        </p:nvSpPr>
        <p:spPr>
          <a:xfrm>
            <a:off x="11201400" y="96393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참여 불확실성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강제성 없음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2" name="TextBox 30">
            <a:extLst>
              <a:ext uri="{FF2B5EF4-FFF2-40B4-BE49-F238E27FC236}">
                <a16:creationId xmlns:a16="http://schemas.microsoft.com/office/drawing/2014/main" id="{9AFD59FB-F43A-75A1-1CAE-824937BC0D8D}"/>
              </a:ext>
            </a:extLst>
          </p:cNvPr>
          <p:cNvSpPr txBox="1"/>
          <p:nvPr/>
        </p:nvSpPr>
        <p:spPr>
          <a:xfrm>
            <a:off x="11201400" y="11498262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보조 수단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주거 지역 특성상 강제 제어 곤란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3" name="TextBox 27">
            <a:extLst>
              <a:ext uri="{FF2B5EF4-FFF2-40B4-BE49-F238E27FC236}">
                <a16:creationId xmlns:a16="http://schemas.microsoft.com/office/drawing/2014/main" id="{EC0D488A-2B51-4471-D9EE-D806664B9AD5}"/>
              </a:ext>
            </a:extLst>
          </p:cNvPr>
          <p:cNvSpPr txBox="1"/>
          <p:nvPr/>
        </p:nvSpPr>
        <p:spPr>
          <a:xfrm>
            <a:off x="17559981" y="58674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 옮기기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남는 전기를 저장해 피크 시 사용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4" name="TextBox 30">
            <a:extLst>
              <a:ext uri="{FF2B5EF4-FFF2-40B4-BE49-F238E27FC236}">
                <a16:creationId xmlns:a16="http://schemas.microsoft.com/office/drawing/2014/main" id="{89FCFF7F-F057-272D-91B0-1A93799A4F59}"/>
              </a:ext>
            </a:extLst>
          </p:cNvPr>
          <p:cNvSpPr txBox="1"/>
          <p:nvPr/>
        </p:nvSpPr>
        <p:spPr>
          <a:xfrm>
            <a:off x="17559981" y="77851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전력 품질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주파수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개선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즉각적 제어 가능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DC861E9C-B1F3-AFA7-3637-767D27644B18}"/>
              </a:ext>
            </a:extLst>
          </p:cNvPr>
          <p:cNvSpPr txBox="1"/>
          <p:nvPr/>
        </p:nvSpPr>
        <p:spPr>
          <a:xfrm>
            <a:off x="17559981" y="9639300"/>
            <a:ext cx="4927600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높은 초기 설비 투자 비용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화재 등 운영 리스크 관리 필요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6" name="TextBox 30">
            <a:extLst>
              <a:ext uri="{FF2B5EF4-FFF2-40B4-BE49-F238E27FC236}">
                <a16:creationId xmlns:a16="http://schemas.microsoft.com/office/drawing/2014/main" id="{3614DBB5-5D13-1668-D6FA-9A46F72726F2}"/>
              </a:ext>
            </a:extLst>
          </p:cNvPr>
          <p:cNvSpPr txBox="1"/>
          <p:nvPr/>
        </p:nvSpPr>
        <p:spPr>
          <a:xfrm>
            <a:off x="17411871" y="11498262"/>
            <a:ext cx="5223819" cy="101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최적 대안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주거 패턴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피크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을 기술적으로 커버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FC91E32-2EFE-471F-DA82-C5AAF00EC7B1}"/>
              </a:ext>
            </a:extLst>
          </p:cNvPr>
          <p:cNvSpPr/>
          <p:nvPr/>
        </p:nvSpPr>
        <p:spPr>
          <a:xfrm>
            <a:off x="16776700" y="4508500"/>
            <a:ext cx="6311900" cy="8432800"/>
          </a:xfrm>
          <a:prstGeom prst="rect">
            <a:avLst/>
          </a:prstGeom>
          <a:noFill/>
          <a:ln w="63500">
            <a:solidFill>
              <a:srgbClr val="8C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1282700" y="1968500"/>
            <a:ext cx="21170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PV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과 배터리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ESS)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유기적 결합을 통한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자가 소비형 마이크로그리드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EMS(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에너지 관리 시스템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통해 발전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저장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소비의 흐름을 실시간으로 최적 제어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70000" y="901700"/>
            <a:ext cx="10007600" cy="355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2000" b="0" i="0" u="none" strike="noStrike" dirty="0">
                <a:solidFill>
                  <a:srgbClr val="FFFFFF"/>
                </a:solidFill>
                <a:latin typeface="Gmarket Sans Bold"/>
              </a:rPr>
              <a:t>[Solution] Concept Design:  Distributed Energy Mix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018</a:t>
            </a:r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F87D9378-9467-3700-8C5B-911BC3C9B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860" y="4191000"/>
            <a:ext cx="6324600" cy="990600"/>
          </a:xfrm>
          <a:prstGeom prst="rect">
            <a:avLst/>
          </a:prstGeom>
        </p:spPr>
      </p:pic>
      <p:pic>
        <p:nvPicPr>
          <p:cNvPr id="74" name="Picture 4">
            <a:extLst>
              <a:ext uri="{FF2B5EF4-FFF2-40B4-BE49-F238E27FC236}">
                <a16:creationId xmlns:a16="http://schemas.microsoft.com/office/drawing/2014/main" id="{1E9E1231-D3F8-50D0-AD36-DE5B1C4C3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110" y="4191000"/>
            <a:ext cx="6324600" cy="990600"/>
          </a:xfrm>
          <a:prstGeom prst="rect">
            <a:avLst/>
          </a:prstGeom>
        </p:spPr>
      </p:pic>
      <p:pic>
        <p:nvPicPr>
          <p:cNvPr id="75" name="Picture 5">
            <a:extLst>
              <a:ext uri="{FF2B5EF4-FFF2-40B4-BE49-F238E27FC236}">
                <a16:creationId xmlns:a16="http://schemas.microsoft.com/office/drawing/2014/main" id="{3F386C60-C6CF-C79B-C312-A111AB7C1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3360" y="4191000"/>
            <a:ext cx="6324600" cy="990600"/>
          </a:xfrm>
          <a:prstGeom prst="rect">
            <a:avLst/>
          </a:prstGeom>
        </p:spPr>
      </p:pic>
      <p:pic>
        <p:nvPicPr>
          <p:cNvPr id="76" name="Picture 9">
            <a:extLst>
              <a:ext uri="{FF2B5EF4-FFF2-40B4-BE49-F238E27FC236}">
                <a16:creationId xmlns:a16="http://schemas.microsoft.com/office/drawing/2014/main" id="{538FAAAD-C477-6480-5A53-C0268EF58F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60" y="6274555"/>
            <a:ext cx="6184900" cy="25400"/>
          </a:xfrm>
          <a:prstGeom prst="rect">
            <a:avLst/>
          </a:prstGeom>
        </p:spPr>
      </p:pic>
      <p:pic>
        <p:nvPicPr>
          <p:cNvPr id="77" name="Picture 10">
            <a:extLst>
              <a:ext uri="{FF2B5EF4-FFF2-40B4-BE49-F238E27FC236}">
                <a16:creationId xmlns:a16="http://schemas.microsoft.com/office/drawing/2014/main" id="{C615F3AE-7D67-0746-9B52-47ACB3E0B4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960" y="6274555"/>
            <a:ext cx="6184900" cy="25400"/>
          </a:xfrm>
          <a:prstGeom prst="rect">
            <a:avLst/>
          </a:prstGeom>
        </p:spPr>
      </p:pic>
      <p:pic>
        <p:nvPicPr>
          <p:cNvPr id="78" name="Picture 11">
            <a:extLst>
              <a:ext uri="{FF2B5EF4-FFF2-40B4-BE49-F238E27FC236}">
                <a16:creationId xmlns:a16="http://schemas.microsoft.com/office/drawing/2014/main" id="{AA8CD816-F75F-B649-5799-BE8A4230D0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9560" y="6274555"/>
            <a:ext cx="6184900" cy="25400"/>
          </a:xfrm>
          <a:prstGeom prst="rect">
            <a:avLst/>
          </a:prstGeom>
        </p:spPr>
      </p:pic>
      <p:sp>
        <p:nvSpPr>
          <p:cNvPr id="88" name="TextBox 27">
            <a:extLst>
              <a:ext uri="{FF2B5EF4-FFF2-40B4-BE49-F238E27FC236}">
                <a16:creationId xmlns:a16="http://schemas.microsoft.com/office/drawing/2014/main" id="{0E009A43-C09A-E42A-37A2-2703C7A72B3F}"/>
              </a:ext>
            </a:extLst>
          </p:cNvPr>
          <p:cNvSpPr txBox="1"/>
          <p:nvPr/>
        </p:nvSpPr>
        <p:spPr>
          <a:xfrm>
            <a:off x="7943610" y="5450039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발전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저장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소비 흐름 실시간 제어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90" name="TextBox 39">
            <a:extLst>
              <a:ext uri="{FF2B5EF4-FFF2-40B4-BE49-F238E27FC236}">
                <a16:creationId xmlns:a16="http://schemas.microsoft.com/office/drawing/2014/main" id="{D8788DAF-58FC-9419-54F1-10F544FCA5FA}"/>
              </a:ext>
            </a:extLst>
          </p:cNvPr>
          <p:cNvSpPr txBox="1"/>
          <p:nvPr/>
        </p:nvSpPr>
        <p:spPr>
          <a:xfrm>
            <a:off x="1841260" y="43561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200" spc="-96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구성 요소</a:t>
            </a:r>
            <a:endParaRPr lang="ko-KR" sz="3200" b="0" i="0" u="none" strike="noStrike" spc="-96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1" name="TextBox 40">
            <a:extLst>
              <a:ext uri="{FF2B5EF4-FFF2-40B4-BE49-F238E27FC236}">
                <a16:creationId xmlns:a16="http://schemas.microsoft.com/office/drawing/2014/main" id="{EE50A98A-CB1D-492C-E892-F12CF15EED01}"/>
              </a:ext>
            </a:extLst>
          </p:cNvPr>
          <p:cNvSpPr txBox="1"/>
          <p:nvPr/>
        </p:nvSpPr>
        <p:spPr>
          <a:xfrm>
            <a:off x="8153160" y="43561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200" spc="-96" dirty="0">
                <a:solidFill>
                  <a:srgbClr val="FFFFFF"/>
                </a:solidFill>
                <a:latin typeface="Pretendard SemiBold"/>
                <a:ea typeface="Pretendard SemiBold"/>
              </a:rPr>
              <a:t>주요 기능</a:t>
            </a:r>
            <a:endParaRPr lang="ko-KR" sz="3200" b="0" i="0" u="none" strike="noStrike" spc="-96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92" name="TextBox 41">
            <a:extLst>
              <a:ext uri="{FF2B5EF4-FFF2-40B4-BE49-F238E27FC236}">
                <a16:creationId xmlns:a16="http://schemas.microsoft.com/office/drawing/2014/main" id="{8276C221-A6F2-5356-7FE9-CFDD8BB523CF}"/>
              </a:ext>
            </a:extLst>
          </p:cNvPr>
          <p:cNvSpPr txBox="1"/>
          <p:nvPr/>
        </p:nvSpPr>
        <p:spPr>
          <a:xfrm>
            <a:off x="14490460" y="43561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3200" spc="-96" dirty="0">
                <a:solidFill>
                  <a:srgbClr val="FFFFFF"/>
                </a:solidFill>
                <a:latin typeface="Pretendard SemiBold"/>
                <a:ea typeface="Pretendard SemiBold"/>
              </a:rPr>
              <a:t>핵심 역할</a:t>
            </a:r>
            <a:endParaRPr lang="ko-KR" sz="3200" b="0" i="0" u="none" strike="noStrike" spc="-96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105" name="Picture 9">
            <a:extLst>
              <a:ext uri="{FF2B5EF4-FFF2-40B4-BE49-F238E27FC236}">
                <a16:creationId xmlns:a16="http://schemas.microsoft.com/office/drawing/2014/main" id="{EC7508B7-AF2E-5F8A-ED79-2561B177ED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60" y="7388791"/>
            <a:ext cx="6184900" cy="25400"/>
          </a:xfrm>
          <a:prstGeom prst="rect">
            <a:avLst/>
          </a:prstGeom>
        </p:spPr>
      </p:pic>
      <p:pic>
        <p:nvPicPr>
          <p:cNvPr id="106" name="Picture 10">
            <a:extLst>
              <a:ext uri="{FF2B5EF4-FFF2-40B4-BE49-F238E27FC236}">
                <a16:creationId xmlns:a16="http://schemas.microsoft.com/office/drawing/2014/main" id="{51F2631A-8F56-1AF7-B51D-A360064AD8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960" y="7388791"/>
            <a:ext cx="6184900" cy="25400"/>
          </a:xfrm>
          <a:prstGeom prst="rect">
            <a:avLst/>
          </a:prstGeom>
        </p:spPr>
      </p:pic>
      <p:pic>
        <p:nvPicPr>
          <p:cNvPr id="107" name="Picture 11">
            <a:extLst>
              <a:ext uri="{FF2B5EF4-FFF2-40B4-BE49-F238E27FC236}">
                <a16:creationId xmlns:a16="http://schemas.microsoft.com/office/drawing/2014/main" id="{FE71C2A8-0009-AA27-8337-7E8E5EF9E7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9560" y="7388791"/>
            <a:ext cx="6184900" cy="25400"/>
          </a:xfrm>
          <a:prstGeom prst="rect">
            <a:avLst/>
          </a:prstGeom>
        </p:spPr>
      </p:pic>
      <p:pic>
        <p:nvPicPr>
          <p:cNvPr id="108" name="Picture 9">
            <a:extLst>
              <a:ext uri="{FF2B5EF4-FFF2-40B4-BE49-F238E27FC236}">
                <a16:creationId xmlns:a16="http://schemas.microsoft.com/office/drawing/2014/main" id="{1FD733E6-609F-7376-0DBF-74608E783B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60" y="8503027"/>
            <a:ext cx="6184900" cy="25400"/>
          </a:xfrm>
          <a:prstGeom prst="rect">
            <a:avLst/>
          </a:prstGeom>
        </p:spPr>
      </p:pic>
      <p:pic>
        <p:nvPicPr>
          <p:cNvPr id="109" name="Picture 10">
            <a:extLst>
              <a:ext uri="{FF2B5EF4-FFF2-40B4-BE49-F238E27FC236}">
                <a16:creationId xmlns:a16="http://schemas.microsoft.com/office/drawing/2014/main" id="{798FD373-085D-AD28-5B36-50B786BFAD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960" y="8503027"/>
            <a:ext cx="6184900" cy="25400"/>
          </a:xfrm>
          <a:prstGeom prst="rect">
            <a:avLst/>
          </a:prstGeom>
        </p:spPr>
      </p:pic>
      <p:pic>
        <p:nvPicPr>
          <p:cNvPr id="110" name="Picture 11">
            <a:extLst>
              <a:ext uri="{FF2B5EF4-FFF2-40B4-BE49-F238E27FC236}">
                <a16:creationId xmlns:a16="http://schemas.microsoft.com/office/drawing/2014/main" id="{E234F036-1673-8580-FE46-2CFC6B06BE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9560" y="8503027"/>
            <a:ext cx="6184900" cy="25400"/>
          </a:xfrm>
          <a:prstGeom prst="rect">
            <a:avLst/>
          </a:prstGeom>
        </p:spPr>
      </p:pic>
      <p:pic>
        <p:nvPicPr>
          <p:cNvPr id="111" name="Picture 9">
            <a:extLst>
              <a:ext uri="{FF2B5EF4-FFF2-40B4-BE49-F238E27FC236}">
                <a16:creationId xmlns:a16="http://schemas.microsoft.com/office/drawing/2014/main" id="{B52B6AA5-CDA9-9F5A-2CAE-AC42859D51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60" y="9617263"/>
            <a:ext cx="6184900" cy="25400"/>
          </a:xfrm>
          <a:prstGeom prst="rect">
            <a:avLst/>
          </a:prstGeom>
        </p:spPr>
      </p:pic>
      <p:pic>
        <p:nvPicPr>
          <p:cNvPr id="112" name="Picture 10">
            <a:extLst>
              <a:ext uri="{FF2B5EF4-FFF2-40B4-BE49-F238E27FC236}">
                <a16:creationId xmlns:a16="http://schemas.microsoft.com/office/drawing/2014/main" id="{63FBD43E-DEA9-12D4-378E-A1A57BA9D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960" y="9617263"/>
            <a:ext cx="6184900" cy="25400"/>
          </a:xfrm>
          <a:prstGeom prst="rect">
            <a:avLst/>
          </a:prstGeom>
        </p:spPr>
      </p:pic>
      <p:pic>
        <p:nvPicPr>
          <p:cNvPr id="113" name="Picture 11">
            <a:extLst>
              <a:ext uri="{FF2B5EF4-FFF2-40B4-BE49-F238E27FC236}">
                <a16:creationId xmlns:a16="http://schemas.microsoft.com/office/drawing/2014/main" id="{D4FA6033-D1D4-9694-F241-4DDC7E72CF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9560" y="9617263"/>
            <a:ext cx="6184900" cy="25400"/>
          </a:xfrm>
          <a:prstGeom prst="rect">
            <a:avLst/>
          </a:prstGeom>
        </p:spPr>
      </p:pic>
      <p:pic>
        <p:nvPicPr>
          <p:cNvPr id="114" name="Picture 9">
            <a:extLst>
              <a:ext uri="{FF2B5EF4-FFF2-40B4-BE49-F238E27FC236}">
                <a16:creationId xmlns:a16="http://schemas.microsoft.com/office/drawing/2014/main" id="{6E265CDC-36E3-A2AD-228F-D5A2DE657D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60" y="10731500"/>
            <a:ext cx="6184900" cy="25400"/>
          </a:xfrm>
          <a:prstGeom prst="rect">
            <a:avLst/>
          </a:prstGeom>
        </p:spPr>
      </p:pic>
      <p:pic>
        <p:nvPicPr>
          <p:cNvPr id="115" name="Picture 10">
            <a:extLst>
              <a:ext uri="{FF2B5EF4-FFF2-40B4-BE49-F238E27FC236}">
                <a16:creationId xmlns:a16="http://schemas.microsoft.com/office/drawing/2014/main" id="{1B6918DE-B557-B7F6-0A54-5D4C0B9D4F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960" y="10731500"/>
            <a:ext cx="6184900" cy="25400"/>
          </a:xfrm>
          <a:prstGeom prst="rect">
            <a:avLst/>
          </a:prstGeom>
        </p:spPr>
      </p:pic>
      <p:pic>
        <p:nvPicPr>
          <p:cNvPr id="116" name="Picture 11">
            <a:extLst>
              <a:ext uri="{FF2B5EF4-FFF2-40B4-BE49-F238E27FC236}">
                <a16:creationId xmlns:a16="http://schemas.microsoft.com/office/drawing/2014/main" id="{8EB1DD14-68CB-0C42-8A4D-30213333A0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9560" y="10731500"/>
            <a:ext cx="6184900" cy="25400"/>
          </a:xfrm>
          <a:prstGeom prst="rect">
            <a:avLst/>
          </a:prstGeom>
        </p:spPr>
      </p:pic>
      <p:pic>
        <p:nvPicPr>
          <p:cNvPr id="126" name="Picture 6">
            <a:extLst>
              <a:ext uri="{FF2B5EF4-FFF2-40B4-BE49-F238E27FC236}">
                <a16:creationId xmlns:a16="http://schemas.microsoft.com/office/drawing/2014/main" id="{3CD57AC6-C7FE-F1D2-D8EB-43237CC5C87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926379" y="5222618"/>
            <a:ext cx="6303491" cy="1006800"/>
          </a:xfrm>
          <a:prstGeom prst="rect">
            <a:avLst/>
          </a:prstGeom>
        </p:spPr>
      </p:pic>
      <p:pic>
        <p:nvPicPr>
          <p:cNvPr id="127" name="Picture 6">
            <a:extLst>
              <a:ext uri="{FF2B5EF4-FFF2-40B4-BE49-F238E27FC236}">
                <a16:creationId xmlns:a16="http://schemas.microsoft.com/office/drawing/2014/main" id="{C9C6FC7F-574C-8E12-565B-E336DF47E6D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926379" y="6340973"/>
            <a:ext cx="6303491" cy="1006800"/>
          </a:xfrm>
          <a:prstGeom prst="rect">
            <a:avLst/>
          </a:prstGeom>
        </p:spPr>
      </p:pic>
      <p:pic>
        <p:nvPicPr>
          <p:cNvPr id="128" name="Picture 6">
            <a:extLst>
              <a:ext uri="{FF2B5EF4-FFF2-40B4-BE49-F238E27FC236}">
                <a16:creationId xmlns:a16="http://schemas.microsoft.com/office/drawing/2014/main" id="{9E1A7992-0A5F-8E3D-35BB-FE8918B63D7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926379" y="7455209"/>
            <a:ext cx="6303491" cy="1006800"/>
          </a:xfrm>
          <a:prstGeom prst="rect">
            <a:avLst/>
          </a:prstGeom>
        </p:spPr>
      </p:pic>
      <p:pic>
        <p:nvPicPr>
          <p:cNvPr id="129" name="Picture 6">
            <a:extLst>
              <a:ext uri="{FF2B5EF4-FFF2-40B4-BE49-F238E27FC236}">
                <a16:creationId xmlns:a16="http://schemas.microsoft.com/office/drawing/2014/main" id="{E3C94558-3F21-3AA1-7D78-59EB2520A1D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926379" y="8569445"/>
            <a:ext cx="6303491" cy="1006800"/>
          </a:xfrm>
          <a:prstGeom prst="rect">
            <a:avLst/>
          </a:prstGeom>
        </p:spPr>
      </p:pic>
      <p:pic>
        <p:nvPicPr>
          <p:cNvPr id="130" name="Picture 6">
            <a:extLst>
              <a:ext uri="{FF2B5EF4-FFF2-40B4-BE49-F238E27FC236}">
                <a16:creationId xmlns:a16="http://schemas.microsoft.com/office/drawing/2014/main" id="{4032B71F-0C81-326E-C195-2502C0ADB5C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926379" y="9675215"/>
            <a:ext cx="6303491" cy="1006800"/>
          </a:xfrm>
          <a:prstGeom prst="rect">
            <a:avLst/>
          </a:prstGeom>
        </p:spPr>
      </p:pic>
      <p:sp>
        <p:nvSpPr>
          <p:cNvPr id="133" name="TextBox 27">
            <a:extLst>
              <a:ext uri="{FF2B5EF4-FFF2-40B4-BE49-F238E27FC236}">
                <a16:creationId xmlns:a16="http://schemas.microsoft.com/office/drawing/2014/main" id="{FCD277B3-34DA-5CC0-1649-DD6933718C11}"/>
              </a:ext>
            </a:extLst>
          </p:cNvPr>
          <p:cNvSpPr txBox="1"/>
          <p:nvPr/>
        </p:nvSpPr>
        <p:spPr>
          <a:xfrm>
            <a:off x="1614324" y="5440703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EMS (</a:t>
            </a:r>
            <a:r>
              <a:rPr lang="ko-KR" altLang="en-US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운영 시스템</a:t>
            </a:r>
            <a:r>
              <a:rPr lang="en-US" altLang="ko-KR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8C2828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34" name="Picture 6">
            <a:extLst>
              <a:ext uri="{FF2B5EF4-FFF2-40B4-BE49-F238E27FC236}">
                <a16:creationId xmlns:a16="http://schemas.microsoft.com/office/drawing/2014/main" id="{36AAB1E1-20F8-446A-D88A-5B5B97B1A34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926379" y="6328273"/>
            <a:ext cx="6303491" cy="1006800"/>
          </a:xfrm>
          <a:prstGeom prst="rect">
            <a:avLst/>
          </a:prstGeom>
        </p:spPr>
      </p:pic>
      <p:sp>
        <p:nvSpPr>
          <p:cNvPr id="135" name="TextBox 27">
            <a:extLst>
              <a:ext uri="{FF2B5EF4-FFF2-40B4-BE49-F238E27FC236}">
                <a16:creationId xmlns:a16="http://schemas.microsoft.com/office/drawing/2014/main" id="{36B5C276-F88C-CFB0-897F-A2AE0835965F}"/>
              </a:ext>
            </a:extLst>
          </p:cNvPr>
          <p:cNvSpPr txBox="1"/>
          <p:nvPr/>
        </p:nvSpPr>
        <p:spPr>
          <a:xfrm>
            <a:off x="1614324" y="6559058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PV system 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36" name="TextBox 27">
            <a:extLst>
              <a:ext uri="{FF2B5EF4-FFF2-40B4-BE49-F238E27FC236}">
                <a16:creationId xmlns:a16="http://schemas.microsoft.com/office/drawing/2014/main" id="{B250E314-1C5B-3A63-64B6-48266D7564C2}"/>
              </a:ext>
            </a:extLst>
          </p:cNvPr>
          <p:cNvSpPr txBox="1"/>
          <p:nvPr/>
        </p:nvSpPr>
        <p:spPr>
          <a:xfrm>
            <a:off x="1614324" y="7673294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배터리 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+ PCS)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37" name="TextBox 27">
            <a:extLst>
              <a:ext uri="{FF2B5EF4-FFF2-40B4-BE49-F238E27FC236}">
                <a16:creationId xmlns:a16="http://schemas.microsoft.com/office/drawing/2014/main" id="{F5FC6895-7B64-3BAE-DC06-F1B882B1D170}"/>
              </a:ext>
            </a:extLst>
          </p:cNvPr>
          <p:cNvSpPr txBox="1"/>
          <p:nvPr/>
        </p:nvSpPr>
        <p:spPr>
          <a:xfrm>
            <a:off x="1614324" y="8790681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Main Grid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한전 계통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38" name="TextBox 27">
            <a:extLst>
              <a:ext uri="{FF2B5EF4-FFF2-40B4-BE49-F238E27FC236}">
                <a16:creationId xmlns:a16="http://schemas.microsoft.com/office/drawing/2014/main" id="{22443D1B-152B-506A-2E4B-38B1573E139F}"/>
              </a:ext>
            </a:extLst>
          </p:cNvPr>
          <p:cNvSpPr txBox="1"/>
          <p:nvPr/>
        </p:nvSpPr>
        <p:spPr>
          <a:xfrm>
            <a:off x="1614324" y="9899215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Smart </a:t>
            </a:r>
            <a:r>
              <a:rPr lang="en-US" altLang="ko-KR" sz="2666" spc="-107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Load </a:t>
            </a:r>
            <a:r>
              <a:rPr lang="en-US" altLang="ko-KR" sz="2666" b="0" i="0" u="none" strike="noStrike" spc="-107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부하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39" name="TextBox 27">
            <a:extLst>
              <a:ext uri="{FF2B5EF4-FFF2-40B4-BE49-F238E27FC236}">
                <a16:creationId xmlns:a16="http://schemas.microsoft.com/office/drawing/2014/main" id="{2C36BE87-4DA5-CA23-1B2A-1A2D05E808C2}"/>
              </a:ext>
            </a:extLst>
          </p:cNvPr>
          <p:cNvSpPr txBox="1"/>
          <p:nvPr/>
        </p:nvSpPr>
        <p:spPr>
          <a:xfrm>
            <a:off x="7943610" y="6570774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주간 발전량 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EMS 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전송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0" name="TextBox 27">
            <a:extLst>
              <a:ext uri="{FF2B5EF4-FFF2-40B4-BE49-F238E27FC236}">
                <a16:creationId xmlns:a16="http://schemas.microsoft.com/office/drawing/2014/main" id="{4D365AF5-6462-2A23-D072-C58DA2FEA691}"/>
              </a:ext>
            </a:extLst>
          </p:cNvPr>
          <p:cNvSpPr txBox="1"/>
          <p:nvPr/>
        </p:nvSpPr>
        <p:spPr>
          <a:xfrm>
            <a:off x="7943610" y="7679152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양방향 충 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/ 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방전 제어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1" name="TextBox 27">
            <a:extLst>
              <a:ext uri="{FF2B5EF4-FFF2-40B4-BE49-F238E27FC236}">
                <a16:creationId xmlns:a16="http://schemas.microsoft.com/office/drawing/2014/main" id="{8C74F6AE-8022-75C4-2AA5-6F6FEBFFCB11}"/>
              </a:ext>
            </a:extLst>
          </p:cNvPr>
          <p:cNvSpPr txBox="1"/>
          <p:nvPr/>
        </p:nvSpPr>
        <p:spPr>
          <a:xfrm>
            <a:off x="7943610" y="8790681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계통 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연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계 및 부족분 수전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2" name="TextBox 27">
            <a:extLst>
              <a:ext uri="{FF2B5EF4-FFF2-40B4-BE49-F238E27FC236}">
                <a16:creationId xmlns:a16="http://schemas.microsoft.com/office/drawing/2014/main" id="{46385017-7F10-E47F-3ED8-D7D8D55CC1A1}"/>
              </a:ext>
            </a:extLst>
          </p:cNvPr>
          <p:cNvSpPr txBox="1"/>
          <p:nvPr/>
        </p:nvSpPr>
        <p:spPr>
          <a:xfrm>
            <a:off x="7943610" y="9907681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전력 소비 데이터 전송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3" name="TextBox 27">
            <a:extLst>
              <a:ext uri="{FF2B5EF4-FFF2-40B4-BE49-F238E27FC236}">
                <a16:creationId xmlns:a16="http://schemas.microsoft.com/office/drawing/2014/main" id="{EABECBFB-C43E-34EA-933D-4B610C22EEEF}"/>
              </a:ext>
            </a:extLst>
          </p:cNvPr>
          <p:cNvSpPr txBox="1"/>
          <p:nvPr/>
        </p:nvSpPr>
        <p:spPr>
          <a:xfrm>
            <a:off x="14261860" y="5437339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시스템 컨트롤 타워</a:t>
            </a:r>
            <a:endParaRPr lang="en-US" altLang="ko-KR" sz="2666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최적 운영 모드 결정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4" name="TextBox 27">
            <a:extLst>
              <a:ext uri="{FF2B5EF4-FFF2-40B4-BE49-F238E27FC236}">
                <a16:creationId xmlns:a16="http://schemas.microsoft.com/office/drawing/2014/main" id="{D3098E49-59B1-3AAF-4274-B38818A29E0F}"/>
              </a:ext>
            </a:extLst>
          </p:cNvPr>
          <p:cNvSpPr txBox="1"/>
          <p:nvPr/>
        </p:nvSpPr>
        <p:spPr>
          <a:xfrm>
            <a:off x="14261860" y="6552273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잉여 </a:t>
            </a:r>
            <a:r>
              <a:rPr lang="ko-KR" altLang="en-US" sz="2666" spc="-107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전력원</a:t>
            </a:r>
            <a:endParaRPr lang="en-US" altLang="ko-KR" sz="2666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낮 시간대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(11-15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발전 집중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5" name="TextBox 27">
            <a:extLst>
              <a:ext uri="{FF2B5EF4-FFF2-40B4-BE49-F238E27FC236}">
                <a16:creationId xmlns:a16="http://schemas.microsoft.com/office/drawing/2014/main" id="{4D7FD157-56C1-E489-764A-B05779A7D208}"/>
              </a:ext>
            </a:extLst>
          </p:cNvPr>
          <p:cNvSpPr txBox="1"/>
          <p:nvPr/>
        </p:nvSpPr>
        <p:spPr>
          <a:xfrm>
            <a:off x="14261860" y="7673294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Time-Shift (</a:t>
            </a:r>
            <a:r>
              <a:rPr lang="ko-KR" altLang="en-US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 이동</a:t>
            </a:r>
            <a:r>
              <a:rPr lang="en-US" altLang="ko-KR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잉여 전력 저장 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&amp; 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피크 시간 방전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6" name="TextBox 27">
            <a:extLst>
              <a:ext uri="{FF2B5EF4-FFF2-40B4-BE49-F238E27FC236}">
                <a16:creationId xmlns:a16="http://schemas.microsoft.com/office/drawing/2014/main" id="{F6EE8B77-42A6-5817-C62A-73FA83E5370F}"/>
              </a:ext>
            </a:extLst>
          </p:cNvPr>
          <p:cNvSpPr txBox="1"/>
          <p:nvPr/>
        </p:nvSpPr>
        <p:spPr>
          <a:xfrm>
            <a:off x="14261860" y="8799360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비상 백업</a:t>
            </a:r>
            <a:endParaRPr lang="en-US" altLang="ko-KR" sz="2666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비상 시 독립 운전 지원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47" name="TextBox 27">
            <a:extLst>
              <a:ext uri="{FF2B5EF4-FFF2-40B4-BE49-F238E27FC236}">
                <a16:creationId xmlns:a16="http://schemas.microsoft.com/office/drawing/2014/main" id="{3204C2DC-BA72-28AB-1D7C-E827E9700263}"/>
              </a:ext>
            </a:extLst>
          </p:cNvPr>
          <p:cNvSpPr txBox="1"/>
          <p:nvPr/>
        </p:nvSpPr>
        <p:spPr>
          <a:xfrm>
            <a:off x="14261860" y="9907681"/>
            <a:ext cx="4927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수요 관리 대상</a:t>
            </a:r>
            <a:endParaRPr lang="en-US" altLang="ko-KR" sz="2666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(Type B 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주거 패턴 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피크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형성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148" name="Picture 9">
            <a:extLst>
              <a:ext uri="{FF2B5EF4-FFF2-40B4-BE49-F238E27FC236}">
                <a16:creationId xmlns:a16="http://schemas.microsoft.com/office/drawing/2014/main" id="{75097DC7-A82C-D70E-7C22-BE9A192686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812" y="10780985"/>
            <a:ext cx="18959041" cy="2173015"/>
          </a:xfrm>
          <a:prstGeom prst="rect">
            <a:avLst/>
          </a:prstGeom>
        </p:spPr>
      </p:pic>
      <p:sp>
        <p:nvSpPr>
          <p:cNvPr id="149" name="TextBox 16">
            <a:extLst>
              <a:ext uri="{FF2B5EF4-FFF2-40B4-BE49-F238E27FC236}">
                <a16:creationId xmlns:a16="http://schemas.microsoft.com/office/drawing/2014/main" id="{948287EA-02DB-FBE1-4C6C-FBC12F77D523}"/>
              </a:ext>
            </a:extLst>
          </p:cNvPr>
          <p:cNvSpPr txBox="1"/>
          <p:nvPr/>
        </p:nvSpPr>
        <p:spPr>
          <a:xfrm>
            <a:off x="1025053" y="11101700"/>
            <a:ext cx="17233900" cy="1511301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ko-KR" altLang="en-US" sz="280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   </a:t>
            </a:r>
            <a:r>
              <a:rPr lang="en-US" altLang="ko-KR" sz="280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Energy Buffer: </a:t>
            </a:r>
            <a:r>
              <a:rPr lang="ko-KR" altLang="en-US" sz="280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낮 시간대 과잉 발전량을 물리적으로 격리</a:t>
            </a:r>
            <a:r>
              <a:rPr lang="en-US" altLang="ko-KR" sz="280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(Buffering)</a:t>
            </a:r>
            <a:r>
              <a:rPr lang="ko-KR" altLang="en-US" sz="280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하여 계통 충격 완화</a:t>
            </a:r>
            <a:endParaRPr lang="en-US" altLang="ko-KR" sz="280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ko-KR" altLang="en-US" sz="280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   </a:t>
            </a:r>
            <a:r>
              <a:rPr lang="en-US" altLang="ko-KR" sz="280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Peak Shaving: </a:t>
            </a:r>
            <a:r>
              <a:rPr lang="ko-KR" altLang="en-US" sz="280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피크 시간대에 저장된 전력을 발전하여 최대 부하 삭감</a:t>
            </a:r>
            <a:endParaRPr lang="en-US" altLang="ko-KR" sz="2800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ko-KR" altLang="en-US" sz="280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   </a:t>
            </a:r>
            <a:r>
              <a:rPr lang="en-US" altLang="ko-KR" sz="280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Island Mode: </a:t>
            </a:r>
            <a:r>
              <a:rPr lang="ko-KR" altLang="en-US" sz="280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정전 등 비상 시 계통과 분리되어 독립 전원으로 기능 수행</a:t>
            </a:r>
            <a:endParaRPr lang="en-US" sz="280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891AFD4B-7596-6481-1CF7-5F41199DBF18}"/>
              </a:ext>
            </a:extLst>
          </p:cNvPr>
          <p:cNvSpPr/>
          <p:nvPr/>
        </p:nvSpPr>
        <p:spPr>
          <a:xfrm>
            <a:off x="1166812" y="11137226"/>
            <a:ext cx="381000" cy="381000"/>
          </a:xfrm>
          <a:prstGeom prst="ellipse">
            <a:avLst/>
          </a:prstGeom>
          <a:solidFill>
            <a:srgbClr val="FFE5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1</a:t>
            </a:r>
            <a:endParaRPr lang="ko-KR" altLang="en-US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FCC430B1-6A5A-0634-CD00-0CBE03F88973}"/>
              </a:ext>
            </a:extLst>
          </p:cNvPr>
          <p:cNvSpPr/>
          <p:nvPr/>
        </p:nvSpPr>
        <p:spPr>
          <a:xfrm>
            <a:off x="1166812" y="11735797"/>
            <a:ext cx="381000" cy="381000"/>
          </a:xfrm>
          <a:prstGeom prst="ellipse">
            <a:avLst/>
          </a:prstGeom>
          <a:solidFill>
            <a:srgbClr val="FFE5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</a:t>
            </a:r>
            <a:endParaRPr lang="ko-KR" altLang="en-US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1440F702-A0DD-D7F3-90EC-FDC9CF622C59}"/>
              </a:ext>
            </a:extLst>
          </p:cNvPr>
          <p:cNvSpPr/>
          <p:nvPr/>
        </p:nvSpPr>
        <p:spPr>
          <a:xfrm>
            <a:off x="1166812" y="12332314"/>
            <a:ext cx="381000" cy="381000"/>
          </a:xfrm>
          <a:prstGeom prst="ellipse">
            <a:avLst/>
          </a:prstGeom>
          <a:solidFill>
            <a:srgbClr val="FFE5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</a:t>
            </a:r>
            <a:endParaRPr lang="ko-KR" altLang="en-US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F7E06F4A-52FE-CD6A-5BC1-485B3168A1D9}"/>
              </a:ext>
            </a:extLst>
          </p:cNvPr>
          <p:cNvSpPr/>
          <p:nvPr/>
        </p:nvSpPr>
        <p:spPr>
          <a:xfrm>
            <a:off x="941619" y="5181600"/>
            <a:ext cx="18882841" cy="1105598"/>
          </a:xfrm>
          <a:prstGeom prst="rect">
            <a:avLst/>
          </a:prstGeom>
          <a:noFill/>
          <a:ln w="63500">
            <a:solidFill>
              <a:srgbClr val="8C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33F3E305-1B5D-77EE-71D4-3B13077A81F9}"/>
              </a:ext>
            </a:extLst>
          </p:cNvPr>
          <p:cNvSpPr/>
          <p:nvPr/>
        </p:nvSpPr>
        <p:spPr>
          <a:xfrm>
            <a:off x="20078460" y="4141734"/>
            <a:ext cx="3416540" cy="8812266"/>
          </a:xfrm>
          <a:prstGeom prst="rect">
            <a:avLst/>
          </a:prstGeom>
          <a:solidFill>
            <a:srgbClr val="FFE5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41">
            <a:extLst>
              <a:ext uri="{FF2B5EF4-FFF2-40B4-BE49-F238E27FC236}">
                <a16:creationId xmlns:a16="http://schemas.microsoft.com/office/drawing/2014/main" id="{73A8F5D0-2329-43C0-A743-20F1A0645585}"/>
              </a:ext>
            </a:extLst>
          </p:cNvPr>
          <p:cNvSpPr txBox="1"/>
          <p:nvPr/>
        </p:nvSpPr>
        <p:spPr>
          <a:xfrm>
            <a:off x="19532480" y="4656667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3600" spc="-96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EMS</a:t>
            </a:r>
            <a:endParaRPr lang="ko-KR" sz="3600" b="0" i="0" u="none" strike="noStrike" spc="-96" dirty="0">
              <a:solidFill>
                <a:srgbClr val="8C2828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57" name="그림 15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94AAE9-9131-D302-9121-B562FBC2CC6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325" y="11005728"/>
            <a:ext cx="1206225" cy="1206225"/>
          </a:xfrm>
          <a:prstGeom prst="rect">
            <a:avLst/>
          </a:prstGeom>
        </p:spPr>
      </p:pic>
      <p:pic>
        <p:nvPicPr>
          <p:cNvPr id="159" name="그림 15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D6B79F-A99C-5181-9977-97B2DF5EE4A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005" y="8338155"/>
            <a:ext cx="1206545" cy="1206545"/>
          </a:xfrm>
          <a:prstGeom prst="rect">
            <a:avLst/>
          </a:prstGeom>
        </p:spPr>
      </p:pic>
      <p:pic>
        <p:nvPicPr>
          <p:cNvPr id="161" name="그림 16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B7A6EE-235A-45F8-F030-6566C34B6D5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2178" y="5569575"/>
            <a:ext cx="1346200" cy="1346200"/>
          </a:xfrm>
          <a:prstGeom prst="rect">
            <a:avLst/>
          </a:prstGeom>
        </p:spPr>
      </p:pic>
      <p:sp>
        <p:nvSpPr>
          <p:cNvPr id="166" name="TextBox 41">
            <a:extLst>
              <a:ext uri="{FF2B5EF4-FFF2-40B4-BE49-F238E27FC236}">
                <a16:creationId xmlns:a16="http://schemas.microsoft.com/office/drawing/2014/main" id="{3FE77187-BBEE-332B-901A-421D37CFCD8B}"/>
              </a:ext>
            </a:extLst>
          </p:cNvPr>
          <p:cNvSpPr txBox="1"/>
          <p:nvPr/>
        </p:nvSpPr>
        <p:spPr>
          <a:xfrm>
            <a:off x="19621028" y="6875975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400" spc="-96" dirty="0">
                <a:latin typeface="Pretendard SemiBold" panose="020B0600000101010101" charset="-127"/>
                <a:ea typeface="Pretendard SemiBold" panose="020B0600000101010101" charset="-127"/>
              </a:rPr>
              <a:t>PV</a:t>
            </a:r>
            <a:endParaRPr lang="ko-KR" sz="2400" b="0" i="0" u="none" strike="noStrike" spc="-96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9" name="TextBox 41">
            <a:extLst>
              <a:ext uri="{FF2B5EF4-FFF2-40B4-BE49-F238E27FC236}">
                <a16:creationId xmlns:a16="http://schemas.microsoft.com/office/drawing/2014/main" id="{F30A7480-F369-089A-A191-0C4AFED46995}"/>
              </a:ext>
            </a:extLst>
          </p:cNvPr>
          <p:cNvSpPr txBox="1"/>
          <p:nvPr/>
        </p:nvSpPr>
        <p:spPr>
          <a:xfrm>
            <a:off x="19582928" y="9574266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400" spc="-96" dirty="0">
                <a:latin typeface="Pretendard SemiBold" panose="020B0600000101010101" charset="-127"/>
                <a:ea typeface="Pretendard SemiBold" panose="020B0600000101010101" charset="-127"/>
              </a:rPr>
              <a:t>ESS</a:t>
            </a:r>
            <a:endParaRPr lang="ko-KR" sz="2400" b="0" i="0" u="none" strike="noStrike" spc="-96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70" name="TextBox 41">
            <a:extLst>
              <a:ext uri="{FF2B5EF4-FFF2-40B4-BE49-F238E27FC236}">
                <a16:creationId xmlns:a16="http://schemas.microsoft.com/office/drawing/2014/main" id="{1DA86D7D-E0C2-1FD3-1C5A-EFC1DF1C2943}"/>
              </a:ext>
            </a:extLst>
          </p:cNvPr>
          <p:cNvSpPr txBox="1"/>
          <p:nvPr/>
        </p:nvSpPr>
        <p:spPr>
          <a:xfrm>
            <a:off x="19608328" y="122809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400" spc="-96" dirty="0">
                <a:latin typeface="Pretendard SemiBold" panose="020B0600000101010101" charset="-127"/>
                <a:ea typeface="Pretendard SemiBold" panose="020B0600000101010101" charset="-127"/>
              </a:rPr>
              <a:t>Load</a:t>
            </a:r>
            <a:endParaRPr lang="ko-KR" sz="2400" b="0" i="0" u="none" strike="noStrike" spc="-96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72" name="그래픽 171" descr="아래쪽 캐럿 단색으로 채워진">
            <a:extLst>
              <a:ext uri="{FF2B5EF4-FFF2-40B4-BE49-F238E27FC236}">
                <a16:creationId xmlns:a16="http://schemas.microsoft.com/office/drawing/2014/main" id="{0689AA39-67D3-323C-9D99-5C852F0790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379978" y="7395225"/>
            <a:ext cx="914400" cy="914400"/>
          </a:xfrm>
          <a:prstGeom prst="rect">
            <a:avLst/>
          </a:prstGeom>
        </p:spPr>
      </p:pic>
      <p:pic>
        <p:nvPicPr>
          <p:cNvPr id="175" name="그래픽 174" descr="아래쪽 캐럿 단색으로 채워진">
            <a:extLst>
              <a:ext uri="{FF2B5EF4-FFF2-40B4-BE49-F238E27FC236}">
                <a16:creationId xmlns:a16="http://schemas.microsoft.com/office/drawing/2014/main" id="{37C65214-7595-F826-25A3-6D652CE371B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379978" y="10107364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B29A0-0751-A5CD-819B-6801EBB41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E2883BA-2BE0-C990-60B8-1A82A5115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CA7BA05-FA73-3AED-A01C-F534785E1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59C28A35-C2CF-1D32-7661-BB52C6494550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B (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주거 밀집형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맞춤형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최적 용량 설정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0E522530-C5E4-1890-9D42-121863636148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한계 편익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(Marginal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Utility)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곡선을 활용해 시나리오 </a:t>
            </a:r>
            <a:r>
              <a:rPr lang="ko-KR" altLang="en-US" sz="2933" spc="-88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비교용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기준선을 정의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E1193C45-792B-71B6-54F6-7A2B0EAE2552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[Solution] Capacity Anchor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0C4D63D3-4E3A-2D69-66F4-DC4F89CD1E66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019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B689A260-C066-F1A1-7AAA-387A42A37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D4DE69EA-67E1-009E-8CCB-AA83B94135B2}"/>
              </a:ext>
            </a:extLst>
          </p:cNvPr>
          <p:cNvSpPr txBox="1"/>
          <p:nvPr/>
        </p:nvSpPr>
        <p:spPr>
          <a:xfrm>
            <a:off x="3473450" y="12255500"/>
            <a:ext cx="174498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약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3.5MWh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를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“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기준 용량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(Anchor)”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으로 설정해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Type B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피크 대응 시나리오 비교의 출발점을 만든다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BF968BF8-2263-74B0-105F-FCEF9673F780}"/>
              </a:ext>
            </a:extLst>
          </p:cNvPr>
          <p:cNvSpPr txBox="1"/>
          <p:nvPr/>
        </p:nvSpPr>
        <p:spPr>
          <a:xfrm>
            <a:off x="14218557" y="42862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분석 인사이트 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(key Insights)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B42E9C7-7926-7F3B-9BBA-9DF5EE906C5A}"/>
              </a:ext>
            </a:extLst>
          </p:cNvPr>
          <p:cNvGrpSpPr/>
          <p:nvPr/>
        </p:nvGrpSpPr>
        <p:grpSpPr>
          <a:xfrm>
            <a:off x="14142356" y="5162550"/>
            <a:ext cx="8764815" cy="1962150"/>
            <a:chOff x="14142356" y="5162550"/>
            <a:chExt cx="8764815" cy="1962150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FCFDCDD9-3079-F2EE-F829-6AE380813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5162550"/>
              <a:ext cx="8684824" cy="635000"/>
            </a:xfrm>
            <a:prstGeom prst="rect">
              <a:avLst/>
            </a:prstGeom>
          </p:spPr>
        </p:pic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081544D0-3BDF-65FC-2CA8-2EA4EA77E048}"/>
                </a:ext>
              </a:extLst>
            </p:cNvPr>
            <p:cNvSpPr txBox="1"/>
            <p:nvPr/>
          </p:nvSpPr>
          <p:spPr>
            <a:xfrm>
              <a:off x="14332857" y="527685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b="0" i="0" u="none" strike="noStrike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Insight 01. 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Economic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Threshold 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경제적 임계점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E63E3EE4-E99B-AC65-C49D-51FDFB7887B7}"/>
                </a:ext>
              </a:extLst>
            </p:cNvPr>
            <p:cNvSpPr txBox="1"/>
            <p:nvPr/>
          </p:nvSpPr>
          <p:spPr>
            <a:xfrm>
              <a:off x="14142356" y="5854700"/>
              <a:ext cx="8764815" cy="1270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약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3.5 MWh (Anchor)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효율 증가가 둔화되는 구간에서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b="0" i="0" u="none" strike="noStrike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이후 비교 분석을 위한 기준 용량으로 채택</a:t>
              </a:r>
              <a:endParaRPr lang="ko-KR" sz="2133" b="0" i="0" u="none" strike="noStrike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B95E34B-0593-6FA1-5CC5-5011FE2EF3D3}"/>
              </a:ext>
            </a:extLst>
          </p:cNvPr>
          <p:cNvGrpSpPr/>
          <p:nvPr/>
        </p:nvGrpSpPr>
        <p:grpSpPr>
          <a:xfrm>
            <a:off x="14142356" y="9880600"/>
            <a:ext cx="8764815" cy="1873250"/>
            <a:chOff x="14142356" y="9588500"/>
            <a:chExt cx="8764815" cy="1873250"/>
          </a:xfrm>
        </p:grpSpPr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C88FB6B6-8D33-46C8-1E84-75C94404B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9588500"/>
              <a:ext cx="8684824" cy="635000"/>
            </a:xfrm>
            <a:prstGeom prst="rect">
              <a:avLst/>
            </a:prstGeom>
          </p:spPr>
        </p:pic>
        <p:sp>
          <p:nvSpPr>
            <p:cNvPr id="22" name="TextBox 35">
              <a:extLst>
                <a:ext uri="{FF2B5EF4-FFF2-40B4-BE49-F238E27FC236}">
                  <a16:creationId xmlns:a16="http://schemas.microsoft.com/office/drawing/2014/main" id="{332C66FC-4A00-71A3-73D2-DB1FFD7F021E}"/>
                </a:ext>
              </a:extLst>
            </p:cNvPr>
            <p:cNvSpPr txBox="1"/>
            <p:nvPr/>
          </p:nvSpPr>
          <p:spPr>
            <a:xfrm>
              <a:off x="14332857" y="97028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Insight 03. Feasibility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사업 타당성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24" name="TextBox 32">
              <a:extLst>
                <a:ext uri="{FF2B5EF4-FFF2-40B4-BE49-F238E27FC236}">
                  <a16:creationId xmlns:a16="http://schemas.microsoft.com/office/drawing/2014/main" id="{103C9D54-1B6D-6074-0E99-AB2E0DD4311F}"/>
                </a:ext>
              </a:extLst>
            </p:cNvPr>
            <p:cNvSpPr txBox="1"/>
            <p:nvPr/>
          </p:nvSpPr>
          <p:spPr>
            <a:xfrm>
              <a:off x="14142356" y="10191750"/>
              <a:ext cx="8764815" cy="1270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6.5 Years (PBP, Assumption)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 err="1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경부하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충전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·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피크 방전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(Arbitrage)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및 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기본 요금 절감 가정 기반의 </a:t>
              </a:r>
              <a:r>
                <a:rPr lang="ko-KR" altLang="en-US" sz="2133" spc="-85" dirty="0" err="1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참고값</a:t>
              </a:r>
              <a:endParaRPr lang="ko-KR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EFDA9D2-E5A0-AE83-6939-F969F508DA3A}"/>
              </a:ext>
            </a:extLst>
          </p:cNvPr>
          <p:cNvGrpSpPr/>
          <p:nvPr/>
        </p:nvGrpSpPr>
        <p:grpSpPr>
          <a:xfrm>
            <a:off x="14142356" y="7534275"/>
            <a:ext cx="8764815" cy="1936750"/>
            <a:chOff x="14142356" y="7594600"/>
            <a:chExt cx="8764815" cy="1936750"/>
          </a:xfrm>
        </p:grpSpPr>
        <p:sp>
          <p:nvSpPr>
            <p:cNvPr id="7" name="TextBox 32">
              <a:extLst>
                <a:ext uri="{FF2B5EF4-FFF2-40B4-BE49-F238E27FC236}">
                  <a16:creationId xmlns:a16="http://schemas.microsoft.com/office/drawing/2014/main" id="{3FEE57AE-FEB2-A2CC-1E67-458CD08FC660}"/>
                </a:ext>
              </a:extLst>
            </p:cNvPr>
            <p:cNvSpPr txBox="1"/>
            <p:nvPr/>
          </p:nvSpPr>
          <p:spPr>
            <a:xfrm>
              <a:off x="14142356" y="8261350"/>
              <a:ext cx="8764815" cy="1270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91.2% (Coverage)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주거 밀집 지역의 저녁 피크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(18-22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시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부담을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ESS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가 흡수 가능하는 범위를 정량화</a:t>
              </a:r>
              <a:endParaRPr lang="ko-KR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FDDCF297-D941-AA68-06F6-7EB16DB4B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7594600"/>
              <a:ext cx="8684824" cy="635000"/>
            </a:xfrm>
            <a:prstGeom prst="rect">
              <a:avLst/>
            </a:prstGeom>
          </p:spPr>
        </p:pic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812B60BD-4B5F-C1C4-68BD-BACDB51F6AE6}"/>
                </a:ext>
              </a:extLst>
            </p:cNvPr>
            <p:cNvSpPr txBox="1"/>
            <p:nvPr/>
          </p:nvSpPr>
          <p:spPr>
            <a:xfrm>
              <a:off x="14332857" y="77089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Insight 02. Risk Management (</a:t>
              </a:r>
              <a:r>
                <a:rPr lang="ko-KR" altLang="en-US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피크 리스크 관리</a:t>
              </a: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514F5E-0A64-28AE-15E5-7DE121E898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78" y="4338637"/>
            <a:ext cx="12626491" cy="748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29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345EC-1A52-FAB4-B4DA-9C8ECE1C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FF6F89AA-4CA8-1B88-8CB2-34BC8A255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926B3EA-14F6-34A1-D2AA-A694978CD7E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6549569" y="4283770"/>
            <a:ext cx="6533917" cy="762256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2D9ED4C-9737-B02C-D1E1-23D18EF49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8B92B7E7-64CC-D7E2-1C10-C9FCAB9F0241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B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주거지역에서는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 발전이 증가하더라도 저녁 피크 문제는 남는다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0749B2F-16E7-77CC-3B19-C28FE0082E36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중계동 실부하와 이론적 태양광 발전 패턴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(Gaussian)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을 활용한 구조 분석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EF6BBEC2-D7F8-F91C-F2EA-242926D9E466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[Feasibility] Load-PV</a:t>
            </a:r>
            <a:r>
              <a:rPr lang="ko-KR" alt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Time Mismatch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E2209BAD-0FD7-C196-AFDC-069B6FC3E7AE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020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0E16FF34-7FB2-C8D6-BE1D-B8106369E8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D97E3FB6-C180-4C92-B8F2-DB56B519A678}"/>
              </a:ext>
            </a:extLst>
          </p:cNvPr>
          <p:cNvSpPr txBox="1"/>
          <p:nvPr/>
        </p:nvSpPr>
        <p:spPr>
          <a:xfrm>
            <a:off x="3581400" y="12255500"/>
            <a:ext cx="17233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문제의 본질은 발전량 부족이 아니라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 수요와 태양광 발전 간 시간대 불일치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(Time Mismatch)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EAE1-3575-8811-0151-AD44B1D65F92}"/>
              </a:ext>
            </a:extLst>
          </p:cNvPr>
          <p:cNvSpPr txBox="1"/>
          <p:nvPr/>
        </p:nvSpPr>
        <p:spPr>
          <a:xfrm>
            <a:off x="16577596" y="5683250"/>
            <a:ext cx="650589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Analysis Assumption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구조 분석 기준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중계동 </a:t>
            </a:r>
            <a:r>
              <a:rPr lang="ko-KR" altLang="en-US" sz="2200" dirty="0" err="1">
                <a:latin typeface="Pretendard Regular" panose="020B0600000101010101" charset="-127"/>
                <a:ea typeface="Pretendard Regular" panose="020B0600000101010101" charset="-127"/>
              </a:rPr>
              <a:t>실부하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기반 주거형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(Type B)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수요 구조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태양광은 설비가 아닌 이론적 발전 패턴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(Gaussian)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적용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목적은 발전량이 아닌 시간대 구조 비교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Key Interpretation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구조적 해석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낮 시간대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PV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로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Net Load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일시 감소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태양광 종료 이후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(18-22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수요 피크 재등장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저녁 피크 구조는 그대로 유지됨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Implication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시사점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Type B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지역은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PV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확대로 문제 해결 불가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핵심 원인은 수요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발전 시간대 불일치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저녁 피크로 전환 가능한 중간 수단 필요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6" name="그림 5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21D4C8-42DE-AA93-8A9A-1F6D45A967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483" y="4557692"/>
            <a:ext cx="15204302" cy="720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74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345EC-1A52-FAB4-B4DA-9C8ECE1C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1F39BDFF-7AF9-202A-FDD5-1A85DF911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EECE0CE-456A-8E57-0995-64FE059DAEA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6549569" y="4283770"/>
            <a:ext cx="6533917" cy="762256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2D9ED4C-9737-B02C-D1E1-23D18EF49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8B92B7E7-64CC-D7E2-1C10-C9FCAB9F0241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만으로는 저녁 피크를 근본적으로 해결할 수 없다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0749B2F-16E7-77CC-3B19-C28FE0082E36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에너지 이동은 가능하지만 이브닝 시간대의 공급 공백은 그대로 남는다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EF6BBEC2-D7F8-F91C-F2EA-242926D9E466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[Feasibility] Single ESS Test  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E2209BAD-0FD7-C196-AFDC-069B6FC3E7AE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021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0E16FF34-7FB2-C8D6-BE1D-B8106369E8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D97E3FB6-C180-4C92-B8F2-DB56B519A678}"/>
              </a:ext>
            </a:extLst>
          </p:cNvPr>
          <p:cNvSpPr txBox="1"/>
          <p:nvPr/>
        </p:nvSpPr>
        <p:spPr>
          <a:xfrm>
            <a:off x="3581400" y="12255500"/>
            <a:ext cx="17233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는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보조 수단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일 수는 있으나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이브닝 피크 문제의 단독 해법이 되기는 어렵다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EAE1-3575-8811-0151-AD44B1D65F92}"/>
              </a:ext>
            </a:extLst>
          </p:cNvPr>
          <p:cNvSpPr txBox="1"/>
          <p:nvPr/>
        </p:nvSpPr>
        <p:spPr>
          <a:xfrm>
            <a:off x="16549569" y="4784963"/>
            <a:ext cx="6443877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기준선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중계동 실제 부하 구조</a:t>
            </a:r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본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그래프의 기준선은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중계동 실제 전력 부하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저녁 시간대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(18-21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에 뚜렷한 부하 피크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이는 </a:t>
            </a:r>
            <a:r>
              <a:rPr lang="ko-KR" altLang="en-US" sz="2200" dirty="0" err="1">
                <a:latin typeface="Pretendard Regular" panose="020B0600000101010101" charset="-127"/>
                <a:ea typeface="Pretendard Regular" panose="020B0600000101010101" charset="-127"/>
              </a:rPr>
              <a:t>주거형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지역의 전형적인 이브닝 피크 구조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적용 효과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에너지 이동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(Time-shift)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적용 시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주간 시간대의 전력이 저녁 시간대로 이동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되며 일부 피크 완화 효과를 나타낸다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이는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ESS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가 전력을 저장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및 방전함으로써 시간대 간 부하를 조정하는 역할을 수행하고 있음을 의미한다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구조적 한계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공급 공백은 여전히 존재</a:t>
            </a:r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ESS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적용 이후에도 저녁 시간대의 부하 곡선 형태 자체는 크게 변화하지 않는다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ESS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는 전력을 생산하는 설비가 아니기 때문에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이브닝 시간대의 구조적 공급 공백을 근본적으로 해소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할 수는 없다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즉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이브닝 피크는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저장 용량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이 아니라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 “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공급 공백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의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문제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648200"/>
            <a:ext cx="14048669" cy="69215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899944" y="11452930"/>
            <a:ext cx="67922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Pretendard Regular" panose="020B0600000101010101" charset="-127"/>
                <a:ea typeface="Pretendard Regular" panose="020B0600000101010101" charset="-127"/>
              </a:rPr>
              <a:t>This simulation evaluates ESS impact based on actual load, not net load.</a:t>
            </a:r>
            <a:endParaRPr lang="ko-KR" altLang="en-US" sz="16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564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167E4-3740-408B-BB2C-1732B3E7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0219459B-773E-5455-1359-3361EBD05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344606A-0456-582C-040F-4920CE753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930CF2CA-4CA0-4A0F-CA8A-042E3A3E1B2C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장주기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(Long-duration)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공백의 확대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ESS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경제적 임계점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83640375-E41F-398F-8C8F-7FEDE2A96758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출력과 용량의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비동조화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(Decoupling)”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통한 연료전지의 경제성 확보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41F7BADB-B8A0-54DF-7263-3390F3E0C5FB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Feasibility</a:t>
            </a: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] From Sprinter to Marathoner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FEF10FA3-6FA2-423C-7FDE-0B158C6801CA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022</a:t>
            </a:r>
            <a:endParaRPr lang="en" sz="2000" b="0" i="0" u="none" strike="noStrike" spc="40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9F92C6A6-25FE-E436-907D-02D252922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63FFD7B1-A7AD-D396-DAA6-FF9FC36AD118}"/>
              </a:ext>
            </a:extLst>
          </p:cNvPr>
          <p:cNvSpPr txBox="1"/>
          <p:nvPr/>
        </p:nvSpPr>
        <p:spPr>
          <a:xfrm>
            <a:off x="3473450" y="12255500"/>
            <a:ext cx="174498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약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7.3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시간을 기점으로 경제성이 역전되며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장주기 저장 수단으로서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연료전지 시스템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도입의 타당성을 확보한다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BBBC5F4E-6D08-CDFB-9267-0C8839166328}"/>
              </a:ext>
            </a:extLst>
          </p:cNvPr>
          <p:cNvSpPr txBox="1"/>
          <p:nvPr/>
        </p:nvSpPr>
        <p:spPr>
          <a:xfrm>
            <a:off x="14218557" y="42862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분석 인사이트 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(key Insights)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BD81CEA-F6A5-19CC-1AAA-70B1BFB24FED}"/>
              </a:ext>
            </a:extLst>
          </p:cNvPr>
          <p:cNvGrpSpPr/>
          <p:nvPr/>
        </p:nvGrpSpPr>
        <p:grpSpPr>
          <a:xfrm>
            <a:off x="14142356" y="5162550"/>
            <a:ext cx="8764815" cy="1962150"/>
            <a:chOff x="14142356" y="5162550"/>
            <a:chExt cx="8764815" cy="1962150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A46873F2-BF6B-18DA-0410-B75F572B5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5162550"/>
              <a:ext cx="8684824" cy="635000"/>
            </a:xfrm>
            <a:prstGeom prst="rect">
              <a:avLst/>
            </a:prstGeom>
          </p:spPr>
        </p:pic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0DED7A1B-96FC-A74B-1B88-2E8A608A3D09}"/>
                </a:ext>
              </a:extLst>
            </p:cNvPr>
            <p:cNvSpPr txBox="1"/>
            <p:nvPr/>
          </p:nvSpPr>
          <p:spPr>
            <a:xfrm>
              <a:off x="14332857" y="527685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b="0" i="0" u="none" strike="noStrike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Insight 01. 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Structural Constraint 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구조적 한계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221527F3-7CA6-119A-EC0B-F634DBCE2EC3}"/>
                </a:ext>
              </a:extLst>
            </p:cNvPr>
            <p:cNvSpPr txBox="1"/>
            <p:nvPr/>
          </p:nvSpPr>
          <p:spPr>
            <a:xfrm>
              <a:off x="14142356" y="5854700"/>
              <a:ext cx="8764815" cy="1270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Li-ion Battery (Coupled)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출력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(kW)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과 용량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(kWh)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이 동조화 되어 있어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, 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저장 시간 증가 시 배터리 모듈 비용이 정비례로 급증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06D6D0-1BB2-5F18-28E4-D1A83B54BAE4}"/>
              </a:ext>
            </a:extLst>
          </p:cNvPr>
          <p:cNvGrpSpPr/>
          <p:nvPr/>
        </p:nvGrpSpPr>
        <p:grpSpPr>
          <a:xfrm>
            <a:off x="14142356" y="9880600"/>
            <a:ext cx="8764815" cy="1873250"/>
            <a:chOff x="14142356" y="9588500"/>
            <a:chExt cx="8764815" cy="1873250"/>
          </a:xfrm>
        </p:grpSpPr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0D87FCA2-BC17-D702-54DE-914245811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9588500"/>
              <a:ext cx="8684824" cy="635000"/>
            </a:xfrm>
            <a:prstGeom prst="rect">
              <a:avLst/>
            </a:prstGeom>
          </p:spPr>
        </p:pic>
        <p:sp>
          <p:nvSpPr>
            <p:cNvPr id="22" name="TextBox 35">
              <a:extLst>
                <a:ext uri="{FF2B5EF4-FFF2-40B4-BE49-F238E27FC236}">
                  <a16:creationId xmlns:a16="http://schemas.microsoft.com/office/drawing/2014/main" id="{794BED60-CC15-E906-59E9-229EE246E5E1}"/>
                </a:ext>
              </a:extLst>
            </p:cNvPr>
            <p:cNvSpPr txBox="1"/>
            <p:nvPr/>
          </p:nvSpPr>
          <p:spPr>
            <a:xfrm>
              <a:off x="14332857" y="97028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Insight 03. Economic Threshold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경제적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임계점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24" name="TextBox 32">
              <a:extLst>
                <a:ext uri="{FF2B5EF4-FFF2-40B4-BE49-F238E27FC236}">
                  <a16:creationId xmlns:a16="http://schemas.microsoft.com/office/drawing/2014/main" id="{7D5E6077-6C6F-F60C-DC9A-0F418582C046}"/>
                </a:ext>
              </a:extLst>
            </p:cNvPr>
            <p:cNvSpPr txBox="1"/>
            <p:nvPr/>
          </p:nvSpPr>
          <p:spPr>
            <a:xfrm>
              <a:off x="14142356" y="10191750"/>
              <a:ext cx="8764815" cy="1270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약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7.3 Hours (Golden Cross)</a:t>
              </a:r>
            </a:p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8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시간 이상의 장주기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(Long-duration)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공백 대응 시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,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연료전지가 배터리 대비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LCOS(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저장 비용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우위를 점하는 전환점</a:t>
              </a:r>
              <a:endParaRPr lang="ko-KR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3737307-946A-8E66-A932-EBF8FE781902}"/>
              </a:ext>
            </a:extLst>
          </p:cNvPr>
          <p:cNvGrpSpPr/>
          <p:nvPr/>
        </p:nvGrpSpPr>
        <p:grpSpPr>
          <a:xfrm>
            <a:off x="14142356" y="7534275"/>
            <a:ext cx="8764815" cy="1936750"/>
            <a:chOff x="14142356" y="7594600"/>
            <a:chExt cx="8764815" cy="1936750"/>
          </a:xfrm>
        </p:grpSpPr>
        <p:sp>
          <p:nvSpPr>
            <p:cNvPr id="7" name="TextBox 32">
              <a:extLst>
                <a:ext uri="{FF2B5EF4-FFF2-40B4-BE49-F238E27FC236}">
                  <a16:creationId xmlns:a16="http://schemas.microsoft.com/office/drawing/2014/main" id="{42EC1C8E-FD63-197F-3E8C-9C876598515D}"/>
                </a:ext>
              </a:extLst>
            </p:cNvPr>
            <p:cNvSpPr txBox="1"/>
            <p:nvPr/>
          </p:nvSpPr>
          <p:spPr>
            <a:xfrm>
              <a:off x="14142356" y="8261350"/>
              <a:ext cx="8764815" cy="1270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Fuel Cell System (Decoupled)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발전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스택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과 저장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탱크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이 분리된 구조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저장 시간 연장 시 저렴한 탱크 비용만 추가</a:t>
              </a:r>
              <a:endParaRPr lang="ko-KR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9E9B2595-5915-3D28-F589-3094B18FF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7594600"/>
              <a:ext cx="8684824" cy="635000"/>
            </a:xfrm>
            <a:prstGeom prst="rect">
              <a:avLst/>
            </a:prstGeom>
          </p:spPr>
        </p:pic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9241ECB5-8F4D-E23E-3A16-EB6EBD91B270}"/>
                </a:ext>
              </a:extLst>
            </p:cNvPr>
            <p:cNvSpPr txBox="1"/>
            <p:nvPr/>
          </p:nvSpPr>
          <p:spPr>
            <a:xfrm>
              <a:off x="14332857" y="77089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Insight 02. Scale Advantage (</a:t>
              </a:r>
              <a:r>
                <a:rPr lang="ko-KR" altLang="en-US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규모의 경제</a:t>
              </a: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pic>
        <p:nvPicPr>
          <p:cNvPr id="23" name="그림 22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A71091-9564-1D40-4445-73CF79A765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00" y="4381500"/>
            <a:ext cx="12276668" cy="73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19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6839-46C5-EBA6-E6A9-37B65E83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50D3EE41-5679-9618-6546-3A0ADEC40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963C1AB-5B36-97A3-182C-8A845378B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7338EA76-587D-984B-E2A3-C290E7843794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과도기적 해법 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“LNG 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연료전지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”, 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여전한 탄소의 굴레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773E2133-6ED8-CB90-7FF1-434599D9FFB1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도심형 분산 </a:t>
            </a:r>
            <a:r>
              <a:rPr lang="ko-KR" altLang="en-US" sz="2933" b="0" i="0" u="none" strike="noStrike" spc="-88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전원으로서의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가치와 그레이 수소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(Grey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H2)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의 구조적 한계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42FFB29D-67CC-E3F7-4DF4-3F3BE2882906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Feasibility</a:t>
            </a: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] The Dilemma of Grey Hydrogen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45657030-BE8C-1944-E3AE-705C44FC92BC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023</a:t>
            </a:r>
            <a:endParaRPr lang="en" sz="2000" b="0" i="0" u="none" strike="noStrike" spc="40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4971703D-CFEB-34E3-74C5-1B553E81B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6F9CEA77-E3FA-1EC0-4D22-1FA1070C04F6}"/>
              </a:ext>
            </a:extLst>
          </p:cNvPr>
          <p:cNvSpPr txBox="1"/>
          <p:nvPr/>
        </p:nvSpPr>
        <p:spPr>
          <a:xfrm>
            <a:off x="3473450" y="12255500"/>
            <a:ext cx="174498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가스 기반 연료전지는 현실적 대안이나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탄소중립 완성을 위해선 수소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(Green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H2)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로의 연료 전환이 필수적이다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B434C762-0189-888E-F726-E6B32D5370BC}"/>
              </a:ext>
            </a:extLst>
          </p:cNvPr>
          <p:cNvSpPr txBox="1"/>
          <p:nvPr/>
        </p:nvSpPr>
        <p:spPr>
          <a:xfrm>
            <a:off x="14218557" y="42862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분석 인사이트 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(key Insights)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71F43F-AB41-2516-502C-0D1520046423}"/>
              </a:ext>
            </a:extLst>
          </p:cNvPr>
          <p:cNvGrpSpPr/>
          <p:nvPr/>
        </p:nvGrpSpPr>
        <p:grpSpPr>
          <a:xfrm>
            <a:off x="14142356" y="5162550"/>
            <a:ext cx="8764815" cy="1962150"/>
            <a:chOff x="14142356" y="5162550"/>
            <a:chExt cx="8764815" cy="1962150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1E7ECBF5-72EA-D340-D91A-D3B193B2F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5162550"/>
              <a:ext cx="8684824" cy="635000"/>
            </a:xfrm>
            <a:prstGeom prst="rect">
              <a:avLst/>
            </a:prstGeom>
          </p:spPr>
        </p:pic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33C22593-0D77-3DA6-0333-F9DA8499003E}"/>
                </a:ext>
              </a:extLst>
            </p:cNvPr>
            <p:cNvSpPr txBox="1"/>
            <p:nvPr/>
          </p:nvSpPr>
          <p:spPr>
            <a:xfrm>
              <a:off x="14332857" y="527685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b="0" i="0" u="none" strike="noStrike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Status. Accessibility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인프라 활용성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FC715750-EF7D-58BD-5B78-55AA4D925626}"/>
                </a:ext>
              </a:extLst>
            </p:cNvPr>
            <p:cNvSpPr txBox="1"/>
            <p:nvPr/>
          </p:nvSpPr>
          <p:spPr>
            <a:xfrm>
              <a:off x="14142356" y="5854700"/>
              <a:ext cx="8764815" cy="1270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기존 도시가스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(LNG)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배관망을 그대로 활용하여 도심지 내 설치가 용이함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송전탑 건설 없이 </a:t>
              </a:r>
              <a:r>
                <a:rPr lang="ko-KR" altLang="en-US" sz="2133" spc="-85" dirty="0" err="1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수요지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인근에서 전기를 생산하는 분산형 전원으로 최적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40A6301-386D-06F9-71B0-F1D97B39B102}"/>
              </a:ext>
            </a:extLst>
          </p:cNvPr>
          <p:cNvGrpSpPr/>
          <p:nvPr/>
        </p:nvGrpSpPr>
        <p:grpSpPr>
          <a:xfrm>
            <a:off x="14142356" y="9880600"/>
            <a:ext cx="8764815" cy="1873250"/>
            <a:chOff x="14142356" y="9588500"/>
            <a:chExt cx="8764815" cy="1873250"/>
          </a:xfrm>
        </p:grpSpPr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1A5471FF-F4E9-34B8-F02E-D8DC53AA6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9588500"/>
              <a:ext cx="8684824" cy="635000"/>
            </a:xfrm>
            <a:prstGeom prst="rect">
              <a:avLst/>
            </a:prstGeom>
          </p:spPr>
        </p:pic>
        <p:sp>
          <p:nvSpPr>
            <p:cNvPr id="22" name="TextBox 35">
              <a:extLst>
                <a:ext uri="{FF2B5EF4-FFF2-40B4-BE49-F238E27FC236}">
                  <a16:creationId xmlns:a16="http://schemas.microsoft.com/office/drawing/2014/main" id="{28343D7A-27B4-B051-A639-73E0355958C9}"/>
                </a:ext>
              </a:extLst>
            </p:cNvPr>
            <p:cNvSpPr txBox="1"/>
            <p:nvPr/>
          </p:nvSpPr>
          <p:spPr>
            <a:xfrm>
              <a:off x="14332857" y="97028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Risk. Price Volatility 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연료 가격 민감도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24" name="TextBox 32">
              <a:extLst>
                <a:ext uri="{FF2B5EF4-FFF2-40B4-BE49-F238E27FC236}">
                  <a16:creationId xmlns:a16="http://schemas.microsoft.com/office/drawing/2014/main" id="{FBEB7538-D274-A6FB-EB94-78EDC08CBEC2}"/>
                </a:ext>
              </a:extLst>
            </p:cNvPr>
            <p:cNvSpPr txBox="1"/>
            <p:nvPr/>
          </p:nvSpPr>
          <p:spPr>
            <a:xfrm>
              <a:off x="14142356" y="10191750"/>
              <a:ext cx="8764815" cy="1270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국내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LNG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가격 변동에 따라 발전 원가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(SMP)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가 직접적인 영향을 받음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에너지 안보 및 운영 비용의 불확실성 상존</a:t>
              </a:r>
              <a:endParaRPr lang="ko-KR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CAE4A87-C549-308E-F01E-C27530A37476}"/>
              </a:ext>
            </a:extLst>
          </p:cNvPr>
          <p:cNvGrpSpPr/>
          <p:nvPr/>
        </p:nvGrpSpPr>
        <p:grpSpPr>
          <a:xfrm>
            <a:off x="14142356" y="7534275"/>
            <a:ext cx="8764815" cy="1936750"/>
            <a:chOff x="14142356" y="7594600"/>
            <a:chExt cx="8764815" cy="1936750"/>
          </a:xfrm>
        </p:grpSpPr>
        <p:sp>
          <p:nvSpPr>
            <p:cNvPr id="7" name="TextBox 32">
              <a:extLst>
                <a:ext uri="{FF2B5EF4-FFF2-40B4-BE49-F238E27FC236}">
                  <a16:creationId xmlns:a16="http://schemas.microsoft.com/office/drawing/2014/main" id="{0FA39264-6CF2-7250-7601-C7A280825C58}"/>
                </a:ext>
              </a:extLst>
            </p:cNvPr>
            <p:cNvSpPr txBox="1"/>
            <p:nvPr/>
          </p:nvSpPr>
          <p:spPr>
            <a:xfrm>
              <a:off x="14142356" y="8261350"/>
              <a:ext cx="8764815" cy="1270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천연가스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(CH4)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를 개질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(Reforming)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하여 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수소를 추출하는 과정에서 필연적으로 이산화탄소가 발생함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화력 발전 대비 배출량은 적으나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“Net-Zero(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탄소중립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)”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달성에는 불완전한 대안</a:t>
              </a:r>
              <a:endParaRPr lang="ko-KR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F787CC51-EA6F-65CE-8990-389005B3F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7594600"/>
              <a:ext cx="8684824" cy="635000"/>
            </a:xfrm>
            <a:prstGeom prst="rect">
              <a:avLst/>
            </a:prstGeom>
          </p:spPr>
        </p:pic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D463A2CF-D360-BDD6-4F2A-B67FED415C88}"/>
                </a:ext>
              </a:extLst>
            </p:cNvPr>
            <p:cNvSpPr txBox="1"/>
            <p:nvPr/>
          </p:nvSpPr>
          <p:spPr>
            <a:xfrm>
              <a:off x="14332857" y="77089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Problem. Grey</a:t>
              </a:r>
              <a:r>
                <a:rPr lang="ko-KR" altLang="en-US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Hydrogen (</a:t>
              </a:r>
              <a:r>
                <a:rPr lang="ko-KR" altLang="en-US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환경적 딜레마</a:t>
              </a: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pic>
        <p:nvPicPr>
          <p:cNvPr id="5" name="그림 4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558B80-DF03-F65C-786B-21A36CF38A8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43" y="4340225"/>
            <a:ext cx="12319001" cy="7391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47EF02-C792-5967-7C6F-D0668F2872A6}"/>
              </a:ext>
            </a:extLst>
          </p:cNvPr>
          <p:cNvSpPr txBox="1"/>
          <p:nvPr/>
        </p:nvSpPr>
        <p:spPr>
          <a:xfrm>
            <a:off x="4181928" y="11626334"/>
            <a:ext cx="937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* 단위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: gCO2/kWh (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전력 생산 탄소 배출 원단위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).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발전원별 일반적인 산업 평균 추정치 기준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en-US" sz="20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7385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D03F2-366A-2C8C-D6F0-09800E4E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F9F2E62-5B5C-E241-0A79-82FACFF7B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43F2E33-AB06-7756-E914-73BEB8C38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73F2723B-A8C4-1A7B-6575-38FB5EA6469B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Game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Changer, 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그린 수소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(Green H2)”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로의 진화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097D746-81A1-8F5E-F7EB-2823DE47DCC8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탄소 제로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(Net-Zero)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와 에너지 안보를 동시에 달성하는 궁극의 유연성 자원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61970A-99FF-E93C-D794-D7964FDD8694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Feasibility</a:t>
            </a: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] The Ultimate Transition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E7331AB4-18CF-6897-B997-DE1D9B0D04D1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024</a:t>
            </a:r>
            <a:endParaRPr lang="en" sz="2000" b="0" i="0" u="none" strike="noStrike" spc="40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369CEC56-F98F-865E-AE68-2637C81BA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1082E27F-10B0-B7A4-2A41-C67FF04F7B30}"/>
              </a:ext>
            </a:extLst>
          </p:cNvPr>
          <p:cNvSpPr txBox="1"/>
          <p:nvPr/>
        </p:nvSpPr>
        <p:spPr>
          <a:xfrm>
            <a:off x="3473450" y="12255500"/>
            <a:ext cx="174498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수소 연료전지는 단순한 기술 교체가 아니라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“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탄소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와 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비용 변동성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 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리스크를 동시에 제거하는 전략적 선택이다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6AEE151E-DD2C-BBDD-5ABB-5CAF67B7E3D0}"/>
              </a:ext>
            </a:extLst>
          </p:cNvPr>
          <p:cNvSpPr txBox="1"/>
          <p:nvPr/>
        </p:nvSpPr>
        <p:spPr>
          <a:xfrm>
            <a:off x="14218557" y="42862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분석 인사이트 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(key Insights)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B7F0A86-68D7-E132-F4FE-7FF2F84F1244}"/>
              </a:ext>
            </a:extLst>
          </p:cNvPr>
          <p:cNvGrpSpPr/>
          <p:nvPr/>
        </p:nvGrpSpPr>
        <p:grpSpPr>
          <a:xfrm>
            <a:off x="14142356" y="5162550"/>
            <a:ext cx="8764815" cy="1962150"/>
            <a:chOff x="14142356" y="5162550"/>
            <a:chExt cx="8764815" cy="1962150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693A393E-7F65-1B11-3246-D8AF266E6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5162550"/>
              <a:ext cx="8684824" cy="635000"/>
            </a:xfrm>
            <a:prstGeom prst="rect">
              <a:avLst/>
            </a:prstGeom>
          </p:spPr>
        </p:pic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F86E6527-7D8A-E99E-E92E-CEAD16C98C9F}"/>
                </a:ext>
              </a:extLst>
            </p:cNvPr>
            <p:cNvSpPr txBox="1"/>
            <p:nvPr/>
          </p:nvSpPr>
          <p:spPr>
            <a:xfrm>
              <a:off x="14332857" y="527685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b="0" i="0" u="none" strike="noStrike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Insight 01. 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Zero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Emission 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완벽한 </a:t>
              </a:r>
              <a:r>
                <a:rPr lang="ko-KR" altLang="en-US" sz="2400" spc="-72" dirty="0" err="1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청정성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DF7E66DD-58C3-1E34-510F-B650EB99985E}"/>
                </a:ext>
              </a:extLst>
            </p:cNvPr>
            <p:cNvSpPr txBox="1"/>
            <p:nvPr/>
          </p:nvSpPr>
          <p:spPr>
            <a:xfrm>
              <a:off x="14142356" y="5854700"/>
              <a:ext cx="8764815" cy="1270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Carbon Free (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무 탄소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연료 전환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(Fuel Switching)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을 통해 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발전 과정의 이산화탄소 배출을  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“Zero”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로 만들어 진정한 탄소중립 실현</a:t>
              </a:r>
              <a:endParaRPr lang="en-US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E7253EA-2A1A-A4B1-EAE9-BBD61BD89DBF}"/>
              </a:ext>
            </a:extLst>
          </p:cNvPr>
          <p:cNvGrpSpPr/>
          <p:nvPr/>
        </p:nvGrpSpPr>
        <p:grpSpPr>
          <a:xfrm>
            <a:off x="14142356" y="9880600"/>
            <a:ext cx="8764815" cy="1873250"/>
            <a:chOff x="14142356" y="9588500"/>
            <a:chExt cx="8764815" cy="1873250"/>
          </a:xfrm>
        </p:grpSpPr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02F78D6A-1314-EA32-8D98-3C209BF16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9588500"/>
              <a:ext cx="8684824" cy="635000"/>
            </a:xfrm>
            <a:prstGeom prst="rect">
              <a:avLst/>
            </a:prstGeom>
          </p:spPr>
        </p:pic>
        <p:sp>
          <p:nvSpPr>
            <p:cNvPr id="22" name="TextBox 35">
              <a:extLst>
                <a:ext uri="{FF2B5EF4-FFF2-40B4-BE49-F238E27FC236}">
                  <a16:creationId xmlns:a16="http://schemas.microsoft.com/office/drawing/2014/main" id="{E2A553E6-1751-2D16-4DDF-C51E87344EDF}"/>
                </a:ext>
              </a:extLst>
            </p:cNvPr>
            <p:cNvSpPr txBox="1"/>
            <p:nvPr/>
          </p:nvSpPr>
          <p:spPr>
            <a:xfrm>
              <a:off x="14332857" y="97028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Insight 03. Sourcing Strategy (</a:t>
              </a:r>
              <a:r>
                <a:rPr lang="ko-KR" altLang="en-US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조달 최적화</a:t>
              </a:r>
              <a:r>
                <a:rPr lang="en-US" altLang="ko-KR" sz="2400" spc="-72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24" name="TextBox 32">
              <a:extLst>
                <a:ext uri="{FF2B5EF4-FFF2-40B4-BE49-F238E27FC236}">
                  <a16:creationId xmlns:a16="http://schemas.microsoft.com/office/drawing/2014/main" id="{AF9AAF2F-A433-9643-36F3-3CBA3F462E96}"/>
                </a:ext>
              </a:extLst>
            </p:cNvPr>
            <p:cNvSpPr txBox="1"/>
            <p:nvPr/>
          </p:nvSpPr>
          <p:spPr>
            <a:xfrm>
              <a:off x="14142356" y="10191750"/>
              <a:ext cx="8764815" cy="1270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Regional P2G Link (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광역 수소 연계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남부 지방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제주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·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호남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의 잉여 전력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(Curtailment)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으로 생산한 그린 수소를 공급 받아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,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수도권 수요 공백을 해결하는 지역 융합형 모델</a:t>
              </a:r>
              <a:endParaRPr lang="ko-KR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0493A93-15CA-AE94-E8C6-4CEF22CC4FD2}"/>
              </a:ext>
            </a:extLst>
          </p:cNvPr>
          <p:cNvGrpSpPr/>
          <p:nvPr/>
        </p:nvGrpSpPr>
        <p:grpSpPr>
          <a:xfrm>
            <a:off x="14142356" y="7534275"/>
            <a:ext cx="8764815" cy="1936750"/>
            <a:chOff x="14142356" y="7594600"/>
            <a:chExt cx="8764815" cy="1936750"/>
          </a:xfrm>
        </p:grpSpPr>
        <p:sp>
          <p:nvSpPr>
            <p:cNvPr id="7" name="TextBox 32">
              <a:extLst>
                <a:ext uri="{FF2B5EF4-FFF2-40B4-BE49-F238E27FC236}">
                  <a16:creationId xmlns:a16="http://schemas.microsoft.com/office/drawing/2014/main" id="{34503347-FE09-5095-87CB-7568A0CD27A2}"/>
                </a:ext>
              </a:extLst>
            </p:cNvPr>
            <p:cNvSpPr txBox="1"/>
            <p:nvPr/>
          </p:nvSpPr>
          <p:spPr>
            <a:xfrm>
              <a:off x="14142356" y="8261350"/>
              <a:ext cx="8764815" cy="1270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28650"/>
                </a:lnSpc>
              </a:pP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Decoupling from Oil Price (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유가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탈동조화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국제 화석연료 가격 변동 위험에서 벗어나</a:t>
              </a:r>
              <a:r>
                <a:rPr lang="en-US" altLang="ko-KR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,</a:t>
              </a:r>
            </a:p>
            <a:p>
              <a:pPr lvl="0" algn="ctr">
                <a:lnSpc>
                  <a:spcPct val="128650"/>
                </a:lnSpc>
              </a:pPr>
              <a:r>
                <a:rPr lang="ko-KR" altLang="en-US" sz="2133" spc="-85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자체 생산 가능한 그린 수소를 통해 운영 비용 안정화</a:t>
              </a:r>
              <a:endParaRPr lang="ko-KR" altLang="ko-KR" sz="2133" spc="-85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F1534295-CD37-EE24-9519-011101856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4218557" y="7594600"/>
              <a:ext cx="8684824" cy="635000"/>
            </a:xfrm>
            <a:prstGeom prst="rect">
              <a:avLst/>
            </a:prstGeom>
          </p:spPr>
        </p:pic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4C114555-39D8-80AA-CA35-2EBEEE991C2C}"/>
                </a:ext>
              </a:extLst>
            </p:cNvPr>
            <p:cNvSpPr txBox="1"/>
            <p:nvPr/>
          </p:nvSpPr>
          <p:spPr>
            <a:xfrm>
              <a:off x="14332857" y="7708900"/>
              <a:ext cx="8470900" cy="431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Insight 02. Price Stability (</a:t>
              </a:r>
              <a:r>
                <a:rPr lang="ko-KR" altLang="en-US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에너지 안보</a:t>
              </a:r>
              <a:r>
                <a:rPr lang="en-US" altLang="ko-KR" sz="2400" spc="-72" dirty="0"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ko-KR" sz="240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6A29357-CACD-F0A5-926B-4E97CA422B16}"/>
              </a:ext>
            </a:extLst>
          </p:cNvPr>
          <p:cNvSpPr txBox="1"/>
          <p:nvPr/>
        </p:nvSpPr>
        <p:spPr>
          <a:xfrm>
            <a:off x="1144814" y="11641400"/>
            <a:ext cx="7306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가스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노란색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의 인프라 강점과 수소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초록색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의 미래 가치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환경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/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안보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대비</a:t>
            </a:r>
          </a:p>
        </p:txBody>
      </p:sp>
      <p:pic>
        <p:nvPicPr>
          <p:cNvPr id="20" name="그림 19" descr="텍스트, 지도, 지구, 아틀라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A9FA46-89BC-F73B-5E62-2BA099BD9E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275" y="4010025"/>
            <a:ext cx="8147050" cy="8147050"/>
          </a:xfrm>
          <a:prstGeom prst="rect">
            <a:avLst/>
          </a:prstGeom>
        </p:spPr>
      </p:pic>
      <p:pic>
        <p:nvPicPr>
          <p:cNvPr id="15" name="그림 14" descr="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036722-614B-1B52-7A11-240CD9F8EC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43" y="4381500"/>
            <a:ext cx="7191828" cy="716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47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F6D6-57B9-F9E2-1E10-F9C6980FF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DA529D7-C533-D0A7-4AAD-DF8349BFA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12F473C-D915-BC1D-35B8-360F2C1CE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703ADEDC-C5E9-F070-AE1C-B57331BF367A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From Grey to Green: 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정량적 가치의 도약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7DF9086D-F415-E9E3-8F3D-7DBF3A066287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환경성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경제성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유연성 등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5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대 핵심지표에서 압도적 우위 확보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80C2F7FB-59FE-1F74-45A6-492F8B30135C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Feasibility</a:t>
            </a: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] Quantitative Analysis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FA7120D7-FD95-3CCF-3C51-B8303A5D72ED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025</a:t>
            </a:r>
            <a:endParaRPr lang="en" sz="2000" b="0" i="0" u="none" strike="noStrike" spc="40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0C5AFA88-7E5B-7A8B-250F-1E5C64517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79560F6B-6AB5-4B82-87E8-177C3867D720}"/>
              </a:ext>
            </a:extLst>
          </p:cNvPr>
          <p:cNvSpPr txBox="1"/>
          <p:nvPr/>
        </p:nvSpPr>
        <p:spPr>
          <a:xfrm>
            <a:off x="3473450" y="12255500"/>
            <a:ext cx="174498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단순 친환경성을 넘어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빠른 기동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(Flexibility)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과 정책 수익성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(REC)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을 통해 경제적 타당성 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(Feasibility)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를 확보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392834-2A6E-8EDB-3FE7-955B9B914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551986"/>
              </p:ext>
            </p:extLst>
          </p:nvPr>
        </p:nvGraphicFramePr>
        <p:xfrm>
          <a:off x="1186543" y="4387114"/>
          <a:ext cx="12734472" cy="742388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83618">
                  <a:extLst>
                    <a:ext uri="{9D8B030D-6E8A-4147-A177-3AD203B41FA5}">
                      <a16:colId xmlns:a16="http://schemas.microsoft.com/office/drawing/2014/main" val="2259906179"/>
                    </a:ext>
                  </a:extLst>
                </a:gridCol>
                <a:gridCol w="3183618">
                  <a:extLst>
                    <a:ext uri="{9D8B030D-6E8A-4147-A177-3AD203B41FA5}">
                      <a16:colId xmlns:a16="http://schemas.microsoft.com/office/drawing/2014/main" val="3736405598"/>
                    </a:ext>
                  </a:extLst>
                </a:gridCol>
                <a:gridCol w="3183618">
                  <a:extLst>
                    <a:ext uri="{9D8B030D-6E8A-4147-A177-3AD203B41FA5}">
                      <a16:colId xmlns:a16="http://schemas.microsoft.com/office/drawing/2014/main" val="3593887969"/>
                    </a:ext>
                  </a:extLst>
                </a:gridCol>
                <a:gridCol w="3183618">
                  <a:extLst>
                    <a:ext uri="{9D8B030D-6E8A-4147-A177-3AD203B41FA5}">
                      <a16:colId xmlns:a16="http://schemas.microsoft.com/office/drawing/2014/main" val="1568308406"/>
                    </a:ext>
                  </a:extLst>
                </a:gridCol>
              </a:tblGrid>
              <a:tr h="1237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구분 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Category)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LNG 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연료전지 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Current)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그린 수소 연료전지 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(Future)</a:t>
                      </a:r>
                      <a:endParaRPr lang="ko-KR" altLang="en-US" sz="2400" dirty="0">
                        <a:solidFill>
                          <a:schemeClr val="tx1"/>
                        </a:solidFill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핵심 가치 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Value)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596811"/>
                  </a:ext>
                </a:extLst>
              </a:tr>
              <a:tr h="1237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연료 공급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Source)</a:t>
                      </a:r>
                      <a:endParaRPr 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해외 수입 </a:t>
                      </a:r>
                      <a:r>
                        <a:rPr lang="en-US" altLang="ko-KR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(</a:t>
                      </a:r>
                      <a:r>
                        <a:rPr 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LNG)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국내 </a:t>
                      </a: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P2G </a:t>
                      </a: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생산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Local)</a:t>
                      </a:r>
                      <a:endParaRPr 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에너지 자립 </a:t>
                      </a:r>
                      <a:r>
                        <a:rPr lang="en-US" altLang="ko-KR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(</a:t>
                      </a: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안보</a:t>
                      </a:r>
                      <a:r>
                        <a:rPr lang="en-US" altLang="ko-KR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2528302"/>
                  </a:ext>
                </a:extLst>
              </a:tr>
              <a:tr h="1237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탄소 배출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CO2)</a:t>
                      </a:r>
                      <a:endParaRPr 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280 g/kWh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 g/kWh (Zero)</a:t>
                      </a:r>
                      <a:endParaRPr 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Net-Zero </a:t>
                      </a: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087153"/>
                  </a:ext>
                </a:extLst>
              </a:tr>
              <a:tr h="1237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기동 시간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Start-up)</a:t>
                      </a:r>
                      <a:endParaRPr 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60</a:t>
                      </a: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분 이상 </a:t>
                      </a:r>
                      <a:r>
                        <a:rPr lang="en-US" altLang="ko-KR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(</a:t>
                      </a:r>
                      <a:r>
                        <a:rPr 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Slow)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10</a:t>
                      </a: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 이내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Fast)</a:t>
                      </a:r>
                      <a:endParaRPr 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급전 지시 즉각 대응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6728697"/>
                  </a:ext>
                </a:extLst>
              </a:tr>
              <a:tr h="1237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연료비 리스크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(Risk)</a:t>
                      </a:r>
                      <a:endParaRPr lang="ko-KR" alt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유가 연동 </a:t>
                      </a:r>
                      <a:r>
                        <a:rPr lang="en-US" altLang="ko-KR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(</a:t>
                      </a:r>
                      <a:r>
                        <a:rPr 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High)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고정비 위주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Low)</a:t>
                      </a:r>
                      <a:endParaRPr 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운영 비용 안정화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00496"/>
                  </a:ext>
                </a:extLst>
              </a:tr>
              <a:tr h="1237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REC </a:t>
                      </a: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가중치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Profit)</a:t>
                      </a:r>
                      <a:endParaRPr 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1.9 (</a:t>
                      </a: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일반</a:t>
                      </a:r>
                      <a:r>
                        <a:rPr lang="en-US" altLang="ko-KR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3.0 </a:t>
                      </a: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이상 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청정</a:t>
                      </a:r>
                      <a:r>
                        <a:rPr lang="en-US" altLang="ko-KR" sz="2400" b="1" dirty="0">
                          <a:effectLst/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endParaRPr lang="ko-KR" altLang="en-US" sz="2400" dirty="0">
                        <a:effectLst/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수익성 극대화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5302975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B92B83-9FDB-8D59-A650-3780381F213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593" y="4686300"/>
            <a:ext cx="9102864" cy="679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49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C64C9-227D-3F06-A308-C16E955F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9C8CEE3-18FC-B7A4-9A2C-D168FD97E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9C8BEF36-8826-A57E-D041-69D13BB37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214BB5B3-D6F0-8F00-37D9-631BA35F51EA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Step-by-Step,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완성형 에너지 자립을 향한 여정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D87E7F22-96D0-314A-D8EE-59D102B52F9A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기존 인프라 활용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(grey)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에서 완전한 청정 수소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(Green)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로의 단계적 전환 계획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0217A623-CC57-5E6A-33B1-074B08AFBBC5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</a:t>
            </a:r>
            <a:r>
              <a:rPr lang="en-US" altLang="ko-KR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Feasibility</a:t>
            </a: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] Roadmap to Net-Zero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17846804-0A0A-853B-5574-77BD38026564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026</a:t>
            </a:r>
            <a:endParaRPr lang="en" sz="2000" b="0" i="0" u="none" strike="noStrike" spc="40" dirty="0">
              <a:solidFill>
                <a:srgbClr val="FFFFFF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EAC86B27-2E6F-D1E7-8E09-4771FE1D6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6100"/>
            <a:ext cx="22580602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483D4622-4AB7-B3C6-C0C4-06C49BA36F28}"/>
              </a:ext>
            </a:extLst>
          </p:cNvPr>
          <p:cNvSpPr txBox="1"/>
          <p:nvPr/>
        </p:nvSpPr>
        <p:spPr>
          <a:xfrm>
            <a:off x="3473450" y="12255500"/>
            <a:ext cx="174498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오늘의 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현실적 대안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(LNG)”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 내일의 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완벽한 미래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Green H2</a:t>
            </a:r>
            <a:r>
              <a:rPr lang="en-US" altLang="ko-KR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)”</a:t>
            </a:r>
            <a:r>
              <a:rPr lang="ko-KR" altLang="en-US" sz="2930" b="0" i="0" u="none" strike="noStrike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 이어지는 징검다리로 전환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5" name="그림 4" descr="텍스트, 스크린샷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74B8AB-5CE8-D00B-BF2E-FC4E716781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127500"/>
            <a:ext cx="13177130" cy="7848600"/>
          </a:xfrm>
          <a:prstGeom prst="rect">
            <a:avLst/>
          </a:prstGeom>
        </p:spPr>
      </p:pic>
      <p:pic>
        <p:nvPicPr>
          <p:cNvPr id="16" name="그림 15" descr="텍스트, 스크린샷, 원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2E65D2-EE85-BCFC-E10D-D0B24D5BA72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0" y="3764669"/>
            <a:ext cx="8728501" cy="872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66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3">
            <a:extLst>
              <a:ext uri="{FF2B5EF4-FFF2-40B4-BE49-F238E27FC236}">
                <a16:creationId xmlns:a16="http://schemas.microsoft.com/office/drawing/2014/main" id="{B78E56F9-745B-D888-05CA-FC6C0BC1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4215850"/>
            <a:ext cx="10947400" cy="873815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ECE3FF-AC8B-4912-692B-B0AACBA70915}"/>
              </a:ext>
            </a:extLst>
          </p:cNvPr>
          <p:cNvSpPr/>
          <p:nvPr/>
        </p:nvSpPr>
        <p:spPr>
          <a:xfrm>
            <a:off x="901700" y="4229100"/>
            <a:ext cx="10947400" cy="393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09999C39-9AB8-544D-E219-F1F85C013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162" y="4215850"/>
            <a:ext cx="10947400" cy="873815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00" y="11468100"/>
            <a:ext cx="2527300" cy="698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11468100"/>
            <a:ext cx="2578100" cy="698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0300" y="11468100"/>
            <a:ext cx="2578100" cy="698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7645400"/>
            <a:ext cx="939800" cy="939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235700" y="7924800"/>
            <a:ext cx="406400" cy="40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7856200" y="6057900"/>
            <a:ext cx="4826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7653000" y="8140700"/>
            <a:ext cx="889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4605000" y="8140700"/>
            <a:ext cx="8890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20688300" y="8128000"/>
            <a:ext cx="889000" cy="25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36600" y="4737100"/>
            <a:ext cx="9296400" cy="977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436600" y="6680200"/>
            <a:ext cx="9296400" cy="977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474700" y="8928100"/>
            <a:ext cx="9309100" cy="3213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39800" y="9118600"/>
            <a:ext cx="2819400" cy="2819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687800" y="9118600"/>
            <a:ext cx="2819400" cy="2819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723100" y="9118600"/>
            <a:ext cx="2819400" cy="2819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767300" y="5854700"/>
            <a:ext cx="635000" cy="635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7957800" y="6045200"/>
            <a:ext cx="279400" cy="2794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4630400" y="4953000"/>
            <a:ext cx="6934200" cy="5461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3066" b="0" i="0" u="none" strike="noStrike" spc="-9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설비 중심 접근</a:t>
            </a:r>
            <a:endParaRPr lang="ko-KR" sz="3066" b="0" i="0" u="none" strike="noStrike" spc="-9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630400" y="6896100"/>
            <a:ext cx="6934200" cy="5461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3066" b="0" i="0" u="none" strike="noStrike" spc="-9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역할 기반 설비 조합 전략</a:t>
            </a:r>
            <a:endParaRPr lang="ko-KR" sz="3066" b="0" i="0" u="none" strike="noStrike" spc="-9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919200" y="10363200"/>
            <a:ext cx="2247900" cy="10033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altLang="en-US" sz="2670" b="0" i="0" u="none" strike="noStrike" spc="-80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주간 집중 발전</a:t>
            </a:r>
            <a:endParaRPr lang="en-US" altLang="ko-KR" sz="2670" b="0" i="0" u="none" strike="noStrike" spc="-80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28650"/>
              </a:lnSpc>
            </a:pPr>
            <a:r>
              <a:rPr lang="ko-KR" altLang="en-US" sz="2670" spc="-80" dirty="0" err="1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저녁피크</a:t>
            </a:r>
            <a:r>
              <a:rPr lang="ko-KR" altLang="en-US" sz="2670" spc="-80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부적합</a:t>
            </a:r>
            <a:endParaRPr lang="ko-KR" sz="2670" b="0" i="0" u="none" strike="noStrike" spc="-80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6954500" y="10363200"/>
            <a:ext cx="2260600" cy="10033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en-US" altLang="ko-KR" sz="2670" b="0" i="0" u="none" strike="noStrike" spc="-80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Ti</a:t>
            </a:r>
            <a:r>
              <a:rPr lang="en-US" altLang="ko-KR" sz="2670" spc="-80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me Shift</a:t>
            </a:r>
          </a:p>
          <a:p>
            <a:pPr lvl="0" algn="ctr">
              <a:lnSpc>
                <a:spcPct val="128650"/>
              </a:lnSpc>
            </a:pPr>
            <a:r>
              <a:rPr lang="ko-KR" altLang="en-US" sz="2670" spc="-80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전기 생산 불가</a:t>
            </a:r>
            <a:endParaRPr lang="ko-KR" sz="2670" b="0" i="0" u="none" strike="noStrike" spc="-80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9913600" y="10363200"/>
            <a:ext cx="2438400" cy="10033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en-US" altLang="ko-KR" sz="2670" b="0" i="0" u="none" strike="noStrike" spc="-80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Peak </a:t>
            </a:r>
            <a:r>
              <a:rPr lang="ko-KR" altLang="en-US" sz="2670" b="0" i="0" u="none" strike="noStrike" spc="-80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대응 전원</a:t>
            </a:r>
            <a:endParaRPr lang="ko-KR" sz="2670" b="0" i="0" u="none" strike="noStrike" spc="-80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28650"/>
              </a:lnSpc>
            </a:pPr>
            <a:r>
              <a:rPr lang="ko-KR" altLang="en-US" sz="2670" b="0" i="0" u="none" strike="noStrike" spc="-80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제약 없음</a:t>
            </a:r>
            <a:endParaRPr lang="ko-KR" sz="2670" b="0" i="0" u="none" strike="noStrike" spc="-80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651000" y="4775200"/>
            <a:ext cx="5384800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시사점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51000" y="5715000"/>
            <a:ext cx="9829800" cy="1549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피크 문제는 발전량 부족이 아니라 시간대 불일치</a:t>
            </a:r>
            <a:r>
              <a:rPr lang="en-US" altLang="ko-KR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(Ti</a:t>
            </a:r>
            <a:r>
              <a:rPr lang="en-US" altLang="ko-KR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me Mismatch) </a:t>
            </a:r>
            <a:r>
              <a:rPr lang="ko-KR" altLang="en-US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문제</a:t>
            </a:r>
            <a:endParaRPr lang="ko-KR" sz="2533" b="0" i="0" u="none" strike="noStrike" spc="-7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단일 </a:t>
            </a:r>
            <a:r>
              <a:rPr lang="en-US" altLang="ko-KR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</a:t>
            </a: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는 에너지 이동은 가능하나 공급 공백을 근본적으로 해소하지 못함</a:t>
            </a:r>
            <a:endParaRPr lang="en-US" sz="2533" b="0" i="0" u="none" strike="noStrike" spc="-7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설비</a:t>
            </a:r>
            <a:r>
              <a:rPr lang="en-US" altLang="ko-KR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대응은 설치 규모보다 역할 배분의 문제</a:t>
            </a:r>
            <a:endParaRPr lang="en-US" sz="2533" b="0" i="0" u="none" strike="noStrike" spc="-76" dirty="0">
              <a:solidFill>
                <a:srgbClr val="222222"/>
              </a:solidFill>
              <a:latin typeface="Pretendard Regular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651000" y="8572500"/>
            <a:ext cx="5384800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전략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적 해석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51000" y="9575800"/>
            <a:ext cx="9829800" cy="15494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en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피크 대응은 저장</a:t>
            </a:r>
            <a:r>
              <a:rPr lang="en-US" altLang="ko-KR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생산</a:t>
            </a:r>
            <a:r>
              <a:rPr lang="en-US" altLang="ko-KR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완충 자원의 역할 분담 문제</a:t>
            </a:r>
            <a:endParaRPr lang="ko-KR" sz="2533" b="0" i="0" u="none" strike="noStrike" spc="-7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설비 조합을 통해 부하 곡선 형태 자체를 구조적으로 완화</a:t>
            </a:r>
            <a:endParaRPr lang="en-US" sz="2533" b="0" i="0" u="none" strike="noStrike" spc="-7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∙ </a:t>
            </a:r>
            <a:r>
              <a:rPr lang="ko-KR" altLang="en-US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투자 효율은 설비 규모 보다 역할 배치에 의해 결정</a:t>
            </a:r>
            <a:endParaRPr lang="en-US" sz="2533" b="0" i="0" u="none" strike="noStrike" spc="-7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044700" y="11607800"/>
            <a:ext cx="22352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sz="2400" b="0" i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#</a:t>
            </a:r>
            <a:r>
              <a:rPr lang="ko-KR" altLang="en-US" sz="24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시간대대응전략</a:t>
            </a:r>
            <a:endParaRPr lang="ko-KR" sz="2400" b="0" i="0" u="none" strike="noStrike" spc="-72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730750" y="11607800"/>
            <a:ext cx="24384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sz="2400" b="0" i="0" u="none" strike="noStrike" spc="-72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#</a:t>
            </a:r>
            <a:r>
              <a:rPr lang="ko-KR" altLang="en-US" sz="2400" b="0" i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역할기반설비조합</a:t>
            </a:r>
            <a:endParaRPr lang="ko-KR" sz="2400" b="0" i="0" u="none" strike="noStrike" spc="-72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645400" y="11607800"/>
            <a:ext cx="22352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sz="2400" b="0" i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#</a:t>
            </a:r>
            <a:r>
              <a:rPr lang="ko-KR" altLang="en-US" sz="2400" b="0" i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단일설비한계</a:t>
            </a:r>
            <a:endParaRPr lang="ko-KR" sz="2400" b="0" i="0" u="none" strike="noStrike" spc="-72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282700" y="1968500"/>
            <a:ext cx="215011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피크 대응은 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설비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아니라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역할 조합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문제이다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각 설비는 서로 다른 시간대와 기능을 담당하며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문제 해결은 설비 간 역할 분담에서 시작된다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027</a:t>
            </a:r>
          </a:p>
        </p:txBody>
      </p:sp>
      <p:sp>
        <p:nvSpPr>
          <p:cNvPr id="43" name="TextBox 71">
            <a:extLst>
              <a:ext uri="{FF2B5EF4-FFF2-40B4-BE49-F238E27FC236}">
                <a16:creationId xmlns:a16="http://schemas.microsoft.com/office/drawing/2014/main" id="{EF6BBEC2-D7F8-F91C-F2EA-242926D9E466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[Feasibility] Resource Role Definition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2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720" y="9389791"/>
            <a:ext cx="878159" cy="878159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2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7199" y="9408299"/>
            <a:ext cx="853301" cy="853301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2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850" y="9232901"/>
            <a:ext cx="990599" cy="99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00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45EC-1A52-FAB4-B4DA-9C8ECE1C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FDEA7F9E-5280-79AF-FB66-B438C301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95EB8AF-F303-C708-8442-7FEC5CA986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6549569" y="4283770"/>
            <a:ext cx="6533917" cy="762256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2D9ED4C-9737-B02C-D1E1-23D18EF49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8B92B7E7-64CC-D7E2-1C10-C9FCAB9F0241}"/>
              </a:ext>
            </a:extLst>
          </p:cNvPr>
          <p:cNvSpPr txBox="1"/>
          <p:nvPr/>
        </p:nvSpPr>
        <p:spPr>
          <a:xfrm>
            <a:off x="1282700" y="1968500"/>
            <a:ext cx="206502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피크 문제는 단일 기술이 아닌 역할 조합의 문제이다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0749B2F-16E7-77CC-3B19-C28FE0082E36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연료전지는 지속 공급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(Base)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담당하고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ESS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는 피크 구간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(Peak)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을 정밀하게 보완한다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b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</a:b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EF6BBEC2-D7F8-F91C-F2EA-242926D9E466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[Feasibility] Role-based Hybrid Solution 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E2209BAD-0FD7-C196-AFDC-069B6FC3E7AE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 panose="020B0600000101010101" charset="-127"/>
                <a:ea typeface="Gmarket Sans Bold" panose="020B0600000101010101" charset="-127"/>
              </a:rPr>
              <a:t>028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0E16FF34-7FB2-C8D6-BE1D-B8106369E8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99" y="11976100"/>
            <a:ext cx="22593300" cy="977900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D97E3FB6-C180-4C92-B8F2-DB56B519A678}"/>
              </a:ext>
            </a:extLst>
          </p:cNvPr>
          <p:cNvSpPr txBox="1"/>
          <p:nvPr/>
        </p:nvSpPr>
        <p:spPr>
          <a:xfrm>
            <a:off x="3581400" y="12255500"/>
            <a:ext cx="17233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B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주거지역의 피크 문제는 단일 설비 확충이 아닌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역할 기반 설비 조합으로 해결된다</a:t>
            </a:r>
            <a:r>
              <a:rPr lang="en-US" altLang="ko-KR" sz="2930" spc="-72" dirty="0">
                <a:solidFill>
                  <a:srgbClr val="FFFFFF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solidFill>
                <a:srgbClr val="FFFFFF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EAE1-3575-8811-0151-AD44B1D65F92}"/>
              </a:ext>
            </a:extLst>
          </p:cNvPr>
          <p:cNvSpPr txBox="1"/>
          <p:nvPr/>
        </p:nvSpPr>
        <p:spPr>
          <a:xfrm>
            <a:off x="16582906" y="4863055"/>
            <a:ext cx="6443877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Step 1: 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연료 전지 적용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(Base Load 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보완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연료전지는 시간 제약 없이 일정 출력 공급 가능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하루 전반의 부하를 전반적으로 낮춰주는 역할 수행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단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피크 시간대의 급격한 상승 자체를 제거하기에는 </a:t>
            </a:r>
            <a:b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한계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기저 부하는 안정화되지만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피크 구조는 여전히 잔존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</a:p>
          <a:p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Step 2: ESS 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결합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(Peak 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대응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ESS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는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저녁 피크 시간대에만 선택적으로 방전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연료전지가 낮춘 부하 위에서 피크를 정밀하게 컷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(Cut)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결과적으로 부하 곡선의 형태 자체가 완화됨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저장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+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생산이 아닌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 Base + Peak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역할 분담 구조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” </a:t>
            </a:r>
          </a:p>
          <a:p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핵심 해석</a:t>
            </a:r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연료전지는 항상성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, ESS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는 민감도 대응에 최적화된 자원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단일 설비로는 해결되지 않던 저녁 피크 구조가 조합을 통해 완화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투자 효율은 설비 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규모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보다 역할 배치 전략에 의해 결정됨</a:t>
            </a:r>
            <a:endParaRPr lang="en-US" altLang="ko-KR" sz="22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90" y="4676058"/>
            <a:ext cx="13904071" cy="684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19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8242300"/>
            <a:ext cx="24003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10845800"/>
            <a:ext cx="24003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12738100"/>
            <a:ext cx="24003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248400"/>
            <a:ext cx="2400300" cy="254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028700" y="6489700"/>
            <a:ext cx="18288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066" spc="-123" dirty="0">
                <a:solidFill>
                  <a:srgbClr val="222222"/>
                </a:solidFill>
                <a:ea typeface="Pretendard SemiBold"/>
              </a:rPr>
              <a:t>강점</a:t>
            </a:r>
            <a:endParaRPr lang="en" sz="3066" b="0" i="0" u="none" strike="noStrike" spc="-123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8700" y="8509000"/>
            <a:ext cx="18288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066" spc="-123" dirty="0">
                <a:solidFill>
                  <a:srgbClr val="222222"/>
                </a:solidFill>
                <a:ea typeface="Pretendard SemiBold"/>
              </a:rPr>
              <a:t>한계</a:t>
            </a:r>
            <a:endParaRPr lang="en" sz="3066" b="0" i="0" u="none" strike="noStrike" spc="-123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28700" y="11099800"/>
            <a:ext cx="18288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066" spc="-123" dirty="0">
                <a:solidFill>
                  <a:srgbClr val="222222"/>
                </a:solidFill>
                <a:ea typeface="Pretendard SemiBold"/>
              </a:rPr>
              <a:t>적합성</a:t>
            </a:r>
            <a:endParaRPr lang="en" sz="3066" b="0" i="0" u="none" strike="noStrike" spc="-123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82700" y="1968500"/>
            <a:ext cx="143383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피크는 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발전 확대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아닌 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자원 역할</a:t>
            </a:r>
            <a:r>
              <a:rPr lang="en-US" altLang="ko-KR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문제다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주요 분산 에너지 자원은 시간대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기능이 다르며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피크 대응 방식도 다르다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029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83957EB-248F-19F4-2395-CEF8D73E46CB}"/>
              </a:ext>
            </a:extLst>
          </p:cNvPr>
          <p:cNvGrpSpPr/>
          <p:nvPr/>
        </p:nvGrpSpPr>
        <p:grpSpPr>
          <a:xfrm>
            <a:off x="3662860" y="5156200"/>
            <a:ext cx="4737100" cy="7632700"/>
            <a:chOff x="4140200" y="5156200"/>
            <a:chExt cx="4737100" cy="7632700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40200" y="5156200"/>
              <a:ext cx="4737100" cy="101600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16400" y="8242300"/>
              <a:ext cx="4597400" cy="25400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16400" y="10845800"/>
              <a:ext cx="4597400" cy="254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4521200" y="6629400"/>
              <a:ext cx="4000500" cy="1054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70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주간 시간대 전력 생산 및</a:t>
              </a:r>
              <a:endParaRPr lang="en-US" altLang="ko-KR" sz="2670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70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탄소 감축에 기여</a:t>
              </a:r>
              <a:endParaRPr lang="ko-KR" sz="2670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21200" y="8394089"/>
              <a:ext cx="4000500" cy="2325321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en-US" altLang="ko-KR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18-22</a:t>
              </a:r>
              <a:r>
                <a:rPr lang="ko-KR" altLang="en-US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시 저녁 피크 시간대</a:t>
              </a:r>
              <a:endParaRPr lang="en-US" altLang="ko-KR" sz="2666" b="0" i="0" u="none" strike="noStrike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발전량 없음</a:t>
              </a:r>
              <a:endParaRPr lang="en-US" altLang="ko-KR" sz="2666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 err="1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주거형</a:t>
              </a:r>
              <a:r>
                <a:rPr lang="ko-KR" altLang="en-US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수요 피크와 구조적으로 시간대가 어긋남</a:t>
              </a:r>
              <a:endParaRPr lang="ko-KR" sz="2666" b="0" i="0" u="none" strike="noStrike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41900" y="5384800"/>
              <a:ext cx="2946400" cy="5715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sz="3200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PV (</a:t>
              </a:r>
              <a:r>
                <a:rPr lang="ko-KR" altLang="en-US" sz="3200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태양광</a:t>
              </a:r>
              <a:r>
                <a:rPr lang="en-US" altLang="ko-KR" sz="3200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en" sz="3200" b="0" i="0" u="none" strike="noStrike" spc="-9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49" name="Picture 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16400" y="12763500"/>
              <a:ext cx="4597400" cy="25400"/>
            </a:xfrm>
            <a:prstGeom prst="rect">
              <a:avLst/>
            </a:prstGeom>
          </p:spPr>
        </p:pic>
        <p:sp>
          <p:nvSpPr>
            <p:cNvPr id="53" name="TextBox 36"/>
            <p:cNvSpPr txBox="1"/>
            <p:nvPr/>
          </p:nvSpPr>
          <p:spPr>
            <a:xfrm>
              <a:off x="4521200" y="10908017"/>
              <a:ext cx="4000500" cy="1816406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부적합</a:t>
              </a:r>
              <a:endParaRPr lang="en-US" altLang="ko-KR" sz="2666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발전 확대만으로는</a:t>
              </a:r>
              <a:endParaRPr lang="en-US" altLang="ko-KR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저녁 피크 문제 해결할 수 없음</a:t>
              </a:r>
              <a:endParaRPr lang="ko-KR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1BAB0CF-5E43-5201-E136-752CA7DEBF39}"/>
              </a:ext>
            </a:extLst>
          </p:cNvPr>
          <p:cNvGrpSpPr/>
          <p:nvPr/>
        </p:nvGrpSpPr>
        <p:grpSpPr>
          <a:xfrm>
            <a:off x="13633086" y="5156200"/>
            <a:ext cx="4737100" cy="7632700"/>
            <a:chOff x="13627100" y="5156200"/>
            <a:chExt cx="4737100" cy="7632700"/>
          </a:xfrm>
        </p:grpSpPr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627100" y="5156200"/>
              <a:ext cx="4737100" cy="1016000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690600" y="8242300"/>
              <a:ext cx="4597400" cy="25400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690600" y="10845800"/>
              <a:ext cx="4597400" cy="25400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13995400" y="6654800"/>
              <a:ext cx="4000500" cy="1054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시간 제약 없는 안정적 출력으로 기저 수요 보완</a:t>
              </a:r>
              <a:endParaRPr 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995400" y="8928100"/>
              <a:ext cx="4000500" cy="1257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단독으로는 급격한 피크 변동</a:t>
              </a:r>
              <a:endParaRPr lang="en-US" altLang="ko-KR" sz="2666" b="0" i="0" u="none" strike="noStrike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까지 모두 흡수하기엔 비효율</a:t>
              </a:r>
              <a:endParaRPr lang="en-US" sz="2666" b="0" i="0" u="none" strike="noStrike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503400" y="5384800"/>
              <a:ext cx="2997200" cy="5715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3200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연료전지 </a:t>
              </a:r>
              <a:r>
                <a:rPr lang="en-US" altLang="ko-KR" sz="3200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(FC)</a:t>
              </a:r>
              <a:endParaRPr lang="en" sz="3200" b="0" i="0" u="none" strike="noStrike" spc="-9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51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690600" y="12763500"/>
              <a:ext cx="4597400" cy="25400"/>
            </a:xfrm>
            <a:prstGeom prst="rect">
              <a:avLst/>
            </a:prstGeom>
          </p:spPr>
        </p:pic>
        <p:sp>
          <p:nvSpPr>
            <p:cNvPr id="55" name="TextBox 36"/>
            <p:cNvSpPr txBox="1"/>
            <p:nvPr/>
          </p:nvSpPr>
          <p:spPr>
            <a:xfrm>
              <a:off x="13970000" y="10908017"/>
              <a:ext cx="4000500" cy="1816406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핵심 자원</a:t>
              </a:r>
              <a:endParaRPr lang="en-US" altLang="ko-KR" sz="2666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en-US" altLang="ko-KR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Type B </a:t>
              </a: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지역의</a:t>
              </a:r>
              <a:endParaRPr lang="en-US" altLang="ko-KR" sz="2666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기저 수요를 구조적으로 보완</a:t>
              </a:r>
              <a:endParaRPr lang="ko-KR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86A4508-A577-85CE-9A5E-8C23712448F3}"/>
              </a:ext>
            </a:extLst>
          </p:cNvPr>
          <p:cNvGrpSpPr/>
          <p:nvPr/>
        </p:nvGrpSpPr>
        <p:grpSpPr>
          <a:xfrm>
            <a:off x="18618200" y="5156200"/>
            <a:ext cx="4737100" cy="7632700"/>
            <a:chOff x="18618200" y="5156200"/>
            <a:chExt cx="4737100" cy="7632700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8618200" y="5156200"/>
              <a:ext cx="4737100" cy="1016000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681700" y="8242300"/>
              <a:ext cx="4597400" cy="25400"/>
            </a:xfrm>
            <a:prstGeom prst="rect">
              <a:avLst/>
            </a:prstGeom>
          </p:spPr>
        </p:pic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681700" y="10845800"/>
              <a:ext cx="4597400" cy="2540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18986500" y="6654800"/>
              <a:ext cx="4000500" cy="1054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피크 시간대 즉각적 부하</a:t>
              </a:r>
              <a:endPara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감축 신호 제공</a:t>
              </a:r>
              <a:endPara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986500" y="8928100"/>
              <a:ext cx="4000500" cy="1257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주민 참여</a:t>
              </a:r>
              <a:r>
                <a:rPr lang="en-US" altLang="ko-KR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·</a:t>
              </a:r>
              <a:r>
                <a:rPr lang="ko-KR" altLang="en-US" sz="2666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행동 변화에 의존</a:t>
              </a:r>
              <a:endParaRPr lang="en-US" altLang="ko-KR" sz="2666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지속성</a:t>
              </a:r>
              <a:r>
                <a:rPr lang="en-US" altLang="ko-KR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·</a:t>
              </a:r>
              <a:r>
                <a:rPr lang="ko-KR" altLang="en-US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예측 가능성이 낮음</a:t>
              </a:r>
              <a:endParaRPr lang="en-US" sz="2666" b="0" i="0" u="none" strike="noStrike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583400" y="5384800"/>
              <a:ext cx="2806700" cy="5715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-US" sz="3200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DR (</a:t>
              </a:r>
              <a:r>
                <a:rPr lang="ko-KR" altLang="en-US" sz="3200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수요 반응</a:t>
              </a:r>
              <a:r>
                <a:rPr lang="en-US" sz="3200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)</a:t>
              </a:r>
              <a:endParaRPr lang="en" sz="3200" b="0" i="0" u="none" strike="noStrike" spc="-96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52" name="Picture 2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681700" y="12763500"/>
              <a:ext cx="4597400" cy="25400"/>
            </a:xfrm>
            <a:prstGeom prst="rect">
              <a:avLst/>
            </a:prstGeom>
          </p:spPr>
        </p:pic>
        <p:sp>
          <p:nvSpPr>
            <p:cNvPr id="56" name="TextBox 36"/>
            <p:cNvSpPr txBox="1"/>
            <p:nvPr/>
          </p:nvSpPr>
          <p:spPr>
            <a:xfrm>
              <a:off x="18975754" y="10908017"/>
              <a:ext cx="4000500" cy="1816406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현실적 제약</a:t>
              </a:r>
              <a:endParaRPr lang="en-US" altLang="ko-KR" sz="2666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보조적</a:t>
              </a:r>
              <a:r>
                <a:rPr lang="en-US" altLang="ko-KR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·</a:t>
              </a: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정책 연계 수단으로</a:t>
              </a:r>
              <a:endParaRPr lang="en-US" altLang="ko-KR" sz="2666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한정적 활용</a:t>
              </a:r>
              <a:endParaRPr lang="ko-KR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pic>
        <p:nvPicPr>
          <p:cNvPr id="57" name="그림 5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5465" y="3878523"/>
            <a:ext cx="1221542" cy="122154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ECD4C65-ACE7-C852-4E61-3A6FE86B9D9F}"/>
              </a:ext>
            </a:extLst>
          </p:cNvPr>
          <p:cNvGrpSpPr/>
          <p:nvPr/>
        </p:nvGrpSpPr>
        <p:grpSpPr>
          <a:xfrm>
            <a:off x="8647973" y="5156200"/>
            <a:ext cx="4737100" cy="7632700"/>
            <a:chOff x="8877300" y="5156200"/>
            <a:chExt cx="4737100" cy="7632700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77300" y="5156200"/>
              <a:ext cx="4737100" cy="1016000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53500" y="8242300"/>
              <a:ext cx="4597400" cy="25400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53500" y="10845800"/>
              <a:ext cx="4597400" cy="254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9258300" y="6654800"/>
              <a:ext cx="4000500" cy="1054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주간 전력을 저녁으로 </a:t>
              </a:r>
              <a:r>
                <a:rPr lang="ko-KR" altLang="en-US" sz="2666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이동</a:t>
              </a:r>
              <a:endPara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단기 피크 완화</a:t>
              </a:r>
              <a:endPara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58300" y="8743950"/>
              <a:ext cx="4000500" cy="16256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전력을 생산 기능 없음</a:t>
              </a:r>
              <a:endParaRPr lang="en-US" altLang="ko-KR" sz="2666" b="0" i="0" u="none" strike="noStrike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용량</a:t>
              </a:r>
              <a:r>
                <a:rPr lang="en-US" altLang="ko-KR" sz="2666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·</a:t>
              </a:r>
              <a:r>
                <a:rPr lang="ko-KR" altLang="en-US" sz="2666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방전 시간에 따라 </a:t>
              </a:r>
              <a:endParaRPr lang="en-US" altLang="ko-KR" sz="2666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FE57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효과 제한</a:t>
              </a:r>
              <a:endParaRPr lang="en-US" sz="2666" b="0" i="0" u="none" strike="noStrike" spc="-107" dirty="0">
                <a:solidFill>
                  <a:srgbClr val="FE570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93300" y="5384800"/>
              <a:ext cx="2717800" cy="5715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41100"/>
                </a:lnSpc>
              </a:pPr>
              <a:r>
                <a:rPr lang="en" sz="3200" b="0" i="0" u="none" strike="noStrike" spc="-96" dirty="0">
                  <a:solidFill>
                    <a:srgbClr val="222222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ESS</a:t>
              </a:r>
            </a:p>
          </p:txBody>
        </p:sp>
        <p:pic>
          <p:nvPicPr>
            <p:cNvPr id="50" name="Pictur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53500" y="12763500"/>
              <a:ext cx="4597400" cy="25400"/>
            </a:xfrm>
            <a:prstGeom prst="rect">
              <a:avLst/>
            </a:prstGeom>
          </p:spPr>
        </p:pic>
        <p:sp>
          <p:nvSpPr>
            <p:cNvPr id="54" name="TextBox 36"/>
            <p:cNvSpPr txBox="1"/>
            <p:nvPr/>
          </p:nvSpPr>
          <p:spPr>
            <a:xfrm>
              <a:off x="9245600" y="10908017"/>
              <a:ext cx="4000500" cy="1816406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보조 수단</a:t>
              </a:r>
              <a:endParaRPr lang="en-US" altLang="ko-KR" sz="2666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b="0" i="0" u="none" strike="noStrike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단독 해법이 아닌</a:t>
              </a:r>
              <a:endParaRPr lang="en-US" altLang="ko-KR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lvl="0" algn="ctr">
                <a:lnSpc>
                  <a:spcPct val="141100"/>
                </a:lnSpc>
              </a:pPr>
              <a:r>
                <a:rPr lang="ko-KR" altLang="en-US" sz="2666" spc="-107" dirty="0">
                  <a:solidFill>
                    <a:srgbClr val="8C2828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다른 자원과의 결합이 전제</a:t>
              </a:r>
              <a:endParaRPr lang="ko-KR" sz="2666" b="0" i="0" u="none" strike="noStrike" spc="-107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pic>
        <p:nvPicPr>
          <p:cNvPr id="58" name="그림 5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416" y="3895812"/>
            <a:ext cx="1186964" cy="1186964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969" y="3758589"/>
            <a:ext cx="1377949" cy="1377949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9805" y="3922292"/>
            <a:ext cx="1233890" cy="1233890"/>
          </a:xfrm>
          <a:prstGeom prst="rect">
            <a:avLst/>
          </a:prstGeom>
        </p:spPr>
      </p:pic>
      <p:sp>
        <p:nvSpPr>
          <p:cNvPr id="61" name="TextBox 71">
            <a:extLst>
              <a:ext uri="{FF2B5EF4-FFF2-40B4-BE49-F238E27FC236}">
                <a16:creationId xmlns:a16="http://schemas.microsoft.com/office/drawing/2014/main" id="{EF6BBEC2-D7F8-F91C-F2EA-242926D9E466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[Feasibility] Resource Role Comparison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832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8951943A-FE8B-6C34-3413-0A1466514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7BA53D0C-A942-976C-A9F7-9B4E8460D2CD}"/>
              </a:ext>
            </a:extLst>
          </p:cNvPr>
          <p:cNvSpPr/>
          <p:nvPr/>
        </p:nvSpPr>
        <p:spPr>
          <a:xfrm>
            <a:off x="13500100" y="10318750"/>
            <a:ext cx="8902700" cy="1816100"/>
          </a:xfrm>
          <a:prstGeom prst="roundRect">
            <a:avLst>
              <a:gd name="adj" fmla="val 6177"/>
            </a:avLst>
          </a:prstGeom>
          <a:solidFill>
            <a:srgbClr val="FFF5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8CD477F-1DF9-7153-99A2-C8FFD5AAEEFF}"/>
              </a:ext>
            </a:extLst>
          </p:cNvPr>
          <p:cNvSpPr/>
          <p:nvPr/>
        </p:nvSpPr>
        <p:spPr>
          <a:xfrm>
            <a:off x="2705100" y="9950450"/>
            <a:ext cx="2660650" cy="1460500"/>
          </a:xfrm>
          <a:prstGeom prst="roundRect">
            <a:avLst>
              <a:gd name="adj" fmla="val 4928"/>
            </a:avLst>
          </a:prstGeom>
          <a:solidFill>
            <a:srgbClr val="FFF5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AD6CF83-0D83-BBFD-E690-E79D7B49C2E4}"/>
              </a:ext>
            </a:extLst>
          </p:cNvPr>
          <p:cNvSpPr/>
          <p:nvPr/>
        </p:nvSpPr>
        <p:spPr>
          <a:xfrm>
            <a:off x="13500100" y="8223250"/>
            <a:ext cx="8902700" cy="1816100"/>
          </a:xfrm>
          <a:prstGeom prst="roundRect">
            <a:avLst>
              <a:gd name="adj" fmla="val 6177"/>
            </a:avLst>
          </a:prstGeom>
          <a:solidFill>
            <a:srgbClr val="FDEA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66345FB-E62E-F93C-0D83-DB50DCB1F24A}"/>
              </a:ext>
            </a:extLst>
          </p:cNvPr>
          <p:cNvSpPr/>
          <p:nvPr/>
        </p:nvSpPr>
        <p:spPr>
          <a:xfrm>
            <a:off x="5848350" y="8159750"/>
            <a:ext cx="2660650" cy="1460500"/>
          </a:xfrm>
          <a:prstGeom prst="roundRect">
            <a:avLst>
              <a:gd name="adj" fmla="val 4928"/>
            </a:avLst>
          </a:prstGeom>
          <a:solidFill>
            <a:srgbClr val="FDEA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7D79764-86A4-01D4-D681-5489844C70FA}"/>
              </a:ext>
            </a:extLst>
          </p:cNvPr>
          <p:cNvSpPr/>
          <p:nvPr/>
        </p:nvSpPr>
        <p:spPr>
          <a:xfrm>
            <a:off x="13500100" y="6184900"/>
            <a:ext cx="8902700" cy="1816100"/>
          </a:xfrm>
          <a:prstGeom prst="roundRect">
            <a:avLst>
              <a:gd name="adj" fmla="val 6177"/>
            </a:avLst>
          </a:prstGeom>
          <a:solidFill>
            <a:srgbClr val="FFDE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4B9BFBD-CD45-114A-1AE1-F248A4298CF8}"/>
              </a:ext>
            </a:extLst>
          </p:cNvPr>
          <p:cNvSpPr/>
          <p:nvPr/>
        </p:nvSpPr>
        <p:spPr>
          <a:xfrm>
            <a:off x="8855883" y="6394450"/>
            <a:ext cx="2660650" cy="1460500"/>
          </a:xfrm>
          <a:prstGeom prst="roundRect">
            <a:avLst>
              <a:gd name="adj" fmla="val 4928"/>
            </a:avLst>
          </a:prstGeom>
          <a:solidFill>
            <a:srgbClr val="FFDE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800" y="11569700"/>
            <a:ext cx="93726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-228600" y="8877300"/>
            <a:ext cx="54102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9779000"/>
            <a:ext cx="88265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8600" y="7975600"/>
            <a:ext cx="88265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3124200" y="8877300"/>
            <a:ext cx="4940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6235700" y="8877300"/>
            <a:ext cx="49403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50750" y="8686800"/>
            <a:ext cx="368300" cy="58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03300" y="7086600"/>
            <a:ext cx="8521700" cy="736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03300" y="9131300"/>
            <a:ext cx="8521700" cy="736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03300" y="11176000"/>
            <a:ext cx="8521700" cy="736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1367" y="6489700"/>
            <a:ext cx="419100" cy="419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2800" y="8293100"/>
            <a:ext cx="419100" cy="419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3007" y="10083800"/>
            <a:ext cx="419100" cy="419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33400" y="6070600"/>
            <a:ext cx="419100" cy="419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33400" y="8077200"/>
            <a:ext cx="419100" cy="419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233400" y="10083800"/>
            <a:ext cx="419100" cy="4191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3741400" y="6426200"/>
            <a:ext cx="8039100" cy="4445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altLang="ko-KR" sz="2533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B </a:t>
            </a:r>
            <a:r>
              <a:rPr lang="ko-KR" altLang="en-US" sz="2533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지역</a:t>
            </a:r>
            <a:r>
              <a:rPr lang="en-US" altLang="ko-KR" sz="2533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Hybrid</a:t>
            </a:r>
            <a:r>
              <a:rPr lang="ko-KR" altLang="en-US" sz="2533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설비 우선 적용</a:t>
            </a:r>
            <a:endParaRPr lang="ko-KR" sz="2533" b="0" i="0" u="none" strike="noStrike" spc="-101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868400" y="7251700"/>
            <a:ext cx="8280400" cy="406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연료전지</a:t>
            </a:r>
            <a:r>
              <a:rPr lang="en-US" altLang="ko-KR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(Base) + ESS(Peak) </a:t>
            </a:r>
            <a:r>
              <a:rPr lang="ko-KR" altLang="en-US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역할 분담 조합으로 저녁 피크를 구조적 완화</a:t>
            </a:r>
            <a:endParaRPr lang="ko-KR" sz="2266" b="0" i="0" u="none" strike="noStrike" spc="-91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741400" y="8458200"/>
            <a:ext cx="8039100" cy="4445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altLang="ko-KR" sz="2533" b="0" i="0" u="none" strike="noStrike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C </a:t>
            </a:r>
            <a:r>
              <a:rPr lang="ko-KR" altLang="en-US" sz="2533" b="0" i="0" u="none" strike="noStrike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지역</a:t>
            </a:r>
            <a:r>
              <a:rPr lang="en-US" altLang="ko-KR" sz="2533" b="0" i="0" u="none" strike="noStrike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533" b="0" i="0" u="none" strike="noStrike" spc="-101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단계적 설비 조합 적용</a:t>
            </a:r>
            <a:endParaRPr lang="ko-KR" sz="2533" b="0" i="0" u="none" strike="noStrike" spc="-101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868400" y="9296400"/>
            <a:ext cx="6908800" cy="406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altLang="ko-KR" sz="2266" b="0" i="0" u="none" strike="noStrike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중심 대응하되</a:t>
            </a:r>
            <a:r>
              <a:rPr lang="en-US" altLang="ko-KR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부하 특성에 따라 추가 자원 결합 검토</a:t>
            </a:r>
            <a:endParaRPr lang="ko-KR" sz="2266" b="0" i="0" u="none" strike="noStrike" spc="-91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741400" y="10502900"/>
            <a:ext cx="8039100" cy="4445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altLang="ko-KR" sz="2533" b="0" i="0" u="none" strike="noStrike" spc="-101" dirty="0">
                <a:latin typeface="Pretendard SemiBold" panose="020B0600000101010101" charset="-127"/>
                <a:ea typeface="Pretendard SemiBold" panose="020B0600000101010101" charset="-127"/>
              </a:rPr>
              <a:t>Type A </a:t>
            </a:r>
            <a:r>
              <a:rPr lang="ko-KR" altLang="en-US" sz="2533" b="0" i="0" u="none" strike="noStrike" spc="-101" dirty="0">
                <a:latin typeface="Pretendard SemiBold" panose="020B0600000101010101" charset="-127"/>
                <a:ea typeface="Pretendard SemiBold" panose="020B0600000101010101" charset="-127"/>
              </a:rPr>
              <a:t>지역</a:t>
            </a:r>
            <a:r>
              <a:rPr lang="en-US" altLang="ko-KR" sz="2533" b="0" i="0" u="none" strike="noStrike" spc="-101" dirty="0"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533" b="0" i="0" u="none" strike="noStrike" spc="-101" dirty="0">
                <a:latin typeface="Pretendard SemiBold" panose="020B0600000101010101" charset="-127"/>
                <a:ea typeface="Pretendard SemiBold" panose="020B0600000101010101" charset="-127"/>
              </a:rPr>
              <a:t>운영</a:t>
            </a:r>
            <a:r>
              <a:rPr lang="en-US" altLang="ko-KR" sz="2533" b="0" i="0" u="none" strike="noStrike" spc="-101" dirty="0"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2533" b="0" i="0" u="none" strike="noStrike" spc="-101" dirty="0">
                <a:latin typeface="Pretendard SemiBold" panose="020B0600000101010101" charset="-127"/>
                <a:ea typeface="Pretendard SemiBold" panose="020B0600000101010101" charset="-127"/>
              </a:rPr>
              <a:t>정책 연계 중심</a:t>
            </a:r>
            <a:endParaRPr lang="ko-KR" sz="2533" b="0" i="0" u="none" strike="noStrike" spc="-101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68400" y="11341100"/>
            <a:ext cx="6908800" cy="406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altLang="ko-KR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DR, </a:t>
            </a:r>
            <a:r>
              <a:rPr lang="ko-KR" altLang="en-US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요금제</a:t>
            </a:r>
            <a:r>
              <a:rPr lang="en-US" altLang="ko-KR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운영 최적화를 통한 </a:t>
            </a:r>
            <a:r>
              <a:rPr lang="ko-KR" altLang="en-US" sz="2266" spc="-91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비설비적</a:t>
            </a:r>
            <a:r>
              <a:rPr lang="ko-KR" altLang="en-US" sz="2266" spc="-91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피크 관리 전략</a:t>
            </a:r>
            <a:endParaRPr lang="ko-KR" sz="2266" b="0" i="0" u="none" strike="noStrike" spc="-91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220700" y="6083300"/>
            <a:ext cx="419100" cy="393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199" b="0" i="0" u="none" strike="noStrike" dirty="0">
                <a:solidFill>
                  <a:srgbClr val="FFFFFF"/>
                </a:solidFill>
                <a:latin typeface="Pretendard Regular"/>
              </a:rPr>
              <a:t>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20700" y="8089900"/>
            <a:ext cx="419100" cy="393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199" b="0" i="0" u="none" strike="noStrike">
                <a:solidFill>
                  <a:srgbClr val="FFFFFF"/>
                </a:solidFill>
                <a:latin typeface="Pretendard Regular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20700" y="10096500"/>
            <a:ext cx="419100" cy="393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199" b="0" i="0" u="none" strike="noStrike">
                <a:solidFill>
                  <a:srgbClr val="FFFFFF"/>
                </a:solidFill>
                <a:latin typeface="Pretendard Regular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33100" y="11760200"/>
            <a:ext cx="990600" cy="3048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32800"/>
              </a:lnSpc>
            </a:pPr>
            <a:r>
              <a:rPr lang="en" sz="1733" b="0" i="0" u="none" strike="noStrike" spc="-52">
                <a:solidFill>
                  <a:srgbClr val="9E9E9E"/>
                </a:solidFill>
                <a:latin typeface="Pretendard Regular"/>
              </a:rPr>
              <a:t>High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51100" y="11760200"/>
            <a:ext cx="990600" cy="304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" sz="1733" b="0" i="0" u="none" strike="noStrike" spc="-52">
                <a:solidFill>
                  <a:srgbClr val="9E9E9E"/>
                </a:solidFill>
                <a:latin typeface="Pretendard Regular"/>
              </a:rPr>
              <a:t>Low</a:t>
            </a:r>
          </a:p>
        </p:txBody>
      </p:sp>
      <p:sp>
        <p:nvSpPr>
          <p:cNvPr id="37" name="TextBox 37"/>
          <p:cNvSpPr txBox="1"/>
          <p:nvPr/>
        </p:nvSpPr>
        <p:spPr>
          <a:xfrm rot="-5400000">
            <a:off x="1803400" y="11061700"/>
            <a:ext cx="774700" cy="304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" sz="1733" b="0" i="0" u="none" strike="noStrike" spc="-52">
                <a:solidFill>
                  <a:srgbClr val="9E9E9E"/>
                </a:solidFill>
                <a:latin typeface="Pretendard Regular"/>
              </a:rPr>
              <a:t>Low</a:t>
            </a:r>
          </a:p>
        </p:txBody>
      </p:sp>
      <p:sp>
        <p:nvSpPr>
          <p:cNvPr id="38" name="TextBox 38"/>
          <p:cNvSpPr txBox="1"/>
          <p:nvPr/>
        </p:nvSpPr>
        <p:spPr>
          <a:xfrm rot="-5400000">
            <a:off x="1739900" y="6413500"/>
            <a:ext cx="787400" cy="3048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32800"/>
              </a:lnSpc>
            </a:pPr>
            <a:r>
              <a:rPr lang="en" sz="1733" b="0" i="0" u="none" strike="noStrike" spc="-52">
                <a:solidFill>
                  <a:srgbClr val="9E9E9E"/>
                </a:solidFill>
                <a:latin typeface="Pretendard Regular"/>
              </a:rPr>
              <a:t>High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05400" y="11760200"/>
            <a:ext cx="40005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4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피크의 반복성</a:t>
            </a:r>
            <a:r>
              <a:rPr lang="en-US" altLang="ko-KR" sz="24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400" spc="-9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지속성</a:t>
            </a:r>
            <a:endParaRPr lang="ko-KR" sz="2400" b="0" i="0" u="none" strike="noStrike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0" name="TextBox 40"/>
          <p:cNvSpPr txBox="1"/>
          <p:nvPr/>
        </p:nvSpPr>
        <p:spPr>
          <a:xfrm rot="-5400000">
            <a:off x="876300" y="8394700"/>
            <a:ext cx="24384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400" b="0" i="0" u="none" strike="noStrike" spc="-96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피크 구조 강도</a:t>
            </a:r>
            <a:endParaRPr lang="ko-KR" sz="2400" b="0" i="0" u="none" strike="noStrike" spc="-96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187267" y="6604000"/>
            <a:ext cx="2044700" cy="977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en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B</a:t>
            </a:r>
          </a:p>
          <a:p>
            <a:pPr lvl="0" algn="ctr">
              <a:lnSpc>
                <a:spcPct val="124499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주거 밀집 지역</a:t>
            </a:r>
            <a:endParaRPr lang="en" sz="2666" b="0" i="0" u="none" strike="noStrike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197600" y="8394700"/>
            <a:ext cx="2044700" cy="977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C</a:t>
            </a:r>
          </a:p>
          <a:p>
            <a:pPr lvl="0" algn="ctr">
              <a:lnSpc>
                <a:spcPct val="124499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혼합 지역</a:t>
            </a:r>
            <a:endParaRPr lang="en" sz="2666" b="0" i="0" u="none" strike="noStrike" spc="-107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061607" y="10185400"/>
            <a:ext cx="2044700" cy="977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en-US" altLang="ko-KR" sz="2666" b="0" i="0" u="none" strike="noStrike" spc="-107" dirty="0">
                <a:latin typeface="Pretendard SemiBold" panose="020B0600000101010101" charset="-127"/>
                <a:ea typeface="Pretendard SemiBold" panose="020B0600000101010101" charset="-127"/>
              </a:rPr>
              <a:t>Type A</a:t>
            </a:r>
          </a:p>
          <a:p>
            <a:pPr lvl="0" algn="ctr">
              <a:lnSpc>
                <a:spcPct val="124499"/>
              </a:lnSpc>
            </a:pPr>
            <a:r>
              <a:rPr lang="ko-KR" altLang="en-US" sz="2666" spc="-107" dirty="0" err="1">
                <a:latin typeface="Pretendard SemiBold" panose="020B0600000101010101" charset="-127"/>
                <a:ea typeface="Pretendard SemiBold" panose="020B0600000101010101" charset="-127"/>
              </a:rPr>
              <a:t>주간형</a:t>
            </a:r>
            <a:r>
              <a:rPr lang="ko-KR" altLang="en-US" sz="2666" spc="-107" dirty="0">
                <a:latin typeface="Pretendard SemiBold" panose="020B0600000101010101" charset="-127"/>
                <a:ea typeface="Pretendard SemiBold" panose="020B0600000101010101" charset="-127"/>
              </a:rPr>
              <a:t> 지역</a:t>
            </a:r>
            <a:endParaRPr lang="ko-KR" sz="2666" b="0" i="0" u="none" strike="noStrike" spc="-107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958667" y="6502400"/>
            <a:ext cx="419100" cy="393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199" b="0" i="0" u="none" strike="noStrike" dirty="0">
                <a:solidFill>
                  <a:srgbClr val="FFFFFF"/>
                </a:solidFill>
                <a:latin typeface="Pretendard Regular"/>
              </a:rPr>
              <a:t>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80100" y="8305800"/>
            <a:ext cx="419100" cy="393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199" b="0" i="0" u="none" strike="noStrike">
                <a:solidFill>
                  <a:srgbClr val="FFFFFF"/>
                </a:solidFill>
                <a:latin typeface="Pretendard Regular"/>
              </a:rPr>
              <a:t>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20307" y="10096500"/>
            <a:ext cx="419100" cy="393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199" b="0" i="0" u="none" strike="noStrike" dirty="0">
                <a:solidFill>
                  <a:srgbClr val="FFFFFF"/>
                </a:solidFill>
                <a:latin typeface="Pretendard Regular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828800" y="4902200"/>
            <a:ext cx="6350000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서울시 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별 설비 조합 매트릭스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282700" y="1968500"/>
            <a:ext cx="10883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모든 지역에 같은 해법은 통하지 않는다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ea typeface="Pretendard Regular"/>
              </a:rPr>
              <a:t>저녁 피크 강도와 반복성에 따라 설비 조합 적용 우선순위를 정의한다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ea typeface="Pretendard Regular"/>
              </a:rPr>
              <a:t>.</a:t>
            </a:r>
            <a:endParaRPr lang="ko-KR" sz="2933" b="0" i="0" u="none" strike="noStrike" spc="-88" dirty="0">
              <a:solidFill>
                <a:srgbClr val="222222"/>
              </a:solidFill>
              <a:ea typeface="Pretendard Regula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030</a:t>
            </a:r>
          </a:p>
        </p:txBody>
      </p:sp>
      <p:sp>
        <p:nvSpPr>
          <p:cNvPr id="52" name="TextBox 71">
            <a:extLst>
              <a:ext uri="{FF2B5EF4-FFF2-40B4-BE49-F238E27FC236}">
                <a16:creationId xmlns:a16="http://schemas.microsoft.com/office/drawing/2014/main" id="{EF6BBEC2-D7F8-F91C-F2EA-242926D9E466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2000" dirty="0">
                <a:solidFill>
                  <a:schemeClr val="bg1"/>
                </a:solidFill>
                <a:latin typeface="Gmarket Sans Bold" panose="020B0600000101010101" charset="-127"/>
                <a:ea typeface="Gmarket Sans Bold" panose="020B0600000101010101" charset="-127"/>
              </a:rPr>
              <a:t>[Feasibility] Application Priority Definition </a:t>
            </a:r>
            <a:endParaRPr lang="en" sz="2000" b="0" i="0" u="none" strike="noStrike" dirty="0">
              <a:solidFill>
                <a:schemeClr val="bg1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61356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0656-17B3-6A7F-5F4A-7E8B9CB3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F2DEA371-CF62-4596-FDAE-BEAF19641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EFCDF35-B41E-B839-1BB6-34872CC10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58833A09-84CA-EE88-A16E-F79359F5B252}"/>
              </a:ext>
            </a:extLst>
          </p:cNvPr>
          <p:cNvSpPr txBox="1"/>
          <p:nvPr/>
        </p:nvSpPr>
        <p:spPr>
          <a:xfrm>
            <a:off x="1282700" y="1968500"/>
            <a:ext cx="164211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Point to Area: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데이터 모델의 단계적 확산 및 도시 단위 최적화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935EE65-DF94-9B7A-6917-98ECA18EB7C6}"/>
              </a:ext>
            </a:extLst>
          </p:cNvPr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Unit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에서 성공 모델을 서울시 전역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(City)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의 에너지 정책으로 확장하는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3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단계 실행 전략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1C27F7B-2B06-276C-8765-14DF7198757B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031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48A9FE15-70D1-4A70-AF4F-0ADAAF1EFB97}"/>
              </a:ext>
            </a:extLst>
          </p:cNvPr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000" dirty="0">
                <a:solidFill>
                  <a:srgbClr val="FFFFFF"/>
                </a:solidFill>
                <a:latin typeface="Gmarket Sans Bold"/>
              </a:rPr>
              <a:t>[Conclusion] Future Roadmap &amp; Scalability</a:t>
            </a:r>
            <a:endParaRPr lang="en" sz="2000" b="0" i="0" u="none" strike="noStrike" dirty="0">
              <a:solidFill>
                <a:srgbClr val="FFFFFF"/>
              </a:solidFill>
              <a:latin typeface="Gmarket Sans Bold"/>
            </a:endParaRPr>
          </a:p>
        </p:txBody>
      </p:sp>
      <p:sp>
        <p:nvSpPr>
          <p:cNvPr id="31" name="모서리가 둥근 직사각형 14">
            <a:extLst>
              <a:ext uri="{FF2B5EF4-FFF2-40B4-BE49-F238E27FC236}">
                <a16:creationId xmlns:a16="http://schemas.microsoft.com/office/drawing/2014/main" id="{E94E2D32-07D0-A842-B436-9BD107CC1873}"/>
              </a:ext>
            </a:extLst>
          </p:cNvPr>
          <p:cNvSpPr/>
          <p:nvPr/>
        </p:nvSpPr>
        <p:spPr>
          <a:xfrm>
            <a:off x="18831574" y="4444088"/>
            <a:ext cx="3799826" cy="2035420"/>
          </a:xfrm>
          <a:prstGeom prst="roundRect">
            <a:avLst>
              <a:gd name="adj" fmla="val 50000"/>
            </a:avLst>
          </a:prstGeom>
          <a:solidFill>
            <a:srgbClr val="FFF5D3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BAD4715-CA6D-F54C-3019-14481401C4C0}"/>
              </a:ext>
            </a:extLst>
          </p:cNvPr>
          <p:cNvSpPr/>
          <p:nvPr/>
        </p:nvSpPr>
        <p:spPr>
          <a:xfrm>
            <a:off x="19603673" y="4440956"/>
            <a:ext cx="761864" cy="204508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39000">
                <a:schemeClr val="tx1">
                  <a:lumMod val="50000"/>
                  <a:lumOff val="50000"/>
                  <a:alpha val="46000"/>
                </a:schemeClr>
              </a:gs>
              <a:gs pos="100000">
                <a:schemeClr val="tx1">
                  <a:lumMod val="65000"/>
                  <a:lumOff val="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33" name="모서리가 둥근 직사각형 5">
            <a:extLst>
              <a:ext uri="{FF2B5EF4-FFF2-40B4-BE49-F238E27FC236}">
                <a16:creationId xmlns:a16="http://schemas.microsoft.com/office/drawing/2014/main" id="{E00D4471-16F7-CD4A-D293-51ACBAFD4E98}"/>
              </a:ext>
            </a:extLst>
          </p:cNvPr>
          <p:cNvSpPr/>
          <p:nvPr/>
        </p:nvSpPr>
        <p:spPr>
          <a:xfrm>
            <a:off x="1752600" y="4279900"/>
            <a:ext cx="18558584" cy="2349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7F7F7"/>
              </a:gs>
              <a:gs pos="60000">
                <a:schemeClr val="bg1"/>
              </a:gs>
            </a:gsLst>
            <a:lin ang="13500000" scaled="1"/>
            <a:tileRect/>
          </a:gradFill>
          <a:ln w="12700">
            <a:solidFill>
              <a:srgbClr val="D9D9D9">
                <a:alpha val="4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E05072E-DFD9-3F2D-CA67-54AA4EC0372B}"/>
              </a:ext>
            </a:extLst>
          </p:cNvPr>
          <p:cNvSpPr/>
          <p:nvPr/>
        </p:nvSpPr>
        <p:spPr>
          <a:xfrm>
            <a:off x="2147687" y="4659023"/>
            <a:ext cx="1491484" cy="1491479"/>
          </a:xfrm>
          <a:prstGeom prst="ellipse">
            <a:avLst/>
          </a:prstGeom>
          <a:solidFill>
            <a:srgbClr val="FFF5D3"/>
          </a:solidFill>
          <a:ln w="38100">
            <a:solidFill>
              <a:srgbClr val="464646"/>
            </a:solidFill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36" name="자유형 49">
            <a:extLst>
              <a:ext uri="{FF2B5EF4-FFF2-40B4-BE49-F238E27FC236}">
                <a16:creationId xmlns:a16="http://schemas.microsoft.com/office/drawing/2014/main" id="{B4619C11-18EE-E6A8-D34A-677E935A6DD2}"/>
              </a:ext>
            </a:extLst>
          </p:cNvPr>
          <p:cNvSpPr/>
          <p:nvPr/>
        </p:nvSpPr>
        <p:spPr>
          <a:xfrm flipH="1">
            <a:off x="18085238" y="4323823"/>
            <a:ext cx="2249320" cy="2349500"/>
          </a:xfrm>
          <a:custGeom>
            <a:avLst/>
            <a:gdLst>
              <a:gd name="connsiteX0" fmla="*/ 382228 w 807661"/>
              <a:gd name="connsiteY0" fmla="*/ 0 h 764455"/>
              <a:gd name="connsiteX1" fmla="*/ 437764 w 807661"/>
              <a:gd name="connsiteY1" fmla="*/ 0 h 764455"/>
              <a:gd name="connsiteX2" fmla="*/ 807661 w 807661"/>
              <a:gd name="connsiteY2" fmla="*/ 764455 h 764455"/>
              <a:gd name="connsiteX3" fmla="*/ 382228 w 807661"/>
              <a:gd name="connsiteY3" fmla="*/ 764455 h 764455"/>
              <a:gd name="connsiteX4" fmla="*/ 7766 w 807661"/>
              <a:gd name="connsiteY4" fmla="*/ 459259 h 764455"/>
              <a:gd name="connsiteX5" fmla="*/ 0 w 807661"/>
              <a:gd name="connsiteY5" fmla="*/ 382228 h 764455"/>
              <a:gd name="connsiteX6" fmla="*/ 7766 w 807661"/>
              <a:gd name="connsiteY6" fmla="*/ 305196 h 764455"/>
              <a:gd name="connsiteX7" fmla="*/ 382228 w 807661"/>
              <a:gd name="connsiteY7" fmla="*/ 0 h 76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661" h="764455">
                <a:moveTo>
                  <a:pt x="382228" y="0"/>
                </a:moveTo>
                <a:lnTo>
                  <a:pt x="437764" y="0"/>
                </a:lnTo>
                <a:lnTo>
                  <a:pt x="807661" y="764455"/>
                </a:lnTo>
                <a:lnTo>
                  <a:pt x="382228" y="764455"/>
                </a:lnTo>
                <a:cubicBezTo>
                  <a:pt x="197517" y="764455"/>
                  <a:pt x="43407" y="633434"/>
                  <a:pt x="7766" y="459259"/>
                </a:cubicBezTo>
                <a:lnTo>
                  <a:pt x="0" y="382228"/>
                </a:lnTo>
                <a:lnTo>
                  <a:pt x="7766" y="305196"/>
                </a:lnTo>
                <a:cubicBezTo>
                  <a:pt x="43407" y="131021"/>
                  <a:pt x="197517" y="0"/>
                  <a:pt x="382228" y="0"/>
                </a:cubicBezTo>
                <a:close/>
              </a:path>
            </a:pathLst>
          </a:custGeom>
          <a:solidFill>
            <a:srgbClr val="FFF5D3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37" name="Text Box 8">
            <a:extLst>
              <a:ext uri="{FF2B5EF4-FFF2-40B4-BE49-F238E27FC236}">
                <a16:creationId xmlns:a16="http://schemas.microsoft.com/office/drawing/2014/main" id="{0601070A-6677-9A70-6D37-7A4D91709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30" y="4989263"/>
            <a:ext cx="2247434" cy="830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4800" b="1" dirty="0">
                <a:latin typeface="Pretendard SemiBold" panose="020B0600000101010101" charset="-127"/>
                <a:ea typeface="Pretendard SemiBold" panose="020B0600000101010101" charset="-127"/>
              </a:rPr>
              <a:t>01</a:t>
            </a:r>
            <a:endParaRPr lang="ko-KR" altLang="ko-KR" sz="4800" b="1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EA63D7-A814-8C01-D92C-D11EEA6F82D6}"/>
              </a:ext>
            </a:extLst>
          </p:cNvPr>
          <p:cNvSpPr txBox="1"/>
          <p:nvPr/>
        </p:nvSpPr>
        <p:spPr>
          <a:xfrm>
            <a:off x="4425251" y="4418944"/>
            <a:ext cx="14387045" cy="206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Phase 1. </a:t>
            </a:r>
            <a:r>
              <a:rPr lang="ko-KR" altLang="en-US" sz="2800" b="1" dirty="0">
                <a:latin typeface="Pretendard Regular" panose="020B0600000101010101" charset="-127"/>
                <a:ea typeface="Pretendard Regular" panose="020B0600000101010101" charset="-127"/>
              </a:rPr>
              <a:t>표준화 </a:t>
            </a:r>
            <a:r>
              <a:rPr lang="en-US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(Standardization)</a:t>
            </a:r>
            <a:r>
              <a:rPr lang="ko-KR" altLang="en-US" sz="2800" b="1" dirty="0">
                <a:latin typeface="Pretendard Regular" panose="020B0600000101010101" charset="-127"/>
                <a:ea typeface="Pretendard Regular" panose="020B0600000101010101" charset="-127"/>
              </a:rPr>
              <a:t>                     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#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TimeOfDayStandard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endParaRPr lang="en-US" altLang="ko-KR" sz="2400" b="1" i="1" dirty="0">
              <a:ln>
                <a:solidFill>
                  <a:schemeClr val="accent1">
                    <a:alpha val="0"/>
                  </a:schemeClr>
                </a:solidFill>
              </a:ln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Act1.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전력 데이터 클러스터링을 통해 서울시 내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피크 집중형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”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아파트 단지 식별</a:t>
            </a:r>
            <a:endParaRPr lang="en-US" altLang="ko-KR" sz="253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Act2.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검증된 중계동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Unit(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연료전지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+ESS)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을 표준 패키지로 구성하여 우선 도입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(Quick Win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달성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Act3.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초기 투자 대비 피크 저감 효율 극대화</a:t>
            </a:r>
            <a:endParaRPr lang="en-US" altLang="ko-KR" sz="253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7" name="모서리가 둥근 직사각형 14">
            <a:extLst>
              <a:ext uri="{FF2B5EF4-FFF2-40B4-BE49-F238E27FC236}">
                <a16:creationId xmlns:a16="http://schemas.microsoft.com/office/drawing/2014/main" id="{FE37C2E0-2FDA-BA0F-927D-8A5FD473A7AE}"/>
              </a:ext>
            </a:extLst>
          </p:cNvPr>
          <p:cNvSpPr/>
          <p:nvPr/>
        </p:nvSpPr>
        <p:spPr>
          <a:xfrm>
            <a:off x="18831574" y="7002879"/>
            <a:ext cx="3799826" cy="2035420"/>
          </a:xfrm>
          <a:prstGeom prst="roundRect">
            <a:avLst>
              <a:gd name="adj" fmla="val 50000"/>
            </a:avLst>
          </a:prstGeom>
          <a:solidFill>
            <a:srgbClr val="FDEA9D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296B6D9-0493-927A-5BF6-C5040B74AC3E}"/>
              </a:ext>
            </a:extLst>
          </p:cNvPr>
          <p:cNvSpPr/>
          <p:nvPr/>
        </p:nvSpPr>
        <p:spPr>
          <a:xfrm>
            <a:off x="19603673" y="6999747"/>
            <a:ext cx="761864" cy="204508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39000">
                <a:schemeClr val="tx1">
                  <a:lumMod val="50000"/>
                  <a:lumOff val="50000"/>
                  <a:alpha val="46000"/>
                </a:schemeClr>
              </a:gs>
              <a:gs pos="100000">
                <a:schemeClr val="tx1">
                  <a:lumMod val="65000"/>
                  <a:lumOff val="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49" name="모서리가 둥근 직사각형 5">
            <a:extLst>
              <a:ext uri="{FF2B5EF4-FFF2-40B4-BE49-F238E27FC236}">
                <a16:creationId xmlns:a16="http://schemas.microsoft.com/office/drawing/2014/main" id="{6BF331E6-997D-73E8-B4B7-4986B79222EF}"/>
              </a:ext>
            </a:extLst>
          </p:cNvPr>
          <p:cNvSpPr/>
          <p:nvPr/>
        </p:nvSpPr>
        <p:spPr>
          <a:xfrm>
            <a:off x="1752600" y="6838691"/>
            <a:ext cx="18558584" cy="2349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7F7F7"/>
              </a:gs>
              <a:gs pos="60000">
                <a:schemeClr val="bg1"/>
              </a:gs>
            </a:gsLst>
            <a:lin ang="13500000" scaled="1"/>
            <a:tileRect/>
          </a:gradFill>
          <a:ln w="12700">
            <a:solidFill>
              <a:srgbClr val="D9D9D9">
                <a:alpha val="4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1320458-4FB9-3E4A-BFF6-6DDA9FF94249}"/>
              </a:ext>
            </a:extLst>
          </p:cNvPr>
          <p:cNvSpPr/>
          <p:nvPr/>
        </p:nvSpPr>
        <p:spPr>
          <a:xfrm>
            <a:off x="2147687" y="7217814"/>
            <a:ext cx="1491484" cy="1491479"/>
          </a:xfrm>
          <a:prstGeom prst="ellipse">
            <a:avLst/>
          </a:prstGeom>
          <a:solidFill>
            <a:srgbClr val="FDEA9D"/>
          </a:solidFill>
          <a:ln w="38100">
            <a:solidFill>
              <a:srgbClr val="464646"/>
            </a:solidFill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51" name="자유형 49">
            <a:extLst>
              <a:ext uri="{FF2B5EF4-FFF2-40B4-BE49-F238E27FC236}">
                <a16:creationId xmlns:a16="http://schemas.microsoft.com/office/drawing/2014/main" id="{EEA4E08E-A4C3-7073-CBFD-56B679EE57EA}"/>
              </a:ext>
            </a:extLst>
          </p:cNvPr>
          <p:cNvSpPr/>
          <p:nvPr/>
        </p:nvSpPr>
        <p:spPr>
          <a:xfrm flipH="1">
            <a:off x="18085238" y="6882614"/>
            <a:ext cx="2249320" cy="2349500"/>
          </a:xfrm>
          <a:custGeom>
            <a:avLst/>
            <a:gdLst>
              <a:gd name="connsiteX0" fmla="*/ 382228 w 807661"/>
              <a:gd name="connsiteY0" fmla="*/ 0 h 764455"/>
              <a:gd name="connsiteX1" fmla="*/ 437764 w 807661"/>
              <a:gd name="connsiteY1" fmla="*/ 0 h 764455"/>
              <a:gd name="connsiteX2" fmla="*/ 807661 w 807661"/>
              <a:gd name="connsiteY2" fmla="*/ 764455 h 764455"/>
              <a:gd name="connsiteX3" fmla="*/ 382228 w 807661"/>
              <a:gd name="connsiteY3" fmla="*/ 764455 h 764455"/>
              <a:gd name="connsiteX4" fmla="*/ 7766 w 807661"/>
              <a:gd name="connsiteY4" fmla="*/ 459259 h 764455"/>
              <a:gd name="connsiteX5" fmla="*/ 0 w 807661"/>
              <a:gd name="connsiteY5" fmla="*/ 382228 h 764455"/>
              <a:gd name="connsiteX6" fmla="*/ 7766 w 807661"/>
              <a:gd name="connsiteY6" fmla="*/ 305196 h 764455"/>
              <a:gd name="connsiteX7" fmla="*/ 382228 w 807661"/>
              <a:gd name="connsiteY7" fmla="*/ 0 h 76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661" h="764455">
                <a:moveTo>
                  <a:pt x="382228" y="0"/>
                </a:moveTo>
                <a:lnTo>
                  <a:pt x="437764" y="0"/>
                </a:lnTo>
                <a:lnTo>
                  <a:pt x="807661" y="764455"/>
                </a:lnTo>
                <a:lnTo>
                  <a:pt x="382228" y="764455"/>
                </a:lnTo>
                <a:cubicBezTo>
                  <a:pt x="197517" y="764455"/>
                  <a:pt x="43407" y="633434"/>
                  <a:pt x="7766" y="459259"/>
                </a:cubicBezTo>
                <a:lnTo>
                  <a:pt x="0" y="382228"/>
                </a:lnTo>
                <a:lnTo>
                  <a:pt x="7766" y="305196"/>
                </a:lnTo>
                <a:cubicBezTo>
                  <a:pt x="43407" y="131021"/>
                  <a:pt x="197517" y="0"/>
                  <a:pt x="382228" y="0"/>
                </a:cubicBezTo>
                <a:close/>
              </a:path>
            </a:pathLst>
          </a:custGeom>
          <a:solidFill>
            <a:srgbClr val="FDEA9D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52" name="Text Box 8">
            <a:extLst>
              <a:ext uri="{FF2B5EF4-FFF2-40B4-BE49-F238E27FC236}">
                <a16:creationId xmlns:a16="http://schemas.microsoft.com/office/drawing/2014/main" id="{BE1F4536-4715-E9D0-7C4B-072125B39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30" y="7548054"/>
            <a:ext cx="2247434" cy="830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4800" b="1" dirty="0">
                <a:latin typeface="Pretendard SemiBold" panose="020B0600000101010101" charset="-127"/>
                <a:ea typeface="Pretendard SemiBold" panose="020B0600000101010101" charset="-127"/>
              </a:rPr>
              <a:t>02</a:t>
            </a:r>
            <a:endParaRPr lang="ko-KR" altLang="ko-KR" sz="4800" b="1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2CF74D-6D68-E07F-DCEC-5CF73951BE74}"/>
              </a:ext>
            </a:extLst>
          </p:cNvPr>
          <p:cNvSpPr txBox="1"/>
          <p:nvPr/>
        </p:nvSpPr>
        <p:spPr>
          <a:xfrm>
            <a:off x="4425251" y="6977735"/>
            <a:ext cx="14387045" cy="206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Phase 2. </a:t>
            </a:r>
            <a:r>
              <a:rPr lang="ko-KR" altLang="en-US" sz="2800" b="1" dirty="0">
                <a:latin typeface="Pretendard Regular" panose="020B0600000101010101" charset="-127"/>
                <a:ea typeface="Pretendard Regular" panose="020B0600000101010101" charset="-127"/>
              </a:rPr>
              <a:t>정책화 </a:t>
            </a:r>
            <a:r>
              <a:rPr lang="en-US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(Policy Alignment)</a:t>
            </a:r>
            <a:r>
              <a:rPr lang="ko-KR" altLang="en-US" sz="2800" b="1" dirty="0">
                <a:latin typeface="Pretendard Regular" panose="020B0600000101010101" charset="-127"/>
                <a:ea typeface="Pretendard Regular" panose="020B0600000101010101" charset="-127"/>
              </a:rPr>
              <a:t>                   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#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OperationBasedPolicy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endParaRPr lang="en-US" altLang="ko-KR" sz="2400" b="1" i="1" dirty="0">
              <a:ln>
                <a:solidFill>
                  <a:schemeClr val="accent1">
                    <a:alpha val="0"/>
                  </a:schemeClr>
                </a:solidFill>
              </a:ln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Act1.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서울시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그린 뉴딜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”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및 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건물용 연료전지 보급 사업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과 연계 추진</a:t>
            </a:r>
            <a:endParaRPr lang="en-US" altLang="ko-KR" sz="253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Act2.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단일 설비가 아닌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하이브리드</a:t>
            </a:r>
            <a:r>
              <a:rPr lang="en-US" altLang="ko-KR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융합</a:t>
            </a:r>
            <a:r>
              <a:rPr lang="en-US" altLang="ko-KR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설비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”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운영 시 보조금 가중치 신설 제안</a:t>
            </a:r>
            <a:endParaRPr lang="en-US" altLang="ko-KR" sz="253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Act3.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민간 아파트 단지의 자발적 참여를 위한 수익 모델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(Biz Model)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정립</a:t>
            </a:r>
            <a:endParaRPr lang="en-US" altLang="ko-KR" sz="253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5" name="모서리가 둥근 직사각형 14">
            <a:extLst>
              <a:ext uri="{FF2B5EF4-FFF2-40B4-BE49-F238E27FC236}">
                <a16:creationId xmlns:a16="http://schemas.microsoft.com/office/drawing/2014/main" id="{82053FE7-BC6E-0058-04FF-8C58B473EBCD}"/>
              </a:ext>
            </a:extLst>
          </p:cNvPr>
          <p:cNvSpPr/>
          <p:nvPr/>
        </p:nvSpPr>
        <p:spPr>
          <a:xfrm>
            <a:off x="18831574" y="9480127"/>
            <a:ext cx="3799826" cy="2035420"/>
          </a:xfrm>
          <a:prstGeom prst="roundRect">
            <a:avLst>
              <a:gd name="adj" fmla="val 50000"/>
            </a:avLst>
          </a:prstGeom>
          <a:solidFill>
            <a:srgbClr val="FFDE65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39B05C9-1864-AC1A-1720-165A7D4C2328}"/>
              </a:ext>
            </a:extLst>
          </p:cNvPr>
          <p:cNvSpPr/>
          <p:nvPr/>
        </p:nvSpPr>
        <p:spPr>
          <a:xfrm>
            <a:off x="19603673" y="9476995"/>
            <a:ext cx="761864" cy="204508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39000">
                <a:schemeClr val="tx1">
                  <a:lumMod val="50000"/>
                  <a:lumOff val="50000"/>
                  <a:alpha val="46000"/>
                </a:schemeClr>
              </a:gs>
              <a:gs pos="100000">
                <a:schemeClr val="tx1">
                  <a:lumMod val="65000"/>
                  <a:lumOff val="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57" name="모서리가 둥근 직사각형 5">
            <a:extLst>
              <a:ext uri="{FF2B5EF4-FFF2-40B4-BE49-F238E27FC236}">
                <a16:creationId xmlns:a16="http://schemas.microsoft.com/office/drawing/2014/main" id="{4E0A7AEE-F297-3CC2-B4AA-0EF010EAFD69}"/>
              </a:ext>
            </a:extLst>
          </p:cNvPr>
          <p:cNvSpPr/>
          <p:nvPr/>
        </p:nvSpPr>
        <p:spPr>
          <a:xfrm>
            <a:off x="1752600" y="9315939"/>
            <a:ext cx="18558584" cy="2349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7F7F7"/>
              </a:gs>
              <a:gs pos="60000">
                <a:schemeClr val="bg1"/>
              </a:gs>
            </a:gsLst>
            <a:lin ang="13500000" scaled="1"/>
            <a:tileRect/>
          </a:gradFill>
          <a:ln w="12700">
            <a:solidFill>
              <a:srgbClr val="D9D9D9">
                <a:alpha val="4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C6237ED-E982-7FBB-477B-76D2FD1312F3}"/>
              </a:ext>
            </a:extLst>
          </p:cNvPr>
          <p:cNvSpPr/>
          <p:nvPr/>
        </p:nvSpPr>
        <p:spPr>
          <a:xfrm>
            <a:off x="2147687" y="9695062"/>
            <a:ext cx="1491484" cy="1491479"/>
          </a:xfrm>
          <a:prstGeom prst="ellipse">
            <a:avLst/>
          </a:prstGeom>
          <a:solidFill>
            <a:srgbClr val="FFDE65"/>
          </a:solidFill>
          <a:ln w="38100">
            <a:solidFill>
              <a:srgbClr val="464646"/>
            </a:solidFill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ko-KR" altLang="en-US" sz="3600" dirty="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59" name="자유형 49">
            <a:extLst>
              <a:ext uri="{FF2B5EF4-FFF2-40B4-BE49-F238E27FC236}">
                <a16:creationId xmlns:a16="http://schemas.microsoft.com/office/drawing/2014/main" id="{C38F5048-6D8F-DD52-436C-AD77E77B03BB}"/>
              </a:ext>
            </a:extLst>
          </p:cNvPr>
          <p:cNvSpPr/>
          <p:nvPr/>
        </p:nvSpPr>
        <p:spPr>
          <a:xfrm flipH="1">
            <a:off x="18085238" y="9359862"/>
            <a:ext cx="2249320" cy="2349500"/>
          </a:xfrm>
          <a:custGeom>
            <a:avLst/>
            <a:gdLst>
              <a:gd name="connsiteX0" fmla="*/ 382228 w 807661"/>
              <a:gd name="connsiteY0" fmla="*/ 0 h 764455"/>
              <a:gd name="connsiteX1" fmla="*/ 437764 w 807661"/>
              <a:gd name="connsiteY1" fmla="*/ 0 h 764455"/>
              <a:gd name="connsiteX2" fmla="*/ 807661 w 807661"/>
              <a:gd name="connsiteY2" fmla="*/ 764455 h 764455"/>
              <a:gd name="connsiteX3" fmla="*/ 382228 w 807661"/>
              <a:gd name="connsiteY3" fmla="*/ 764455 h 764455"/>
              <a:gd name="connsiteX4" fmla="*/ 7766 w 807661"/>
              <a:gd name="connsiteY4" fmla="*/ 459259 h 764455"/>
              <a:gd name="connsiteX5" fmla="*/ 0 w 807661"/>
              <a:gd name="connsiteY5" fmla="*/ 382228 h 764455"/>
              <a:gd name="connsiteX6" fmla="*/ 7766 w 807661"/>
              <a:gd name="connsiteY6" fmla="*/ 305196 h 764455"/>
              <a:gd name="connsiteX7" fmla="*/ 382228 w 807661"/>
              <a:gd name="connsiteY7" fmla="*/ 0 h 76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661" h="764455">
                <a:moveTo>
                  <a:pt x="382228" y="0"/>
                </a:moveTo>
                <a:lnTo>
                  <a:pt x="437764" y="0"/>
                </a:lnTo>
                <a:lnTo>
                  <a:pt x="807661" y="764455"/>
                </a:lnTo>
                <a:lnTo>
                  <a:pt x="382228" y="764455"/>
                </a:lnTo>
                <a:cubicBezTo>
                  <a:pt x="197517" y="764455"/>
                  <a:pt x="43407" y="633434"/>
                  <a:pt x="7766" y="459259"/>
                </a:cubicBezTo>
                <a:lnTo>
                  <a:pt x="0" y="382228"/>
                </a:lnTo>
                <a:lnTo>
                  <a:pt x="7766" y="305196"/>
                </a:lnTo>
                <a:cubicBezTo>
                  <a:pt x="43407" y="131021"/>
                  <a:pt x="197517" y="0"/>
                  <a:pt x="382228" y="0"/>
                </a:cubicBezTo>
                <a:close/>
              </a:path>
            </a:pathLst>
          </a:custGeom>
          <a:solidFill>
            <a:srgbClr val="FFDE6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60" name="Text Box 8">
            <a:extLst>
              <a:ext uri="{FF2B5EF4-FFF2-40B4-BE49-F238E27FC236}">
                <a16:creationId xmlns:a16="http://schemas.microsoft.com/office/drawing/2014/main" id="{878CE9BC-6F06-413F-064D-F5CD071BD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30" y="10025302"/>
            <a:ext cx="2247434" cy="830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4800" b="1" dirty="0">
                <a:latin typeface="Pretendard SemiBold" panose="020B0600000101010101" charset="-127"/>
                <a:ea typeface="Pretendard SemiBold" panose="020B0600000101010101" charset="-127"/>
              </a:rPr>
              <a:t>03</a:t>
            </a:r>
            <a:endParaRPr lang="ko-KR" altLang="ko-KR" sz="4800" b="1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901F8A-A6FC-614E-1C55-33CB95371341}"/>
              </a:ext>
            </a:extLst>
          </p:cNvPr>
          <p:cNvSpPr txBox="1"/>
          <p:nvPr/>
        </p:nvSpPr>
        <p:spPr>
          <a:xfrm>
            <a:off x="4425251" y="9454983"/>
            <a:ext cx="14387045" cy="206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Phase 3. </a:t>
            </a:r>
            <a:r>
              <a:rPr lang="ko-KR" altLang="en-US" sz="2800" b="1" dirty="0">
                <a:latin typeface="Pretendard Regular" panose="020B0600000101010101" charset="-127"/>
                <a:ea typeface="Pretendard Regular" panose="020B0600000101010101" charset="-127"/>
              </a:rPr>
              <a:t>네트워크화 </a:t>
            </a:r>
            <a:r>
              <a:rPr lang="en-US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(VPP Evolution)</a:t>
            </a:r>
            <a:r>
              <a:rPr lang="ko-KR" altLang="en-US" sz="2800" b="1" dirty="0">
                <a:latin typeface="Pretendard Regular" panose="020B0600000101010101" charset="-127"/>
                <a:ea typeface="Pretendard Regular" panose="020B0600000101010101" charset="-127"/>
              </a:rPr>
              <a:t>                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#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UrbanVPP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endParaRPr lang="en-US" altLang="ko-KR" sz="2400" b="1" i="1" dirty="0">
              <a:ln>
                <a:solidFill>
                  <a:schemeClr val="accent1">
                    <a:alpha val="0"/>
                  </a:schemeClr>
                </a:solidFill>
              </a:ln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Act1.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개별 아파트 단지의 자원을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ICT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기술로 연결하여 하나의 </a:t>
            </a:r>
            <a:r>
              <a:rPr lang="ko-KR" altLang="en-US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가상발전소</a:t>
            </a:r>
            <a:r>
              <a:rPr lang="en-US" altLang="ko-KR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(VPP)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로 통합</a:t>
            </a:r>
            <a:endParaRPr lang="en-US" altLang="ko-KR" sz="253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Act2.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지역 간 잉여 전력 거래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(P2P)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및 </a:t>
            </a:r>
            <a:r>
              <a:rPr lang="ko-KR" altLang="en-US" sz="2530" dirty="0" err="1">
                <a:latin typeface="Pretendard Regular" panose="020B0600000101010101" charset="-127"/>
                <a:ea typeface="Pretendard Regular" panose="020B0600000101010101" charset="-127"/>
              </a:rPr>
              <a:t>전력망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 보조 서비스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(Ancillary Service)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참여</a:t>
            </a:r>
            <a:endParaRPr lang="en-US" altLang="ko-KR" sz="253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530" b="1" dirty="0">
                <a:latin typeface="Pretendard Regular" panose="020B0600000101010101" charset="-127"/>
                <a:ea typeface="Pretendard Regular" panose="020B0600000101010101" charset="-127"/>
              </a:rPr>
              <a:t>Act3.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데이터 기반의 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53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서울시 에너지 자립 생태계</a:t>
            </a:r>
            <a:r>
              <a:rPr lang="en-US" altLang="ko-KR" sz="2530" dirty="0">
                <a:latin typeface="Pretendard Regular" panose="020B0600000101010101" charset="-127"/>
                <a:ea typeface="Pretendard Regular" panose="020B0600000101010101" charset="-127"/>
              </a:rPr>
              <a:t>” </a:t>
            </a:r>
            <a:r>
              <a:rPr lang="ko-KR" altLang="en-US" sz="2530" dirty="0">
                <a:latin typeface="Pretendard Regular" panose="020B0600000101010101" charset="-127"/>
                <a:ea typeface="Pretendard Regular" panose="020B0600000101010101" charset="-127"/>
              </a:rPr>
              <a:t>완성</a:t>
            </a:r>
            <a:endParaRPr lang="en-US" altLang="ko-KR" sz="253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63" name="Picture 9">
            <a:extLst>
              <a:ext uri="{FF2B5EF4-FFF2-40B4-BE49-F238E27FC236}">
                <a16:creationId xmlns:a16="http://schemas.microsoft.com/office/drawing/2014/main" id="{35BD389A-03F2-F13E-2EDD-F6EF3C5B3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5129"/>
            <a:ext cx="22580601" cy="977900"/>
          </a:xfrm>
          <a:prstGeom prst="rect">
            <a:avLst/>
          </a:prstGeom>
        </p:spPr>
      </p:pic>
      <p:sp>
        <p:nvSpPr>
          <p:cNvPr id="43" name="TextBox 22">
            <a:extLst>
              <a:ext uri="{FF2B5EF4-FFF2-40B4-BE49-F238E27FC236}">
                <a16:creationId xmlns:a16="http://schemas.microsoft.com/office/drawing/2014/main" id="{5CD65728-E790-02ED-D2E9-791019669A1F}"/>
              </a:ext>
            </a:extLst>
          </p:cNvPr>
          <p:cNvSpPr txBox="1"/>
          <p:nvPr/>
        </p:nvSpPr>
        <p:spPr>
          <a:xfrm>
            <a:off x="3441700" y="12113090"/>
            <a:ext cx="17513300" cy="67945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개별 </a:t>
            </a:r>
            <a:r>
              <a:rPr lang="en-US" altLang="ko-KR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Unit</a:t>
            </a:r>
            <a:r>
              <a:rPr lang="ko-KR" altLang="en-US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에너지 효율화</a:t>
            </a:r>
            <a:r>
              <a:rPr lang="en-US" altLang="ko-KR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(Micro)</a:t>
            </a:r>
            <a:r>
              <a:rPr lang="ko-KR" altLang="en-US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모여</a:t>
            </a:r>
            <a:r>
              <a:rPr lang="en-US" altLang="ko-KR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서울시 전체 전력망의 구조적 안정성</a:t>
            </a:r>
            <a:r>
              <a:rPr lang="en-US" altLang="ko-KR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(Macro)</a:t>
            </a:r>
            <a:r>
              <a:rPr lang="ko-KR" altLang="en-US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를 완성한다</a:t>
            </a:r>
            <a:r>
              <a:rPr lang="en-US" altLang="ko-KR" sz="2933" spc="-117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</a:p>
        </p:txBody>
      </p:sp>
      <p:pic>
        <p:nvPicPr>
          <p:cNvPr id="65" name="그림 6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42A3C1-CD3D-044B-A731-FB30FA8497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566" y="9819180"/>
            <a:ext cx="1430864" cy="1430864"/>
          </a:xfrm>
          <a:prstGeom prst="rect">
            <a:avLst/>
          </a:prstGeom>
        </p:spPr>
      </p:pic>
      <p:pic>
        <p:nvPicPr>
          <p:cNvPr id="67" name="그림 6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5020EF-0654-57E9-4000-6E457227D63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9786" y="7344572"/>
            <a:ext cx="1425584" cy="1425584"/>
          </a:xfrm>
          <a:prstGeom prst="rect">
            <a:avLst/>
          </a:prstGeom>
        </p:spPr>
      </p:pic>
      <p:pic>
        <p:nvPicPr>
          <p:cNvPr id="69" name="그림 6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DED40C-6C7B-B413-6120-43BDE0E86C4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1853" y="4746176"/>
            <a:ext cx="1431243" cy="143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28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1428C-1553-236C-DD0B-A83F668A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A12D50B-C4DD-F85E-1CF0-4EF71F563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FE299A7-685F-EFEE-D7CF-82C73AB2E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B0CEC994-DA8A-FF35-4411-89C9C9760E67}"/>
              </a:ext>
            </a:extLst>
          </p:cNvPr>
          <p:cNvSpPr txBox="1"/>
          <p:nvPr/>
        </p:nvSpPr>
        <p:spPr>
          <a:xfrm>
            <a:off x="1282700" y="1968500"/>
            <a:ext cx="147193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자원의 한계를 넘다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하이브리드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(Hybrid)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최적 모델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4E0244F-C03A-4647-5097-11647386BEC1}"/>
              </a:ext>
            </a:extLst>
          </p:cNvPr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ea typeface="Pretendard Regular"/>
              </a:rPr>
              <a:t>기저부하와 피크 대응을 분리한 역할 기반 에너지 운영 전략 </a:t>
            </a:r>
            <a:endParaRPr lang="ko-KR" sz="2933" b="0" i="0" u="none" strike="noStrike" spc="-88" dirty="0">
              <a:solidFill>
                <a:srgbClr val="222222"/>
              </a:solidFill>
              <a:ea typeface="Pretendard Regular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ABC27BD-4781-B4CD-C9FD-F97074CACD28}"/>
              </a:ext>
            </a:extLst>
          </p:cNvPr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000" dirty="0">
                <a:solidFill>
                  <a:srgbClr val="FFFFFF"/>
                </a:solidFill>
                <a:latin typeface="Gmarket Sans Bold"/>
              </a:rPr>
              <a:t>[Conclusion] Structural Proof</a:t>
            </a:r>
            <a:endParaRPr lang="en" sz="2000" b="0" i="0" u="none" strike="noStrike" dirty="0">
              <a:solidFill>
                <a:srgbClr val="FFFFFF"/>
              </a:solidFill>
              <a:latin typeface="Gmarket Sans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D0819C2-7444-DA60-07D5-826B5EA4F249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b="0" i="0" u="none" strike="noStrike" spc="40" dirty="0">
                <a:solidFill>
                  <a:srgbClr val="FFFFFF"/>
                </a:solidFill>
                <a:latin typeface="Gmarket Sans Bold"/>
              </a:rPr>
              <a:t>032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CE2DB1-31BD-6328-A4E0-12A7EFCB6D1A}"/>
              </a:ext>
            </a:extLst>
          </p:cNvPr>
          <p:cNvSpPr txBox="1"/>
          <p:nvPr/>
        </p:nvSpPr>
        <p:spPr>
          <a:xfrm>
            <a:off x="3241858" y="12229901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분석은 서울시 시간대별 전력 사용 데이터를 기준으로 한다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36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0" name="Picture 9">
            <a:extLst>
              <a:ext uri="{FF2B5EF4-FFF2-40B4-BE49-F238E27FC236}">
                <a16:creationId xmlns:a16="http://schemas.microsoft.com/office/drawing/2014/main" id="{5038F277-5BB5-D5D7-558A-2B44B0721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1" y="11976100"/>
            <a:ext cx="22593300" cy="977900"/>
          </a:xfrm>
          <a:prstGeom prst="rect">
            <a:avLst/>
          </a:prstGeom>
        </p:spPr>
      </p:pic>
      <p:sp>
        <p:nvSpPr>
          <p:cNvPr id="71" name="TextBox 37">
            <a:extLst>
              <a:ext uri="{FF2B5EF4-FFF2-40B4-BE49-F238E27FC236}">
                <a16:creationId xmlns:a16="http://schemas.microsoft.com/office/drawing/2014/main" id="{538BEB99-76D4-F8F6-F25F-5CA882477152}"/>
              </a:ext>
            </a:extLst>
          </p:cNvPr>
          <p:cNvSpPr txBox="1"/>
          <p:nvPr/>
        </p:nvSpPr>
        <p:spPr>
          <a:xfrm>
            <a:off x="1714500" y="12255500"/>
            <a:ext cx="209931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설비의 용량 한계를 넘어 역할 분담형 하이브리드 운영은 전력 수요를 구조적으로 흡수하는 해법을 제시한다</a:t>
            </a:r>
            <a:r>
              <a:rPr lang="en-US" altLang="ko-KR" sz="2930" b="0" i="0" u="none" strike="noStrike" spc="-72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solidFill>
                <a:schemeClr val="bg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B3B8E3-69FB-A8AD-822A-CCE8CB7618C3}"/>
              </a:ext>
            </a:extLst>
          </p:cNvPr>
          <p:cNvGrpSpPr/>
          <p:nvPr/>
        </p:nvGrpSpPr>
        <p:grpSpPr>
          <a:xfrm>
            <a:off x="16060373" y="4445995"/>
            <a:ext cx="7050858" cy="7348072"/>
            <a:chOff x="15826648" y="4445995"/>
            <a:chExt cx="7050858" cy="7348072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9F233571-1E53-6FD8-1656-F356787EDDCD}"/>
                </a:ext>
              </a:extLst>
            </p:cNvPr>
            <p:cNvSpPr/>
            <p:nvPr/>
          </p:nvSpPr>
          <p:spPr>
            <a:xfrm>
              <a:off x="15842340" y="4455353"/>
              <a:ext cx="7035166" cy="7338714"/>
            </a:xfrm>
            <a:prstGeom prst="roundRect">
              <a:avLst>
                <a:gd name="adj" fmla="val 2017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E6F4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dirty="0"/>
                <a:t>`</a:t>
              </a:r>
              <a:endParaRPr lang="ko-KR" altLang="en-US" sz="3600" dirty="0"/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2F977F3-B10E-D0DD-B149-27FD949DD769}"/>
                </a:ext>
              </a:extLst>
            </p:cNvPr>
            <p:cNvSpPr/>
            <p:nvPr/>
          </p:nvSpPr>
          <p:spPr>
            <a:xfrm>
              <a:off x="15826648" y="4445995"/>
              <a:ext cx="7030900" cy="2437692"/>
            </a:xfrm>
            <a:prstGeom prst="roundRect">
              <a:avLst>
                <a:gd name="adj" fmla="val 6156"/>
              </a:avLst>
            </a:prstGeom>
            <a:solidFill>
              <a:srgbClr val="FFDE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5495D6AA-9C7A-B564-AD98-62B1A8D85237}"/>
                </a:ext>
              </a:extLst>
            </p:cNvPr>
            <p:cNvGrpSpPr/>
            <p:nvPr/>
          </p:nvGrpSpPr>
          <p:grpSpPr>
            <a:xfrm>
              <a:off x="18085510" y="5568303"/>
              <a:ext cx="2514988" cy="2514988"/>
              <a:chOff x="839728" y="2357339"/>
              <a:chExt cx="1257494" cy="1257494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DD8A11CE-50DE-FA59-4E91-ED5ACCB40E09}"/>
                  </a:ext>
                </a:extLst>
              </p:cNvPr>
              <p:cNvSpPr/>
              <p:nvPr/>
            </p:nvSpPr>
            <p:spPr>
              <a:xfrm>
                <a:off x="839728" y="2357339"/>
                <a:ext cx="1257494" cy="12574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2CADBB99-ECE0-EB98-419F-E99C6FEBA597}"/>
                  </a:ext>
                </a:extLst>
              </p:cNvPr>
              <p:cNvSpPr/>
              <p:nvPr/>
            </p:nvSpPr>
            <p:spPr>
              <a:xfrm>
                <a:off x="928415" y="2445949"/>
                <a:ext cx="1080120" cy="1080120"/>
              </a:xfrm>
              <a:prstGeom prst="ellipse">
                <a:avLst/>
              </a:prstGeom>
              <a:solidFill>
                <a:srgbClr val="FFDE6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 dirty="0"/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1BF45A4-A49C-BEBB-9BDC-0D9CFD0FBAE0}"/>
                </a:ext>
              </a:extLst>
            </p:cNvPr>
            <p:cNvSpPr txBox="1"/>
            <p:nvPr/>
          </p:nvSpPr>
          <p:spPr>
            <a:xfrm>
              <a:off x="15874913" y="4702123"/>
              <a:ext cx="68894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Pretendard SemiBold" panose="020B0600000101010101" charset="-127"/>
                  <a:ea typeface="Pretendard SemiBold" panose="020B0600000101010101" charset="-127"/>
                </a:rPr>
                <a:t>시스템 안정성</a:t>
              </a:r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Pretendard SemiBold" panose="020B0600000101010101" charset="-127"/>
                  <a:ea typeface="Pretendard SemiBold" panose="020B0600000101010101" charset="-127"/>
                </a:rPr>
                <a:t>(System Robustness)</a:t>
              </a:r>
              <a:endParaRPr lang="ko-KR" altLang="en-US" sz="36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22" name="TextBox 32">
              <a:extLst>
                <a:ext uri="{FF2B5EF4-FFF2-40B4-BE49-F238E27FC236}">
                  <a16:creationId xmlns:a16="http://schemas.microsoft.com/office/drawing/2014/main" id="{7F1F81C5-B7E8-02BD-BD9C-0BF052C426FE}"/>
                </a:ext>
              </a:extLst>
            </p:cNvPr>
            <p:cNvSpPr txBox="1"/>
            <p:nvPr/>
          </p:nvSpPr>
          <p:spPr>
            <a:xfrm>
              <a:off x="15968499" y="8445500"/>
              <a:ext cx="6791125" cy="15494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ko-KR" alt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불확실한 외부 변수 </a:t>
              </a:r>
              <a:r>
                <a:rPr lang="en-US" altLang="ko-KR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</a:t>
              </a:r>
              <a:r>
                <a:rPr lang="ko-KR" alt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주민 참여</a:t>
              </a:r>
              <a:r>
                <a:rPr lang="en-US" altLang="ko-KR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(DR) </a:t>
              </a:r>
              <a:r>
                <a:rPr lang="ko-KR" alt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등</a:t>
              </a:r>
              <a:r>
                <a:rPr lang="en-US" altLang="ko-KR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)</a:t>
              </a:r>
              <a:r>
                <a:rPr lang="ko-KR" alt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에 의존 </a:t>
              </a:r>
              <a:r>
                <a:rPr lang="en-US" altLang="ko-KR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X</a:t>
              </a:r>
              <a:endParaRPr lang="ko-KR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l">
                <a:lnSpc>
                  <a:spcPct val="141100"/>
                </a:lnSpc>
              </a:pPr>
              <a:r>
                <a:rPr 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설비 자체의 역할 분담과 운영 로직만으로</a:t>
              </a:r>
              <a:endParaRPr lang="en-US" altLang="ko-KR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>
                <a:lnSpc>
                  <a:spcPct val="141100"/>
                </a:lnSpc>
              </a:pPr>
              <a:r>
                <a:rPr lang="en-US" altLang="ko-KR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구조적 시스템 안정성 확보</a:t>
              </a:r>
              <a:endParaRPr lang="en-US" altLang="ko-KR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8B8048F8-1935-4ACA-CB3B-E896B7364CB8}"/>
                </a:ext>
              </a:extLst>
            </p:cNvPr>
            <p:cNvSpPr txBox="1"/>
            <p:nvPr/>
          </p:nvSpPr>
          <p:spPr>
            <a:xfrm>
              <a:off x="16822374" y="10523057"/>
              <a:ext cx="49945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No External Dependency</a:t>
              </a:r>
            </a:p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Predictable Operation</a:t>
              </a:r>
            </a:p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Grid Stability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133" name="그림 132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8ADCBA9-9847-9CA6-4B7A-F2CB88D2F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05043" y="6192463"/>
              <a:ext cx="1219381" cy="1219381"/>
            </a:xfrm>
            <a:prstGeom prst="rect">
              <a:avLst/>
            </a:prstGeom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7A362340-DB04-16E8-4366-94D479772A45}"/>
              </a:ext>
            </a:extLst>
          </p:cNvPr>
          <p:cNvGrpSpPr/>
          <p:nvPr/>
        </p:nvGrpSpPr>
        <p:grpSpPr>
          <a:xfrm>
            <a:off x="8669835" y="4445995"/>
            <a:ext cx="7050858" cy="7348072"/>
            <a:chOff x="8665663" y="4445995"/>
            <a:chExt cx="7050858" cy="7348072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B31B83E-0D49-1DBE-D218-A8146472368F}"/>
                </a:ext>
              </a:extLst>
            </p:cNvPr>
            <p:cNvSpPr/>
            <p:nvPr/>
          </p:nvSpPr>
          <p:spPr>
            <a:xfrm>
              <a:off x="8681355" y="4455353"/>
              <a:ext cx="7035166" cy="7338714"/>
            </a:xfrm>
            <a:prstGeom prst="roundRect">
              <a:avLst>
                <a:gd name="adj" fmla="val 2017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E6F4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dirty="0"/>
                <a:t>`</a:t>
              </a:r>
              <a:endParaRPr lang="ko-KR" altLang="en-US" sz="3600" dirty="0"/>
            </a:p>
          </p:txBody>
        </p: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E29DD64B-A932-1B58-3730-E82C6FE700ED}"/>
                </a:ext>
              </a:extLst>
            </p:cNvPr>
            <p:cNvSpPr/>
            <p:nvPr/>
          </p:nvSpPr>
          <p:spPr>
            <a:xfrm>
              <a:off x="8665663" y="4445995"/>
              <a:ext cx="7030900" cy="2437692"/>
            </a:xfrm>
            <a:prstGeom prst="roundRect">
              <a:avLst>
                <a:gd name="adj" fmla="val 6156"/>
              </a:avLst>
            </a:prstGeom>
            <a:solidFill>
              <a:srgbClr val="FDEA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ECDE7781-AB29-E9B8-A824-ED1331C21833}"/>
                </a:ext>
              </a:extLst>
            </p:cNvPr>
            <p:cNvGrpSpPr/>
            <p:nvPr/>
          </p:nvGrpSpPr>
          <p:grpSpPr>
            <a:xfrm>
              <a:off x="10924525" y="5568303"/>
              <a:ext cx="2514988" cy="2514988"/>
              <a:chOff x="839728" y="2357339"/>
              <a:chExt cx="1257494" cy="1257494"/>
            </a:xfrm>
          </p:grpSpPr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84108CEB-3C66-9F9D-8A36-04106B10FDC7}"/>
                  </a:ext>
                </a:extLst>
              </p:cNvPr>
              <p:cNvSpPr/>
              <p:nvPr/>
            </p:nvSpPr>
            <p:spPr>
              <a:xfrm>
                <a:off x="839728" y="2357339"/>
                <a:ext cx="1257494" cy="12574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5F56BCB1-688C-1E6C-D80D-E33A005B3EEF}"/>
                  </a:ext>
                </a:extLst>
              </p:cNvPr>
              <p:cNvSpPr/>
              <p:nvPr/>
            </p:nvSpPr>
            <p:spPr>
              <a:xfrm>
                <a:off x="928415" y="2445949"/>
                <a:ext cx="1080120" cy="1080120"/>
              </a:xfrm>
              <a:prstGeom prst="ellipse">
                <a:avLst/>
              </a:prstGeom>
              <a:solidFill>
                <a:srgbClr val="FDEA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2EB1A34-99A4-2521-EAA8-B81DADDF17E1}"/>
                </a:ext>
              </a:extLst>
            </p:cNvPr>
            <p:cNvSpPr txBox="1"/>
            <p:nvPr/>
          </p:nvSpPr>
          <p:spPr>
            <a:xfrm>
              <a:off x="9368066" y="4702123"/>
              <a:ext cx="56605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Pretendard SemiBold" panose="020B0600000101010101" charset="-127"/>
                  <a:ea typeface="Pretendard SemiBold" panose="020B0600000101010101" charset="-127"/>
                </a:rPr>
                <a:t>이중 방어선</a:t>
              </a:r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Pretendard SemiBold" panose="020B0600000101010101" charset="-127"/>
                  <a:ea typeface="Pretendard SemiBold" panose="020B0600000101010101" charset="-127"/>
                </a:rPr>
                <a:t>(Hybrid Structure)</a:t>
              </a:r>
              <a:endParaRPr lang="ko-KR" altLang="en-US" sz="36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16" name="TextBox 32">
              <a:extLst>
                <a:ext uri="{FF2B5EF4-FFF2-40B4-BE49-F238E27FC236}">
                  <a16:creationId xmlns:a16="http://schemas.microsoft.com/office/drawing/2014/main" id="{BA414247-4343-286D-6357-21FD08421869}"/>
                </a:ext>
              </a:extLst>
            </p:cNvPr>
            <p:cNvSpPr txBox="1"/>
            <p:nvPr/>
          </p:nvSpPr>
          <p:spPr>
            <a:xfrm>
              <a:off x="8794833" y="8445500"/>
              <a:ext cx="6791125" cy="15494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ko-KR" alt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연료전지</a:t>
              </a:r>
              <a:r>
                <a:rPr lang="en-US" altLang="ko-KR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(Base)</a:t>
              </a:r>
              <a:r>
                <a:rPr lang="ko-KR" alt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가 기저 부하를 상시 분담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</a:t>
              </a:r>
              <a:endParaRPr lang="ko-KR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l">
                <a:lnSpc>
                  <a:spcPct val="141100"/>
                </a:lnSpc>
              </a:pPr>
              <a:r>
                <a:rPr 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en-US" altLang="ko-KR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ESS(</a:t>
              </a:r>
              <a:r>
                <a:rPr lang="en-US" altLang="ko-KR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Peak)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가 급등하는 스파이크를 제거</a:t>
              </a:r>
              <a:endParaRPr lang="en-US" altLang="ko-KR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>
                <a:lnSpc>
                  <a:spcPct val="141100"/>
                </a:lnSpc>
              </a:pPr>
              <a:r>
                <a:rPr lang="en-US" altLang="ko-KR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역할 분담형 하이브리드 구조 적용</a:t>
              </a:r>
              <a:endParaRPr lang="en-US" altLang="ko-KR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4D85AE3-8215-FB5C-AE5B-3B3B2AAD53E4}"/>
                </a:ext>
              </a:extLst>
            </p:cNvPr>
            <p:cNvSpPr txBox="1"/>
            <p:nvPr/>
          </p:nvSpPr>
          <p:spPr>
            <a:xfrm>
              <a:off x="9658372" y="10523057"/>
              <a:ext cx="49945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Base Load Coverage</a:t>
              </a:r>
            </a:p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Peak Shaving</a:t>
              </a:r>
            </a:p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Role-based Operation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pic>
          <p:nvPicPr>
            <p:cNvPr id="135" name="그림 13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164CB3C-DD3E-ECA4-8A9B-6051A9445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22239" y="6192786"/>
              <a:ext cx="1219058" cy="1219058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6863517-1DF1-9C87-258D-6192802BF250}"/>
              </a:ext>
            </a:extLst>
          </p:cNvPr>
          <p:cNvGrpSpPr/>
          <p:nvPr/>
        </p:nvGrpSpPr>
        <p:grpSpPr>
          <a:xfrm>
            <a:off x="1279296" y="4445995"/>
            <a:ext cx="7050858" cy="7348072"/>
            <a:chOff x="1279296" y="4445995"/>
            <a:chExt cx="7050858" cy="7348072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FA631B9F-70E1-F08E-2817-0D9A49360FA5}"/>
                </a:ext>
              </a:extLst>
            </p:cNvPr>
            <p:cNvSpPr/>
            <p:nvPr/>
          </p:nvSpPr>
          <p:spPr>
            <a:xfrm>
              <a:off x="1294988" y="4455353"/>
              <a:ext cx="7035166" cy="7338714"/>
            </a:xfrm>
            <a:prstGeom prst="roundRect">
              <a:avLst>
                <a:gd name="adj" fmla="val 2017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E6F4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dirty="0"/>
                <a:t>`</a:t>
              </a:r>
              <a:endParaRPr lang="ko-KR" altLang="en-US" sz="3600" dirty="0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6E0FCC2-F90F-6B95-8F75-6227DFC286CD}"/>
                </a:ext>
              </a:extLst>
            </p:cNvPr>
            <p:cNvSpPr/>
            <p:nvPr/>
          </p:nvSpPr>
          <p:spPr>
            <a:xfrm>
              <a:off x="1279296" y="4445995"/>
              <a:ext cx="7030900" cy="2437692"/>
            </a:xfrm>
            <a:prstGeom prst="roundRect">
              <a:avLst>
                <a:gd name="adj" fmla="val 6156"/>
              </a:avLst>
            </a:prstGeom>
            <a:solidFill>
              <a:srgbClr val="FFF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BD99ADC-4FD3-3CA2-52C9-1A11C0A52D1F}"/>
                </a:ext>
              </a:extLst>
            </p:cNvPr>
            <p:cNvGrpSpPr/>
            <p:nvPr/>
          </p:nvGrpSpPr>
          <p:grpSpPr>
            <a:xfrm>
              <a:off x="3538158" y="5568303"/>
              <a:ext cx="2514988" cy="2514988"/>
              <a:chOff x="839728" y="2357339"/>
              <a:chExt cx="1257494" cy="1257494"/>
            </a:xfrm>
          </p:grpSpPr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30B7EB38-6902-1194-C3C5-AFAA2069A2B9}"/>
                  </a:ext>
                </a:extLst>
              </p:cNvPr>
              <p:cNvSpPr/>
              <p:nvPr/>
            </p:nvSpPr>
            <p:spPr>
              <a:xfrm>
                <a:off x="839728" y="2357339"/>
                <a:ext cx="1257494" cy="12574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8DCE3884-6141-B238-0D8F-06A2096F46A2}"/>
                  </a:ext>
                </a:extLst>
              </p:cNvPr>
              <p:cNvSpPr/>
              <p:nvPr/>
            </p:nvSpPr>
            <p:spPr>
              <a:xfrm>
                <a:off x="928415" y="2445949"/>
                <a:ext cx="1080120" cy="1080120"/>
              </a:xfrm>
              <a:prstGeom prst="ellipse">
                <a:avLst/>
              </a:prstGeom>
              <a:solidFill>
                <a:srgbClr val="FFF5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 dirty="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026FB2D-EF0B-2C92-CA76-CDD86F365E67}"/>
                </a:ext>
              </a:extLst>
            </p:cNvPr>
            <p:cNvSpPr txBox="1"/>
            <p:nvPr/>
          </p:nvSpPr>
          <p:spPr>
            <a:xfrm>
              <a:off x="2420752" y="4702123"/>
              <a:ext cx="449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B2B2B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용량 절벽</a:t>
              </a:r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B2B2B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(Capacity cliff)</a:t>
              </a:r>
              <a:endParaRPr lang="ko-KR" altLang="en-US" sz="3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B2B2B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DD5C01C-B36D-955A-A5E7-8F71C84C3288}"/>
                </a:ext>
              </a:extLst>
            </p:cNvPr>
            <p:cNvSpPr txBox="1"/>
            <p:nvPr/>
          </p:nvSpPr>
          <p:spPr>
            <a:xfrm>
              <a:off x="2297470" y="10523057"/>
              <a:ext cx="49945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ESS Only</a:t>
              </a:r>
            </a:p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Capacity Limitation</a:t>
              </a:r>
            </a:p>
            <a:p>
              <a:pPr algn="ctr"/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# Evening</a:t>
              </a:r>
              <a:r>
                <a:rPr lang="ko-KR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Peak Remains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sp>
          <p:nvSpPr>
            <p:cNvPr id="111" name="TextBox 32">
              <a:extLst>
                <a:ext uri="{FF2B5EF4-FFF2-40B4-BE49-F238E27FC236}">
                  <a16:creationId xmlns:a16="http://schemas.microsoft.com/office/drawing/2014/main" id="{7E36CDB8-3592-701B-C77E-BCF6CDF4A9B3}"/>
                </a:ext>
              </a:extLst>
            </p:cNvPr>
            <p:cNvSpPr txBox="1"/>
            <p:nvPr/>
          </p:nvSpPr>
          <p:spPr>
            <a:xfrm>
              <a:off x="1417008" y="8445500"/>
              <a:ext cx="6791125" cy="15494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1100"/>
                </a:lnSpc>
              </a:pPr>
              <a:r>
                <a:rPr 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기존 </a:t>
              </a:r>
              <a:r>
                <a:rPr lang="en-US" altLang="ko-KR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ESS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단독 운전은 에너지 이동</a:t>
              </a:r>
              <a:r>
                <a:rPr lang="en-US" altLang="ko-KR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(Time-Shift) 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가능 </a:t>
              </a:r>
              <a:endParaRPr lang="ko-KR" sz="2533" b="0" i="0" u="none" strike="noStrike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l">
                <a:lnSpc>
                  <a:spcPct val="141100"/>
                </a:lnSpc>
              </a:pPr>
              <a:r>
                <a:rPr 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ko-KR" alt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용량 제약으로 인해 지속되는 저녁 피크</a:t>
              </a:r>
              <a:r>
                <a:rPr lang="en-US" altLang="ko-KR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(19-21</a:t>
              </a:r>
              <a:r>
                <a:rPr lang="ko-KR" altLang="en-US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시</a:t>
              </a:r>
              <a:r>
                <a:rPr lang="en-US" altLang="ko-KR" sz="2533" b="0" i="0" u="none" strike="noStrike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)</a:t>
              </a:r>
            </a:p>
            <a:p>
              <a:pPr>
                <a:lnSpc>
                  <a:spcPct val="141100"/>
                </a:lnSpc>
              </a:pPr>
              <a:r>
                <a:rPr lang="en-US" altLang="ko-KR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∙ </a:t>
              </a:r>
              <a:r>
                <a:rPr lang="ko-KR" altLang="en-US" sz="2533" spc="-76" dirty="0">
                  <a:solidFill>
                    <a:srgbClr val="22222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구조적으로 제거하지 못하는 한계 확인</a:t>
              </a:r>
              <a:endParaRPr lang="en-US" altLang="ko-KR" sz="2533" spc="-76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pic>
          <p:nvPicPr>
            <p:cNvPr id="137" name="그림 136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26197CE-49C5-AF8E-F558-37DE4DFEF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0156" y="6102259"/>
              <a:ext cx="1219381" cy="1219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7021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50C1-70A4-168C-9F5D-95B9A598C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F0E4816A-05A3-9266-1467-224B3E5BA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266FA04-71BA-1478-B392-E0D05FC2E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48539C85-8F9B-8930-3EFB-8D6BC3606BDF}"/>
              </a:ext>
            </a:extLst>
          </p:cNvPr>
          <p:cNvSpPr txBox="1"/>
          <p:nvPr/>
        </p:nvSpPr>
        <p:spPr>
          <a:xfrm>
            <a:off x="1282700" y="1968500"/>
            <a:ext cx="164211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From Capacity to Timing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9AAA9A2-75FB-8C99-DF9D-600D87FAFDBC}"/>
              </a:ext>
            </a:extLst>
          </p:cNvPr>
          <p:cNvSpPr txBox="1"/>
          <p:nvPr/>
        </p:nvSpPr>
        <p:spPr>
          <a:xfrm>
            <a:off x="1282700" y="3111500"/>
            <a:ext cx="163322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데이터가 흐르는 에너지 자립 도시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서울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FBEAE274-BF92-0102-E6FC-396C05959F0F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spc="40" dirty="0">
                <a:solidFill>
                  <a:srgbClr val="FFFFFF"/>
                </a:solidFill>
                <a:latin typeface="Gmarket Sans Bold"/>
              </a:rPr>
              <a:t>033</a:t>
            </a:r>
            <a:endParaRPr lang="en" sz="2000" b="0" i="0" u="none" strike="noStrike" spc="40" dirty="0">
              <a:solidFill>
                <a:srgbClr val="FFFFFF"/>
              </a:solidFill>
              <a:latin typeface="Gmarket Sans Bold"/>
            </a:endParaRP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F538AEC9-78A1-7866-2337-F66C21A1809A}"/>
              </a:ext>
            </a:extLst>
          </p:cNvPr>
          <p:cNvSpPr txBox="1"/>
          <p:nvPr/>
        </p:nvSpPr>
        <p:spPr>
          <a:xfrm>
            <a:off x="1270000" y="901700"/>
            <a:ext cx="7251700" cy="355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000" dirty="0">
                <a:solidFill>
                  <a:srgbClr val="FFFFFF"/>
                </a:solidFill>
                <a:latin typeface="Gmarket Sans Bold"/>
              </a:rPr>
              <a:t>[Conclusion] Paradigm Shift</a:t>
            </a:r>
            <a:endParaRPr lang="en" sz="2000" b="0" i="0" u="none" strike="noStrike" dirty="0">
              <a:solidFill>
                <a:srgbClr val="FFFFFF"/>
              </a:solidFill>
              <a:latin typeface="Gmarket Sans Bold"/>
            </a:endParaRPr>
          </a:p>
        </p:txBody>
      </p:sp>
      <p:pic>
        <p:nvPicPr>
          <p:cNvPr id="63" name="Picture 9">
            <a:extLst>
              <a:ext uri="{FF2B5EF4-FFF2-40B4-BE49-F238E27FC236}">
                <a16:creationId xmlns:a16="http://schemas.microsoft.com/office/drawing/2014/main" id="{FFD7B5FC-98B7-1E4F-C42A-BB773E603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99" y="11975129"/>
            <a:ext cx="22580601" cy="977900"/>
          </a:xfrm>
          <a:prstGeom prst="rect">
            <a:avLst/>
          </a:prstGeom>
        </p:spPr>
      </p:pic>
      <p:sp>
        <p:nvSpPr>
          <p:cNvPr id="43" name="TextBox 22">
            <a:extLst>
              <a:ext uri="{FF2B5EF4-FFF2-40B4-BE49-F238E27FC236}">
                <a16:creationId xmlns:a16="http://schemas.microsoft.com/office/drawing/2014/main" id="{AB9C613D-1A2C-C944-8F92-10C7008DB0DA}"/>
              </a:ext>
            </a:extLst>
          </p:cNvPr>
          <p:cNvSpPr txBox="1"/>
          <p:nvPr/>
        </p:nvSpPr>
        <p:spPr>
          <a:xfrm>
            <a:off x="3441700" y="12113090"/>
            <a:ext cx="17513300" cy="67945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전력의 미래는 ‘더 짓는 </a:t>
            </a:r>
            <a:r>
              <a:rPr lang="ko-KR" altLang="en-US" sz="3200" dirty="0" err="1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것’이</a:t>
            </a:r>
            <a:r>
              <a:rPr lang="ko-KR" altLang="en-US" sz="3200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아니라 </a:t>
            </a:r>
            <a:r>
              <a:rPr lang="ko-KR" altLang="en-US" sz="3200" b="1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‘시간을 설계하는 </a:t>
            </a:r>
            <a:r>
              <a:rPr lang="ko-KR" altLang="en-US" sz="3200" b="1" dirty="0" err="1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것’에</a:t>
            </a:r>
            <a:r>
              <a:rPr lang="ko-KR" altLang="en-US" sz="3200" b="1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있다</a:t>
            </a:r>
            <a:r>
              <a:rPr lang="en-US" altLang="ko-KR" sz="3200" b="1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altLang="ko-KR" sz="3200" spc="-117" dirty="0">
              <a:solidFill>
                <a:schemeClr val="bg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7B11E-F712-19FE-6124-F3F1126A594A}"/>
              </a:ext>
            </a:extLst>
          </p:cNvPr>
          <p:cNvSpPr txBox="1"/>
          <p:nvPr/>
        </p:nvSpPr>
        <p:spPr>
          <a:xfrm>
            <a:off x="15113000" y="5679146"/>
            <a:ext cx="78232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Main Message</a:t>
            </a:r>
          </a:p>
          <a:p>
            <a:pPr>
              <a:buNone/>
            </a:pPr>
            <a: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dirty="0">
                <a:latin typeface="Pretendard Regular" panose="020B0600000101010101" charset="-127"/>
                <a:ea typeface="Pretendard Regular" panose="020B0600000101010101" charset="-127"/>
              </a:rPr>
              <a:t>지금까지의 전력 정책은 전력이 부족하면 발전소를 짓는 </a:t>
            </a:r>
            <a:r>
              <a:rPr lang="ko-KR" altLang="en-US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‘용량</a:t>
            </a:r>
            <a:r>
              <a:rPr lang="en-US" altLang="ko-KR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(Capacity)’ </a:t>
            </a:r>
            <a:r>
              <a:rPr lang="ko-KR" altLang="en-US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중심의 해법</a:t>
            </a:r>
            <a:endParaRPr lang="en-US" altLang="ko-KR" sz="2800" b="1" dirty="0">
              <a:solidFill>
                <a:srgbClr val="8C2828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buNone/>
            </a:pPr>
            <a:r>
              <a:rPr lang="en-US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dirty="0">
                <a:latin typeface="Pretendard Regular" panose="020B0600000101010101" charset="-127"/>
                <a:ea typeface="Pretendard Regular" panose="020B0600000101010101" charset="-127"/>
              </a:rPr>
              <a:t>재생에너지 확대 이후</a:t>
            </a:r>
            <a: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800" dirty="0">
                <a:latin typeface="Pretendard Regular" panose="020B0600000101010101" charset="-127"/>
                <a:ea typeface="Pretendard Regular" panose="020B0600000101010101" charset="-127"/>
              </a:rPr>
              <a:t>문제의 본질은 총량이 아니라 </a:t>
            </a:r>
            <a:r>
              <a:rPr lang="en-US" altLang="ko-KR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 불일치</a:t>
            </a:r>
            <a:r>
              <a:rPr lang="en-US" altLang="ko-KR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(Time-of-Day Mismatch)”</a:t>
            </a:r>
          </a:p>
          <a:p>
            <a:pPr>
              <a:buNone/>
            </a:pPr>
            <a: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dirty="0">
                <a:latin typeface="Pretendard Regular" panose="020B0600000101010101" charset="-127"/>
                <a:ea typeface="Pretendard Regular" panose="020B0600000101010101" charset="-127"/>
              </a:rPr>
              <a:t>얼마나 많이 생산하느냐가 아니라</a:t>
            </a:r>
            <a: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800" dirty="0">
                <a:latin typeface="Pretendard Regular" panose="020B0600000101010101" charset="-127"/>
                <a:ea typeface="Pretendard Regular" panose="020B0600000101010101" charset="-127"/>
              </a:rPr>
              <a:t>필요한 시간에 전기를 배분하는 </a:t>
            </a:r>
            <a:r>
              <a:rPr lang="ko-KR" altLang="en-US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‘타이밍</a:t>
            </a:r>
            <a:r>
              <a:rPr lang="en-US" altLang="ko-KR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(Timing)’</a:t>
            </a:r>
            <a:r>
              <a:rPr lang="ko-KR" altLang="en-US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의 전략</a:t>
            </a:r>
            <a:endParaRPr lang="en-US" altLang="ko-KR" sz="2800" b="1" dirty="0">
              <a:solidFill>
                <a:srgbClr val="8C2828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buNone/>
            </a:pPr>
            <a:br>
              <a:rPr lang="en-US" altLang="ko-KR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</a:br>
            <a:endParaRPr lang="en-US" altLang="ko-KR" sz="2800" b="1" dirty="0">
              <a:solidFill>
                <a:srgbClr val="8C2828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buNone/>
            </a:pP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Closing Statement</a:t>
            </a:r>
          </a:p>
          <a:p>
            <a:pPr>
              <a:buNone/>
            </a:pPr>
            <a:r>
              <a:rPr lang="ko-KR" altLang="en-US" sz="2800" dirty="0">
                <a:latin typeface="Pretendard Regular" panose="020B0600000101010101" charset="-127"/>
                <a:ea typeface="Pretendard Regular" panose="020B0600000101010101" charset="-127"/>
              </a:rPr>
              <a:t>본 프로젝트는 전력 수요의 시간 구조를                                                                                                                                                                                 데이터로 해석 하고</a:t>
            </a:r>
            <a: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,                                                                                                                                                        </a:t>
            </a:r>
            <a:b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분산된 에너지 자원을 운영 관점에서 </a:t>
            </a:r>
            <a:r>
              <a:rPr lang="ko-KR" altLang="en-US" sz="2800" b="1" dirty="0" err="1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재조합하는</a:t>
            </a:r>
            <a:r>
              <a:rPr lang="ko-KR" altLang="en-US" sz="2800" b="1" dirty="0">
                <a:solidFill>
                  <a:srgbClr val="8C2828"/>
                </a:solidFill>
                <a:latin typeface="Pretendard Regular" panose="020B0600000101010101" charset="-127"/>
                <a:ea typeface="Pretendard Regular" panose="020B0600000101010101" charset="-127"/>
              </a:rPr>
              <a:t> 도시 단위 해법을 제시</a:t>
            </a:r>
            <a:endParaRPr lang="en-US" altLang="ko-KR" sz="28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6" name="그림 5" descr="마천루, 수도권, 대도시, 도시 풍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A37757-41D4-F8C2-D56D-152A2C955D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13" y="4362724"/>
            <a:ext cx="13411200" cy="751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30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8AE6-4658-73A3-6BAE-9744B2670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17B98-B7F7-B2A7-751B-2FD42E798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" y="0"/>
            <a:ext cx="24384000" cy="141097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AABE9B06-0245-C537-8EA2-FE14808BDB29}"/>
              </a:ext>
            </a:extLst>
          </p:cNvPr>
          <p:cNvSpPr txBox="1"/>
          <p:nvPr/>
        </p:nvSpPr>
        <p:spPr>
          <a:xfrm>
            <a:off x="9232900" y="4584700"/>
            <a:ext cx="5905500" cy="3797300"/>
          </a:xfrm>
          <a:prstGeom prst="rect">
            <a:avLst/>
          </a:prstGeom>
        </p:spPr>
        <p:txBody>
          <a:bodyPr lIns="0" tIns="108373" rIns="0" bIns="0" rtlCol="0" anchor="t"/>
          <a:lstStyle/>
          <a:p>
            <a:pPr lvl="0" algn="ctr">
              <a:lnSpc>
                <a:spcPct val="109559"/>
              </a:lnSpc>
            </a:pPr>
            <a:r>
              <a:rPr lang="en" sz="21333" i="0" u="none" strike="noStrike" dirty="0">
                <a:solidFill>
                  <a:srgbClr val="FFDE65">
                    <a:alpha val="14902"/>
                  </a:srgbClr>
                </a:solidFill>
                <a:latin typeface="Gmarket Sans Bold"/>
              </a:rPr>
              <a:t>06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3E0FEB7-2ACE-AE5D-941D-7770BC474575}"/>
              </a:ext>
            </a:extLst>
          </p:cNvPr>
          <p:cNvSpPr txBox="1"/>
          <p:nvPr/>
        </p:nvSpPr>
        <p:spPr>
          <a:xfrm>
            <a:off x="4330700" y="5765800"/>
            <a:ext cx="157226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8000" dirty="0">
                <a:latin typeface="Gmarket Sans Bold" panose="020B0600000101010101" charset="-127"/>
                <a:ea typeface="Gmarket Sans Bold" panose="020B0600000101010101" charset="-127"/>
              </a:rPr>
              <a:t>부록</a:t>
            </a:r>
            <a:r>
              <a:rPr lang="en-US" altLang="ko-KR" sz="8000" dirty="0">
                <a:latin typeface="Gmarket Sans Bold" panose="020B0600000101010101" charset="-127"/>
                <a:ea typeface="Gmarket Sans Bold" panose="020B0600000101010101" charset="-127"/>
              </a:rPr>
              <a:t>(Appendix)</a:t>
            </a:r>
            <a:endParaRPr lang="ko-KR" sz="8000" b="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1522EEF2-784E-F87F-51E3-7DBA3DB8077B}"/>
              </a:ext>
            </a:extLst>
          </p:cNvPr>
          <p:cNvSpPr txBox="1"/>
          <p:nvPr/>
        </p:nvSpPr>
        <p:spPr>
          <a:xfrm>
            <a:off x="8636000" y="4584700"/>
            <a:ext cx="7112000" cy="635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600" dirty="0">
                <a:latin typeface="Gmarket Sans Bold" panose="020B0600000101010101" charset="-127"/>
                <a:ea typeface="Gmarket Sans Bold" panose="020B0600000101010101" charset="-127"/>
              </a:rPr>
              <a:t>PART</a:t>
            </a:r>
            <a:endParaRPr lang="en" sz="3600" b="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BBE896B9-657C-3552-6C13-782E14986F7E}"/>
              </a:ext>
            </a:extLst>
          </p:cNvPr>
          <p:cNvSpPr txBox="1"/>
          <p:nvPr/>
        </p:nvSpPr>
        <p:spPr>
          <a:xfrm>
            <a:off x="1231900" y="8013700"/>
            <a:ext cx="21920200" cy="1155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41100"/>
              </a:lnSpc>
            </a:pPr>
            <a:r>
              <a:rPr lang="ko-KR" altLang="en-US" sz="3200" b="0" i="0" u="none" strike="noStrike" dirty="0">
                <a:latin typeface="Pretendard SemiBold" panose="020B0600000101010101" charset="-127"/>
                <a:ea typeface="Pretendard SemiBold" panose="020B0600000101010101" charset="-127"/>
              </a:rPr>
              <a:t>분석 근거 및 검증 자료</a:t>
            </a:r>
            <a:endParaRPr lang="en-US" altLang="ko-KR" sz="3200" b="0" i="0" u="none" strike="noStrike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endParaRPr lang="en-US" altLang="ko-KR" sz="3200" b="0" i="0" u="none" strike="noStrike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3200" dirty="0">
                <a:latin typeface="Pretendard Regular" panose="020B0600000101010101" charset="-127"/>
                <a:ea typeface="Pretendard Regular" panose="020B0600000101010101" charset="-127"/>
              </a:rPr>
              <a:t>본문 분석을 뒷받침하는 데이터</a:t>
            </a:r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3200" dirty="0">
                <a:latin typeface="Pretendard Regular" panose="020B0600000101010101" charset="-127"/>
                <a:ea typeface="Pretendard Regular" panose="020B0600000101010101" charset="-127"/>
              </a:rPr>
              <a:t>가정</a:t>
            </a:r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3200" dirty="0">
                <a:latin typeface="Pretendard Regular" panose="020B0600000101010101" charset="-127"/>
                <a:ea typeface="Pretendard Regular" panose="020B0600000101010101" charset="-127"/>
              </a:rPr>
              <a:t>분석 로직과 사례 검증 과정을 정리한 부록이다</a:t>
            </a:r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3200" dirty="0">
                <a:latin typeface="Pretendard Regular" panose="020B0600000101010101" charset="-127"/>
                <a:ea typeface="Pretendard Regular" panose="020B0600000101010101" charset="-127"/>
              </a:rPr>
              <a:t>본 부록은 서사적 설명보다 재현 가능성과 해석 타당성에 초점을 둔다</a:t>
            </a:r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r>
              <a:rPr lang="ko-KR" altLang="en-US" sz="3200" dirty="0">
                <a:latin typeface="Pretendard Regular" panose="020B0600000101010101" charset="-127"/>
                <a:ea typeface="Pretendard Regular" panose="020B0600000101010101" charset="-127"/>
              </a:rPr>
              <a:t>  </a:t>
            </a:r>
            <a:endParaRPr lang="en-US" sz="2933" b="0" i="0" u="none" strike="noStrike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895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5B14-7E51-6752-08DD-182EDFA8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">
            <a:extLst>
              <a:ext uri="{FF2B5EF4-FFF2-40B4-BE49-F238E27FC236}">
                <a16:creationId xmlns:a16="http://schemas.microsoft.com/office/drawing/2014/main" id="{9D667B0D-0A35-170A-2C22-A4DE9DFBAD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8273E61C-2624-640C-A87D-18CA1C0A3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4486275"/>
            <a:ext cx="6324600" cy="990600"/>
          </a:xfrm>
          <a:prstGeom prst="rect">
            <a:avLst/>
          </a:prstGeom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337A0DE4-9EAC-CF0B-D83C-CC7D768D9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495800"/>
            <a:ext cx="6324600" cy="990600"/>
          </a:xfrm>
          <a:prstGeom prst="rect">
            <a:avLst/>
          </a:prstGeom>
        </p:spPr>
      </p:pic>
      <p:pic>
        <p:nvPicPr>
          <p:cNvPr id="33" name="Picture 5">
            <a:extLst>
              <a:ext uri="{FF2B5EF4-FFF2-40B4-BE49-F238E27FC236}">
                <a16:creationId xmlns:a16="http://schemas.microsoft.com/office/drawing/2014/main" id="{E2EF9343-5A91-9D75-BF91-9ACC5631D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7500" y="4495800"/>
            <a:ext cx="6324600" cy="990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5EE73FE-1F39-04B3-E30E-C53CC9EDB81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A2A43D12-1A7B-6A86-BE4F-53703B362874}"/>
              </a:ext>
            </a:extLst>
          </p:cNvPr>
          <p:cNvSpPr txBox="1"/>
          <p:nvPr/>
        </p:nvSpPr>
        <p:spPr>
          <a:xfrm>
            <a:off x="1282700" y="1968500"/>
            <a:ext cx="142621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데이터 기반 시간대 분석을 위한 기초 환경 구성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86A240D-38B5-2E36-3CC5-5CA3CDB6A09F}"/>
              </a:ext>
            </a:extLst>
          </p:cNvPr>
          <p:cNvSpPr txBox="1"/>
          <p:nvPr/>
        </p:nvSpPr>
        <p:spPr>
          <a:xfrm>
            <a:off x="1282700" y="3111500"/>
            <a:ext cx="216535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ea typeface="Pretendard Regular"/>
              </a:rPr>
              <a:t>본 분석은 서울시 행정동 단위 전력 사용 데이터를 기반으로 시간대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ea typeface="Pretendard Regular"/>
              </a:rPr>
              <a:t>(Time-of-</a:t>
            </a:r>
            <a:r>
              <a:rPr lang="en-US" altLang="ko-KR" sz="2933" spc="-88" dirty="0">
                <a:solidFill>
                  <a:srgbClr val="222222"/>
                </a:solidFill>
                <a:ea typeface="Pretendard Regular"/>
              </a:rPr>
              <a:t>Day)</a:t>
            </a:r>
            <a:r>
              <a:rPr lang="ko-KR" altLang="en-US" sz="2933" spc="-88" dirty="0">
                <a:solidFill>
                  <a:srgbClr val="222222"/>
                </a:solidFill>
                <a:ea typeface="Pretendard Regular"/>
              </a:rPr>
              <a:t>별 부하 구조를 해석할 수 있는 분석 환경을 구축</a:t>
            </a:r>
            <a:endParaRPr lang="ko-KR" sz="2933" b="0" i="0" u="none" strike="noStrike" spc="-88" dirty="0">
              <a:solidFill>
                <a:srgbClr val="222222"/>
              </a:solidFill>
              <a:ea typeface="Pretendard Regular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3BC3FC2-4BFB-42FA-08C9-37573D55E92F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</a:t>
            </a:r>
            <a:r>
              <a:rPr lang="en-US" sz="2000" dirty="0">
                <a:latin typeface="Gmarket Sans Bold"/>
              </a:rPr>
              <a:t>Data Foundation &amp; Analysis Environment</a:t>
            </a:r>
            <a:endParaRPr lang="en" sz="2000" b="0" i="0" u="none" strike="noStrike" dirty="0">
              <a:latin typeface="Gmarket Sans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01754A-97CA-0D45-1513-13273DD693F5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spc="40" dirty="0">
                <a:latin typeface="Gmarket Sans Bold"/>
              </a:rPr>
              <a:t>A-001</a:t>
            </a:r>
            <a:endParaRPr lang="en" sz="2000" b="0" i="0" u="none" strike="noStrike" spc="40" dirty="0">
              <a:latin typeface="Gmarket Sans Bold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83E50153-D2B9-BA2F-0496-98042B15B0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850" y="8240584"/>
            <a:ext cx="2400300" cy="25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CEC396E-A77C-B68D-7829-4F6F4338EB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0850" y="8237067"/>
            <a:ext cx="6184900" cy="254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65AE0E44-1477-8339-4978-2DE765BB7A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0" y="8237067"/>
            <a:ext cx="6184900" cy="254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3F953FE-4950-A529-FA06-C7F7841739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97350" y="8237067"/>
            <a:ext cx="6184900" cy="25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734252D-0585-5A7F-D260-5BB92BE1FB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9850" y="10994768"/>
            <a:ext cx="21767800" cy="254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BF8C58F5-6657-B606-77FB-6FAA2D1C3A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850" y="5486400"/>
            <a:ext cx="2400300" cy="254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F45D9321-C4FB-57DA-FAFF-98E1193339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9850" y="12407900"/>
            <a:ext cx="21767800" cy="254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41470139-A7BF-9F84-E828-D265066F71DF}"/>
              </a:ext>
            </a:extLst>
          </p:cNvPr>
          <p:cNvSpPr txBox="1"/>
          <p:nvPr/>
        </p:nvSpPr>
        <p:spPr>
          <a:xfrm>
            <a:off x="1390650" y="6233084"/>
            <a:ext cx="2298700" cy="1282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" sz="3066" spc="-123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Key Resources</a:t>
            </a:r>
            <a:endParaRPr lang="en" sz="3066" b="0" i="0" u="none" strike="noStrike" spc="-123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828846-CC55-0B8E-DB94-293E195927D1}"/>
              </a:ext>
            </a:extLst>
          </p:cNvPr>
          <p:cNvSpPr txBox="1"/>
          <p:nvPr/>
        </p:nvSpPr>
        <p:spPr>
          <a:xfrm>
            <a:off x="4346575" y="5765674"/>
            <a:ext cx="6013450" cy="218465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서울 열린 데이터 광장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법정동별 시간별 전력사용량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실측 기반 공공데이터</a:t>
            </a:r>
            <a:endParaRPr lang="en-US" altLang="ko-KR" sz="2666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2400" b="1" i="1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※ </a:t>
            </a:r>
            <a:r>
              <a:rPr lang="ko-KR" altLang="en-US" sz="2400" b="1" i="1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 부하 패턴 분석을 위한 기초 데이터</a:t>
            </a:r>
            <a:endParaRPr lang="en-US" altLang="ko-KR" sz="2400" b="1" i="1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2F73E05-2DBA-1627-C730-DF96204F3F7D}"/>
              </a:ext>
            </a:extLst>
          </p:cNvPr>
          <p:cNvSpPr txBox="1"/>
          <p:nvPr/>
        </p:nvSpPr>
        <p:spPr>
          <a:xfrm>
            <a:off x="10579100" y="5778591"/>
            <a:ext cx="6197600" cy="218465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1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일 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24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 </a:t>
            </a:r>
            <a:r>
              <a:rPr lang="en-US" altLang="ko-KR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(00:00 ~ 23:00) Daily cycle 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기준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1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 단위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(Hourly) 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해상도</a:t>
            </a:r>
            <a:endParaRPr lang="en-US" altLang="ko-KR" sz="2666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연간 데이터 활용을 통해 계절적 변동성 반영</a:t>
            </a:r>
            <a:endParaRPr lang="en-US" altLang="ko-KR" sz="2666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2400" b="1" i="1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※ </a:t>
            </a:r>
            <a:r>
              <a:rPr lang="ko-KR" altLang="en-US" sz="2400" b="1" i="1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월별 총량이 아닌 시간대 패턴 분석을 목적</a:t>
            </a:r>
            <a:endParaRPr lang="en-US" altLang="ko-KR" sz="2400" b="1" i="1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13F3087-8920-0323-5766-61D1F346A1AC}"/>
              </a:ext>
            </a:extLst>
          </p:cNvPr>
          <p:cNvSpPr txBox="1"/>
          <p:nvPr/>
        </p:nvSpPr>
        <p:spPr>
          <a:xfrm>
            <a:off x="16840200" y="5407284"/>
            <a:ext cx="6324600" cy="27686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sz="2666" b="0" i="0" u="none" strike="noStrike" spc="-107" dirty="0">
                <a:solidFill>
                  <a:srgbClr val="222222"/>
                </a:solidFill>
                <a:latin typeface="Pretendard Regular"/>
              </a:rPr>
              <a:t>Python  </a:t>
            </a: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/>
              </a:rPr>
              <a:t>기반 분석환경</a:t>
            </a:r>
            <a:endParaRPr lang="en-US" sz="2666" b="0" i="0" u="none" strike="noStrike" spc="-107" dirty="0">
              <a:solidFill>
                <a:srgbClr val="222222"/>
              </a:solidFill>
              <a:latin typeface="Pretendard Regular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2666" spc="-107" dirty="0" err="1">
                <a:solidFill>
                  <a:srgbClr val="222222"/>
                </a:solidFill>
                <a:latin typeface="Pretendard Regular"/>
                <a:ea typeface="Pretendard Regular"/>
              </a:rPr>
              <a:t>Jupyter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 Notebook (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데이터 탐색 및 재현성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)</a:t>
            </a:r>
          </a:p>
          <a:p>
            <a:pPr lvl="0" algn="ctr">
              <a:lnSpc>
                <a:spcPct val="141100"/>
              </a:lnSpc>
            </a:pPr>
            <a:r>
              <a:rPr lang="en-US" altLang="ko-KR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Pandas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 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/ NumPy (</a:t>
            </a:r>
            <a:r>
              <a:rPr lang="ko-KR" altLang="en-US" sz="2666" spc="-107" dirty="0" err="1">
                <a:solidFill>
                  <a:srgbClr val="222222"/>
                </a:solidFill>
                <a:latin typeface="Pretendard Regular"/>
                <a:ea typeface="Pretendard Regular"/>
              </a:rPr>
              <a:t>전처리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 및 배열 연산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)</a:t>
            </a:r>
          </a:p>
          <a:p>
            <a:pPr lvl="0" algn="ctr">
              <a:lnSpc>
                <a:spcPct val="141100"/>
              </a:lnSpc>
            </a:pPr>
            <a:r>
              <a:rPr lang="en-US" altLang="ko-KR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Matplotlib (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시간대 패턴 시각화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)</a:t>
            </a:r>
          </a:p>
          <a:p>
            <a:pPr lvl="0" algn="ctr">
              <a:lnSpc>
                <a:spcPct val="141100"/>
              </a:lnSpc>
            </a:pPr>
            <a:r>
              <a:rPr lang="en-US" altLang="ko-KR" sz="2400" b="1" i="1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※ </a:t>
            </a:r>
            <a:r>
              <a:rPr lang="ko-KR" altLang="en-US" sz="2400" b="1" i="1" spc="-107" dirty="0">
                <a:solidFill>
                  <a:srgbClr val="222222"/>
                </a:solidFill>
                <a:latin typeface="Pretendard Regular"/>
                <a:ea typeface="Pretendard Regular"/>
              </a:rPr>
              <a:t>재현 가능성과 해석 중심의 분석 환경 구성</a:t>
            </a:r>
            <a:endParaRPr lang="en-US" altLang="ko-KR" sz="2400" b="1" i="1" spc="-107" dirty="0">
              <a:solidFill>
                <a:srgbClr val="222222"/>
              </a:solidFill>
              <a:latin typeface="Pretendard Regular"/>
              <a:ea typeface="Pretendard Regular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788E976-49DE-1846-1788-9621D6BE8269}"/>
              </a:ext>
            </a:extLst>
          </p:cNvPr>
          <p:cNvSpPr txBox="1"/>
          <p:nvPr/>
        </p:nvSpPr>
        <p:spPr>
          <a:xfrm>
            <a:off x="8312150" y="8549676"/>
            <a:ext cx="10706100" cy="2038348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66" b="0" i="0" u="none" strike="noStrike" spc="-107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결측치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제거 및 이상치 보정을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통한 데이터 정제</a:t>
            </a:r>
            <a:endParaRPr lang="en-US" altLang="ko-KR" sz="2666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666" b="0" i="0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시계열 인덱싱을 통한 시간 축 정합성 검증</a:t>
            </a:r>
            <a:endParaRPr lang="en-US" altLang="ko-KR" sz="2666" b="0" i="0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평일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업무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산업 부하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과 주말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생활 부하</a:t>
            </a:r>
            <a:r>
              <a:rPr lang="en-US" altLang="ko-KR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666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패턴 비교를 위한 데이터 분리</a:t>
            </a:r>
            <a:endParaRPr lang="en-US" altLang="ko-KR" sz="2666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2400" b="1" i="1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※ </a:t>
            </a:r>
            <a:r>
              <a:rPr lang="ko-KR" altLang="en-US" sz="2400" b="1" i="1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 축 왜곡 최소화를 위한 </a:t>
            </a:r>
            <a:r>
              <a:rPr lang="ko-KR" altLang="en-US" sz="2400" b="1" i="1" u="none" strike="noStrike" spc="-107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전처리</a:t>
            </a:r>
            <a:r>
              <a:rPr lang="ko-KR" altLang="en-US" sz="2400" b="1" i="1" u="none" strike="noStrike" spc="-107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수행</a:t>
            </a:r>
            <a:endParaRPr lang="ko-KR" sz="2400" b="1" i="1" u="none" strike="noStrike" spc="-107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60FC499-6ED8-EB57-F861-4C8212123D25}"/>
              </a:ext>
            </a:extLst>
          </p:cNvPr>
          <p:cNvSpPr txBox="1"/>
          <p:nvPr/>
        </p:nvSpPr>
        <p:spPr>
          <a:xfrm>
            <a:off x="4959351" y="11067879"/>
            <a:ext cx="17513300" cy="11176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933" spc="-117" dirty="0">
                <a:solidFill>
                  <a:srgbClr val="222222"/>
                </a:solidFill>
                <a:latin typeface="Pretendard SemiBold"/>
                <a:ea typeface="Pretendard SemiBold"/>
              </a:rPr>
              <a:t>정제된 데이터와 명확한 시간 축 정의를 통해</a:t>
            </a:r>
            <a:endParaRPr lang="en-US" altLang="ko-KR" sz="2933" spc="-117" dirty="0">
              <a:solidFill>
                <a:srgbClr val="222222"/>
              </a:solidFill>
              <a:latin typeface="Pretendard SemiBold"/>
              <a:ea typeface="Pretendard SemiBold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2933" spc="-117" dirty="0">
                <a:solidFill>
                  <a:srgbClr val="222222"/>
                </a:solidFill>
                <a:latin typeface="Pretendard SemiBold"/>
                <a:ea typeface="Pretendard SemiBold"/>
              </a:rPr>
              <a:t>이후 순 부하</a:t>
            </a:r>
            <a:r>
              <a:rPr lang="en-US" altLang="ko-KR" sz="2933" spc="-117" dirty="0">
                <a:solidFill>
                  <a:srgbClr val="222222"/>
                </a:solidFill>
                <a:latin typeface="Pretendard SemiBold"/>
                <a:ea typeface="Pretendard SemiBold"/>
              </a:rPr>
              <a:t>(Net Load) </a:t>
            </a:r>
            <a:r>
              <a:rPr lang="ko-KR" altLang="en-US" sz="2933" spc="-117" dirty="0">
                <a:solidFill>
                  <a:srgbClr val="222222"/>
                </a:solidFill>
                <a:latin typeface="Pretendard SemiBold"/>
                <a:ea typeface="Pretendard SemiBold"/>
              </a:rPr>
              <a:t>계산 및 시나리오별 부하 변동성 분석을 수행할 수 있는 기초 분석 환경을 확보하였다</a:t>
            </a:r>
            <a:r>
              <a:rPr lang="en-US" altLang="ko-KR" sz="2933" spc="-117" dirty="0">
                <a:solidFill>
                  <a:srgbClr val="222222"/>
                </a:solidFill>
                <a:latin typeface="Pretendard SemiBold"/>
                <a:ea typeface="Pretendard SemiBold"/>
              </a:rPr>
              <a:t>.</a:t>
            </a:r>
            <a:r>
              <a:rPr lang="ko-KR" altLang="en-US" sz="2933" spc="-117" dirty="0">
                <a:solidFill>
                  <a:srgbClr val="222222"/>
                </a:solidFill>
                <a:latin typeface="Pretendard SemiBold"/>
                <a:ea typeface="Pretendard SemiBold"/>
              </a:rPr>
              <a:t> </a:t>
            </a:r>
            <a:endParaRPr lang="en-US" altLang="ko-KR" sz="2933" spc="-117" dirty="0">
              <a:solidFill>
                <a:srgbClr val="222222"/>
              </a:solidFill>
              <a:latin typeface="Pretendard SemiBold"/>
              <a:ea typeface="Pretendard SemiBold"/>
            </a:endParaRPr>
          </a:p>
          <a:p>
            <a:pPr lvl="0" algn="ctr">
              <a:lnSpc>
                <a:spcPct val="132800"/>
              </a:lnSpc>
            </a:pPr>
            <a:endParaRPr lang="ko-KR" sz="2933" b="0" i="0" u="none" strike="noStrike" spc="-117" dirty="0">
              <a:solidFill>
                <a:srgbClr val="222222"/>
              </a:solidFill>
              <a:ea typeface="Pretendard SemiBold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B13BC29-A526-B1A2-D5B7-0B727842E4C3}"/>
              </a:ext>
            </a:extLst>
          </p:cNvPr>
          <p:cNvSpPr txBox="1"/>
          <p:nvPr/>
        </p:nvSpPr>
        <p:spPr>
          <a:xfrm>
            <a:off x="5099050" y="46990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sz="3200" spc="-96" dirty="0">
                <a:solidFill>
                  <a:schemeClr val="bg1">
                    <a:lumMod val="95000"/>
                  </a:schemeClr>
                </a:solidFill>
                <a:latin typeface="Pretendard SemiBold"/>
                <a:ea typeface="Pretendard SemiBold"/>
              </a:rPr>
              <a:t>Data Asset</a:t>
            </a:r>
            <a:endParaRPr lang="en-US" sz="3200" b="0" i="0" u="none" strike="noStrike" spc="-96" dirty="0">
              <a:solidFill>
                <a:schemeClr val="bg1">
                  <a:lumMod val="95000"/>
                </a:schemeClr>
              </a:solidFill>
              <a:latin typeface="Pretendard Semi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70BFC69-9F54-A6EE-0923-6D0B99FB6F52}"/>
              </a:ext>
            </a:extLst>
          </p:cNvPr>
          <p:cNvSpPr txBox="1"/>
          <p:nvPr/>
        </p:nvSpPr>
        <p:spPr>
          <a:xfrm>
            <a:off x="11410950" y="46990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sz="3200" b="0" i="0" u="none" strike="noStrike" spc="-96" dirty="0">
                <a:solidFill>
                  <a:schemeClr val="bg1">
                    <a:lumMod val="95000"/>
                  </a:schemeClr>
                </a:solidFill>
                <a:latin typeface="Pretendard SemiBold"/>
              </a:rPr>
              <a:t>Time Scope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04B92DB-6089-36F4-FA20-DE986C82F5C3}"/>
              </a:ext>
            </a:extLst>
          </p:cNvPr>
          <p:cNvSpPr txBox="1"/>
          <p:nvPr/>
        </p:nvSpPr>
        <p:spPr>
          <a:xfrm>
            <a:off x="17748250" y="4699000"/>
            <a:ext cx="4508500" cy="571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sz="3200" b="0" i="0" u="none" strike="noStrike" spc="-96" dirty="0">
                <a:solidFill>
                  <a:schemeClr val="bg1"/>
                </a:solidFill>
                <a:latin typeface="Pretendard SemiBold"/>
              </a:rPr>
              <a:t>Analysis Environment</a:t>
            </a: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EC78845A-CE75-DDDA-DFCB-6C4422443EA3}"/>
              </a:ext>
            </a:extLst>
          </p:cNvPr>
          <p:cNvSpPr txBox="1"/>
          <p:nvPr/>
        </p:nvSpPr>
        <p:spPr>
          <a:xfrm>
            <a:off x="1139825" y="8871232"/>
            <a:ext cx="2800350" cy="1282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 spc="-123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Data</a:t>
            </a:r>
          </a:p>
          <a:p>
            <a:pPr lvl="0" algn="ctr">
              <a:lnSpc>
                <a:spcPct val="132800"/>
              </a:lnSpc>
            </a:pPr>
            <a:r>
              <a:rPr lang="en-US" sz="3066" b="0" i="0" u="none" strike="noStrike" spc="-123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Pre-processing</a:t>
            </a:r>
            <a:endParaRPr lang="en" sz="3066" b="0" i="0" u="none" strike="noStrike" spc="-123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0897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542E-2E9D-CEC0-D654-7BAAFBED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>
            <a:extLst>
              <a:ext uri="{FF2B5EF4-FFF2-40B4-BE49-F238E27FC236}">
                <a16:creationId xmlns:a16="http://schemas.microsoft.com/office/drawing/2014/main" id="{C0148517-64E7-53F9-4BFC-C534F965E9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411B4FE-7941-A4F7-5AAA-C264B4D4A58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6E4E14A-49F2-662B-1886-31184F8A0C7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  <a:duotone>
              <a:prstClr val="black"/>
              <a:srgbClr val="C2C2C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19200" y="4369235"/>
            <a:ext cx="3594100" cy="1790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2FC0753-9910-7673-C174-283DED820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800" y="4381500"/>
            <a:ext cx="18034000" cy="1778435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9F61348-FF30-5C1C-8F0B-993768A7F70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85600"/>
            <a:ext cx="22593300" cy="11684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5B0E462B-058C-80B7-1168-BB10C72C3326}"/>
              </a:ext>
            </a:extLst>
          </p:cNvPr>
          <p:cNvSpPr txBox="1"/>
          <p:nvPr/>
        </p:nvSpPr>
        <p:spPr>
          <a:xfrm>
            <a:off x="1365250" y="4823698"/>
            <a:ext cx="3302000" cy="92053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기존 전력 운영 </a:t>
            </a:r>
            <a:endParaRPr lang="en-US" alt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80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논리의 전제</a:t>
            </a:r>
            <a:endParaRPr 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72726BC-3CDF-C90F-6298-FF6A2B15A1F3}"/>
              </a:ext>
            </a:extLst>
          </p:cNvPr>
          <p:cNvSpPr txBox="1"/>
          <p:nvPr/>
        </p:nvSpPr>
        <p:spPr>
          <a:xfrm>
            <a:off x="3676650" y="11658817"/>
            <a:ext cx="17030700" cy="1413933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이러한 시간대 불일치 문제를 정량적으로 해석하기 위해</a:t>
            </a:r>
            <a:r>
              <a:rPr lang="en-US" altLang="ko-KR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</a:p>
          <a:p>
            <a:pPr lvl="0" algn="l">
              <a:lnSpc>
                <a:spcPct val="141100"/>
              </a:lnSpc>
            </a:pPr>
            <a:r>
              <a:rPr lang="ko-KR" altLang="en-US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본 분석에서는 </a:t>
            </a:r>
            <a:r>
              <a:rPr lang="ko-KR" altLang="en-US" sz="2930" spc="-84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기반 지표</a:t>
            </a:r>
            <a:r>
              <a:rPr lang="en-US" altLang="ko-KR" sz="2930" spc="-84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(Evening Peak, Net Load </a:t>
            </a:r>
            <a:r>
              <a:rPr lang="ko-KR" altLang="en-US" sz="2930" spc="-84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등</a:t>
            </a:r>
            <a:r>
              <a:rPr lang="en-US" altLang="ko-KR" sz="2930" spc="-84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r>
              <a:rPr lang="ko-KR" altLang="en-US" sz="2930" spc="-84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을 정의</a:t>
            </a:r>
            <a:r>
              <a:rPr lang="ko-KR" altLang="en-US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하고 이를 통해 부하 유형을 분류한다</a:t>
            </a:r>
            <a:r>
              <a:rPr lang="en-US" altLang="ko-KR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i="0" u="none" strike="noStrike" spc="-84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4DC6205-9770-5B57-6C66-5A4F15C589C3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A-002</a:t>
            </a:r>
          </a:p>
        </p:txBody>
      </p:sp>
      <p:pic>
        <p:nvPicPr>
          <p:cNvPr id="39" name="Picture 4">
            <a:extLst>
              <a:ext uri="{FF2B5EF4-FFF2-40B4-BE49-F238E27FC236}">
                <a16:creationId xmlns:a16="http://schemas.microsoft.com/office/drawing/2014/main" id="{5D2B9324-63BC-BF0D-13BC-9ABE51B430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  <a:duotone>
              <a:prstClr val="black"/>
              <a:srgbClr val="D1D1D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19200" y="6214751"/>
            <a:ext cx="3594100" cy="1790700"/>
          </a:xfrm>
          <a:prstGeom prst="rect">
            <a:avLst/>
          </a:prstGeom>
        </p:spPr>
      </p:pic>
      <p:pic>
        <p:nvPicPr>
          <p:cNvPr id="40" name="Picture 5">
            <a:extLst>
              <a:ext uri="{FF2B5EF4-FFF2-40B4-BE49-F238E27FC236}">
                <a16:creationId xmlns:a16="http://schemas.microsoft.com/office/drawing/2014/main" id="{23F84BEF-FF21-6844-D5E8-7CC0E0C614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800" y="6222927"/>
            <a:ext cx="18034000" cy="1778435"/>
          </a:xfrm>
          <a:prstGeom prst="rect">
            <a:avLst/>
          </a:prstGeom>
        </p:spPr>
      </p:pic>
      <p:pic>
        <p:nvPicPr>
          <p:cNvPr id="41" name="Picture 4">
            <a:extLst>
              <a:ext uri="{FF2B5EF4-FFF2-40B4-BE49-F238E27FC236}">
                <a16:creationId xmlns:a16="http://schemas.microsoft.com/office/drawing/2014/main" id="{A68B1F85-F6DF-B570-27AC-AC51D888F71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  <a:duotone>
              <a:prstClr val="black"/>
              <a:srgbClr val="D1D1D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19200" y="8060267"/>
            <a:ext cx="3594100" cy="1790700"/>
          </a:xfrm>
          <a:prstGeom prst="rect">
            <a:avLst/>
          </a:prstGeom>
        </p:spPr>
      </p:pic>
      <p:pic>
        <p:nvPicPr>
          <p:cNvPr id="42" name="Picture 5">
            <a:extLst>
              <a:ext uri="{FF2B5EF4-FFF2-40B4-BE49-F238E27FC236}">
                <a16:creationId xmlns:a16="http://schemas.microsoft.com/office/drawing/2014/main" id="{36BC0A7C-6F5A-2734-5709-40E8E4C97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800" y="8064354"/>
            <a:ext cx="18034000" cy="1778435"/>
          </a:xfrm>
          <a:prstGeom prst="rect">
            <a:avLst/>
          </a:prstGeom>
        </p:spPr>
      </p:pic>
      <p:pic>
        <p:nvPicPr>
          <p:cNvPr id="43" name="Picture 4">
            <a:extLst>
              <a:ext uri="{FF2B5EF4-FFF2-40B4-BE49-F238E27FC236}">
                <a16:creationId xmlns:a16="http://schemas.microsoft.com/office/drawing/2014/main" id="{508C6433-FB9A-7B71-3305-796AF9FE268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  <a:duotone>
              <a:prstClr val="black"/>
              <a:srgbClr val="D1D1D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19200" y="9905782"/>
            <a:ext cx="3594100" cy="1790700"/>
          </a:xfrm>
          <a:prstGeom prst="rect">
            <a:avLst/>
          </a:prstGeom>
        </p:spPr>
      </p:pic>
      <p:pic>
        <p:nvPicPr>
          <p:cNvPr id="44" name="Picture 5">
            <a:extLst>
              <a:ext uri="{FF2B5EF4-FFF2-40B4-BE49-F238E27FC236}">
                <a16:creationId xmlns:a16="http://schemas.microsoft.com/office/drawing/2014/main" id="{E54F97EF-BAC1-B351-D705-6EBDDFC49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800" y="9905782"/>
            <a:ext cx="18034000" cy="1778435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2C1A298A-6110-00EE-8E62-F3746637ACA8}"/>
              </a:ext>
            </a:extLst>
          </p:cNvPr>
          <p:cNvSpPr txBox="1"/>
          <p:nvPr/>
        </p:nvSpPr>
        <p:spPr>
          <a:xfrm>
            <a:off x="5334000" y="4394745"/>
            <a:ext cx="14283133" cy="179069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원자력</a:t>
            </a:r>
            <a:r>
              <a:rPr lang="en-US" altLang="ko-KR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석탄 중심의 기저발전 기반 급전 체계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동기 발전기 회전체 관성에 의존한 계통 안정성 확보</a:t>
            </a:r>
            <a:endParaRPr lang="en-US" altLang="ko-KR" sz="2666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공급은 제어 가능하고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수요는 예측 가능하다는 암묵적 가정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9F1628E8-9DB3-29FC-D5FF-0D260D2D3A8F}"/>
              </a:ext>
            </a:extLst>
          </p:cNvPr>
          <p:cNvSpPr txBox="1"/>
          <p:nvPr/>
        </p:nvSpPr>
        <p:spPr>
          <a:xfrm>
            <a:off x="1365250" y="6615599"/>
            <a:ext cx="3302000" cy="92053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전제 붕괴의 원인</a:t>
            </a: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</a:t>
            </a:r>
            <a:r>
              <a:rPr lang="ko-KR" altLang="en-US" sz="280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endParaRPr lang="en-US" alt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80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공급 구조 변화</a:t>
            </a:r>
            <a:endParaRPr 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BF09A3AE-F803-174D-38AC-F74B2307C8F2}"/>
              </a:ext>
            </a:extLst>
          </p:cNvPr>
          <p:cNvSpPr txBox="1"/>
          <p:nvPr/>
        </p:nvSpPr>
        <p:spPr>
          <a:xfrm>
            <a:off x="5334000" y="6186646"/>
            <a:ext cx="14283133" cy="179069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기상 조건에 따라 출력이 변동되는 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VRE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비중의 급격한 증가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인버터 기반 자원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(IBR)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확대로 계통 관성 및 물리적 안정성 저하</a:t>
            </a:r>
            <a:endParaRPr lang="en-US" altLang="ko-KR" sz="2666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공급 불확실성 증가로 인한 실시간 운영 복잡성 확대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0" name="TextBox 12">
            <a:extLst>
              <a:ext uri="{FF2B5EF4-FFF2-40B4-BE49-F238E27FC236}">
                <a16:creationId xmlns:a16="http://schemas.microsoft.com/office/drawing/2014/main" id="{E9F2F75C-80F3-5295-93D3-D94D5849DF7E}"/>
              </a:ext>
            </a:extLst>
          </p:cNvPr>
          <p:cNvSpPr txBox="1"/>
          <p:nvPr/>
        </p:nvSpPr>
        <p:spPr>
          <a:xfrm>
            <a:off x="1365250" y="8520717"/>
            <a:ext cx="3302000" cy="92053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총량 중심 운영</a:t>
            </a:r>
            <a:endParaRPr lang="en-US" alt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80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접근의 한계</a:t>
            </a:r>
            <a:endParaRPr 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1" name="TextBox 11">
            <a:extLst>
              <a:ext uri="{FF2B5EF4-FFF2-40B4-BE49-F238E27FC236}">
                <a16:creationId xmlns:a16="http://schemas.microsoft.com/office/drawing/2014/main" id="{F6C72C72-3003-5A7F-2A46-C3AC9CA8C88F}"/>
              </a:ext>
            </a:extLst>
          </p:cNvPr>
          <p:cNvSpPr txBox="1"/>
          <p:nvPr/>
        </p:nvSpPr>
        <p:spPr>
          <a:xfrm>
            <a:off x="5334000" y="8091764"/>
            <a:ext cx="14283133" cy="179069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총량 기준 분석은 피크 발생 시점과 시간대 리스크를 은폐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급격한 </a:t>
            </a:r>
            <a:r>
              <a:rPr lang="ko-KR" altLang="en-US" sz="2666" i="0" u="none" strike="noStrike" spc="-80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램핑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(Ramping)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구간에 대한 대응 능력 평가 불가</a:t>
            </a:r>
            <a:endParaRPr lang="en-US" alt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운영 리스크가 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얼마나 생산했는가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아닌 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언제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얼마나 빠르게 대응할 수 있는가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 이동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2" name="TextBox 12">
            <a:extLst>
              <a:ext uri="{FF2B5EF4-FFF2-40B4-BE49-F238E27FC236}">
                <a16:creationId xmlns:a16="http://schemas.microsoft.com/office/drawing/2014/main" id="{217CD8EF-F1E8-384B-423B-C1B131C6E2D6}"/>
              </a:ext>
            </a:extLst>
          </p:cNvPr>
          <p:cNvSpPr txBox="1"/>
          <p:nvPr/>
        </p:nvSpPr>
        <p:spPr>
          <a:xfrm>
            <a:off x="1365250" y="10371853"/>
            <a:ext cx="3302000" cy="92053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불일치의 부상</a:t>
            </a:r>
            <a:endParaRPr lang="en-US" altLang="ko-KR" sz="2800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F6913FAC-1F37-DD85-7301-175F153DD183}"/>
              </a:ext>
            </a:extLst>
          </p:cNvPr>
          <p:cNvSpPr txBox="1"/>
          <p:nvPr/>
        </p:nvSpPr>
        <p:spPr>
          <a:xfrm>
            <a:off x="5334000" y="9942900"/>
            <a:ext cx="14283133" cy="179069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낮 시간대 태양광 발전 집중과 저녁 피크 수요 간 구조적 괴리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일몰 시 순 부하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(Net Load)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급증으로 인한 운영 리스크 확대</a:t>
            </a:r>
            <a:endParaRPr lang="en-US" alt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전력 운영의 초점이 총량 관리에서 시간대별 대응 전략으로 전환 필요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4" name="TextBox 21">
            <a:extLst>
              <a:ext uri="{FF2B5EF4-FFF2-40B4-BE49-F238E27FC236}">
                <a16:creationId xmlns:a16="http://schemas.microsoft.com/office/drawing/2014/main" id="{0A862768-A5CB-1E00-A334-1A3FEEB56E9E}"/>
              </a:ext>
            </a:extLst>
          </p:cNvPr>
          <p:cNvSpPr txBox="1"/>
          <p:nvPr/>
        </p:nvSpPr>
        <p:spPr>
          <a:xfrm>
            <a:off x="1282700" y="1968500"/>
            <a:ext cx="171577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제어 가능한 공급</a:t>
            </a:r>
            <a:r>
              <a:rPr lang="en-US" altLang="ko-KR" sz="5333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5333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을</a:t>
            </a:r>
            <a:r>
              <a:rPr lang="en-US" altLang="ko-KR" sz="5333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5333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전제로 한 전력 운영 논리의 한계</a:t>
            </a:r>
            <a:endParaRPr lang="ko-KR" sz="5333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5" name="TextBox 22">
            <a:extLst>
              <a:ext uri="{FF2B5EF4-FFF2-40B4-BE49-F238E27FC236}">
                <a16:creationId xmlns:a16="http://schemas.microsoft.com/office/drawing/2014/main" id="{3288C87B-2993-2E31-CD3F-2E7D7AC71AC9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</a:t>
            </a:r>
            <a:r>
              <a:rPr lang="en-US" sz="2000" dirty="0">
                <a:latin typeface="Gmarket Sans Bold" panose="020B0600000101010101" charset="-127"/>
                <a:ea typeface="Gmarket Sans Bold" panose="020B0600000101010101" charset="-127"/>
              </a:rPr>
              <a:t>Energy Transition &amp; Operational Shift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56" name="TextBox 70">
            <a:extLst>
              <a:ext uri="{FF2B5EF4-FFF2-40B4-BE49-F238E27FC236}">
                <a16:creationId xmlns:a16="http://schemas.microsoft.com/office/drawing/2014/main" id="{E647DA63-674A-9776-24F3-D24475A8B22D}"/>
              </a:ext>
            </a:extLst>
          </p:cNvPr>
          <p:cNvSpPr txBox="1"/>
          <p:nvPr/>
        </p:nvSpPr>
        <p:spPr>
          <a:xfrm>
            <a:off x="1282700" y="3111500"/>
            <a:ext cx="190627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예측 가능한 수요에 맞춰 공급을 조정하던 기존 전력 운영 방식은 변동성 재생에너지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(VRE)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의 확대와 함께 구조적 전환을 </a:t>
            </a:r>
            <a:r>
              <a:rPr lang="ko-KR" altLang="en-US" sz="2933" spc="-88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요구받고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있다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1890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76E1C-BBF0-D805-5C55-5A611F2E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">
            <a:extLst>
              <a:ext uri="{FF2B5EF4-FFF2-40B4-BE49-F238E27FC236}">
                <a16:creationId xmlns:a16="http://schemas.microsoft.com/office/drawing/2014/main" id="{54F7E4D0-FDCE-C9F7-518B-663E461DF3D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9000" y="4191000"/>
            <a:ext cx="22605999" cy="8763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F440418-6B95-92A1-FE75-80F2F88BC3D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92CD4CE1-7FFA-44CF-621E-E19321C6590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85600"/>
            <a:ext cx="22593300" cy="1168400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DA77916F-C413-6207-BA29-361DAF3822CE}"/>
              </a:ext>
            </a:extLst>
          </p:cNvPr>
          <p:cNvSpPr txBox="1"/>
          <p:nvPr/>
        </p:nvSpPr>
        <p:spPr>
          <a:xfrm>
            <a:off x="3676650" y="11658817"/>
            <a:ext cx="17030700" cy="1413933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이러한 지표 정의와 부하 유형 분류를 바탕으로</a:t>
            </a:r>
            <a:endParaRPr lang="en-US" altLang="ko-KR" sz="2930" spc="-84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2930" i="0" u="none" strike="noStrike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다음 장에서는 </a:t>
            </a:r>
            <a:r>
              <a:rPr lang="ko-KR" altLang="en-US" sz="2930" i="0" u="none" strike="noStrike" spc="-84" dirty="0">
                <a:solidFill>
                  <a:srgbClr val="8C2828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대표 사례 지역</a:t>
            </a:r>
            <a:r>
              <a:rPr lang="ko-KR" altLang="en-US" sz="2930" i="0" u="none" strike="noStrike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을 선정하여 시간대 불일치 문제가 실제 운영 시나리오에서 어떻게 나타나는지 분석한다</a:t>
            </a:r>
            <a:r>
              <a:rPr lang="en-US" altLang="ko-KR" sz="2930" i="0" u="none" strike="noStrike" spc="-84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i="0" u="none" strike="noStrike" spc="-84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46EF147-08BF-25EA-39BF-3C4BA3DFCF10}"/>
              </a:ext>
            </a:extLst>
          </p:cNvPr>
          <p:cNvSpPr txBox="1"/>
          <p:nvPr/>
        </p:nvSpPr>
        <p:spPr>
          <a:xfrm>
            <a:off x="1282700" y="1968500"/>
            <a:ext cx="171577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불일치를 </a:t>
            </a:r>
            <a:r>
              <a:rPr lang="ko-KR" altLang="en-US" sz="5333" spc="-16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정량화하기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위한 핵심 지표 정의</a:t>
            </a:r>
            <a:endParaRPr lang="ko-KR" sz="5333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612A796-51B4-1260-32E2-54C2780B30D8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</a:t>
            </a:r>
            <a:r>
              <a:rPr lang="en-US" sz="2000" dirty="0">
                <a:latin typeface="Gmarket Sans Bold" panose="020B0600000101010101" charset="-127"/>
                <a:ea typeface="Gmarket Sans Bold" panose="020B0600000101010101" charset="-127"/>
              </a:rPr>
              <a:t>Time-of-Day Metrics &amp; Load Type Definition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236E099-8FA3-F309-3372-746A0DAF4A2A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A-003</a:t>
            </a:r>
          </a:p>
        </p:txBody>
      </p:sp>
      <p:sp>
        <p:nvSpPr>
          <p:cNvPr id="29" name="TextBox 70">
            <a:extLst>
              <a:ext uri="{FF2B5EF4-FFF2-40B4-BE49-F238E27FC236}">
                <a16:creationId xmlns:a16="http://schemas.microsoft.com/office/drawing/2014/main" id="{91B316CB-7A4B-8DA5-EDA5-56AA965670F6}"/>
              </a:ext>
            </a:extLst>
          </p:cNvPr>
          <p:cNvSpPr txBox="1"/>
          <p:nvPr/>
        </p:nvSpPr>
        <p:spPr>
          <a:xfrm>
            <a:off x="1282700" y="3111500"/>
            <a:ext cx="190627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본 분석에서는 시간대 기반 지표를 정의하고 이를 통해 부하 유형을 체계적으로 분류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39" name="Picture 4">
            <a:extLst>
              <a:ext uri="{FF2B5EF4-FFF2-40B4-BE49-F238E27FC236}">
                <a16:creationId xmlns:a16="http://schemas.microsoft.com/office/drawing/2014/main" id="{25317DA6-F0A1-C020-6119-F1E90CA2135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  <a:duotone>
              <a:prstClr val="black"/>
              <a:srgbClr val="D1D1D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19200" y="4473837"/>
            <a:ext cx="3594100" cy="2324100"/>
          </a:xfrm>
          <a:prstGeom prst="rect">
            <a:avLst/>
          </a:prstGeom>
        </p:spPr>
      </p:pic>
      <p:pic>
        <p:nvPicPr>
          <p:cNvPr id="40" name="Picture 5">
            <a:extLst>
              <a:ext uri="{FF2B5EF4-FFF2-40B4-BE49-F238E27FC236}">
                <a16:creationId xmlns:a16="http://schemas.microsoft.com/office/drawing/2014/main" id="{80555C5A-CDBE-C97E-6CEC-BD41B1F1B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800" y="4484242"/>
            <a:ext cx="18034000" cy="2308182"/>
          </a:xfrm>
          <a:prstGeom prst="rect">
            <a:avLst/>
          </a:prstGeom>
        </p:spPr>
      </p:pic>
      <p:sp>
        <p:nvSpPr>
          <p:cNvPr id="46" name="TextBox 12">
            <a:extLst>
              <a:ext uri="{FF2B5EF4-FFF2-40B4-BE49-F238E27FC236}">
                <a16:creationId xmlns:a16="http://schemas.microsoft.com/office/drawing/2014/main" id="{21800116-88E2-EA55-C98A-AEECB2674BD9}"/>
              </a:ext>
            </a:extLst>
          </p:cNvPr>
          <p:cNvSpPr txBox="1"/>
          <p:nvPr/>
        </p:nvSpPr>
        <p:spPr>
          <a:xfrm>
            <a:off x="1365250" y="5175621"/>
            <a:ext cx="3302000" cy="92053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Evening Peak</a:t>
            </a:r>
            <a:endParaRPr 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326679AB-3220-EC5E-35FD-C96741BF79A2}"/>
              </a:ext>
            </a:extLst>
          </p:cNvPr>
          <p:cNvSpPr txBox="1"/>
          <p:nvPr/>
        </p:nvSpPr>
        <p:spPr>
          <a:xfrm>
            <a:off x="5334000" y="4484242"/>
            <a:ext cx="16916400" cy="2308181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시간대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(18-21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에 집중되는 부하 비중을 의미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 발전 감소 이후 발생하는 운영 부담의 집중 구간을 직접적으로 반영 </a:t>
            </a:r>
            <a:endParaRPr lang="en-US" altLang="ko-KR" sz="2666" spc="-8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정의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시간대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(18-21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전력 사용량 </a:t>
            </a:r>
            <a:r>
              <a:rPr lang="en-US" altLang="ko-KR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÷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일일 총 전력 사용량</a:t>
            </a:r>
            <a:endParaRPr lang="en-US" alt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목적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태양광 발전 종료 이후 발생하는 구조적 수요 집중도 정량화</a:t>
            </a:r>
            <a:endParaRPr lang="en-US" altLang="ko-KR" sz="2666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의미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Evening Peak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비중이 높을수록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 단독 대응이 어려운 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Evening-Critical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구조를 가짐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FE7F2396-EA1B-A0B6-A52F-83FC769A4FF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  <a:duotone>
              <a:prstClr val="black"/>
              <a:srgbClr val="D1D1D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19200" y="6923109"/>
            <a:ext cx="3594100" cy="2324100"/>
          </a:xfrm>
          <a:prstGeom prst="rect">
            <a:avLst/>
          </a:prstGeom>
        </p:spPr>
      </p:pic>
      <p:pic>
        <p:nvPicPr>
          <p:cNvPr id="24" name="Picture 5">
            <a:extLst>
              <a:ext uri="{FF2B5EF4-FFF2-40B4-BE49-F238E27FC236}">
                <a16:creationId xmlns:a16="http://schemas.microsoft.com/office/drawing/2014/main" id="{E6886BDF-086F-1C01-C318-A5C8D719C9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800" y="6933514"/>
            <a:ext cx="18034000" cy="2308182"/>
          </a:xfrm>
          <a:prstGeom prst="rect">
            <a:avLst/>
          </a:prstGeom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04423A4C-B740-F23F-88DB-A6A463EE20F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  <a:duotone>
              <a:prstClr val="black"/>
              <a:srgbClr val="D1D1D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19200" y="9372382"/>
            <a:ext cx="3594100" cy="2324100"/>
          </a:xfrm>
          <a:prstGeom prst="rect">
            <a:avLst/>
          </a:prstGeom>
        </p:spPr>
      </p:pic>
      <p:pic>
        <p:nvPicPr>
          <p:cNvPr id="26" name="Picture 5">
            <a:extLst>
              <a:ext uri="{FF2B5EF4-FFF2-40B4-BE49-F238E27FC236}">
                <a16:creationId xmlns:a16="http://schemas.microsoft.com/office/drawing/2014/main" id="{3BA69F2F-9168-37FE-0B4E-1E7FE25DB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800" y="9382787"/>
            <a:ext cx="18034000" cy="2308182"/>
          </a:xfrm>
          <a:prstGeom prst="rect">
            <a:avLst/>
          </a:prstGeom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A72EA511-EA7D-9075-B062-B009FF5CFB56}"/>
              </a:ext>
            </a:extLst>
          </p:cNvPr>
          <p:cNvSpPr txBox="1"/>
          <p:nvPr/>
        </p:nvSpPr>
        <p:spPr>
          <a:xfrm>
            <a:off x="1365250" y="7624893"/>
            <a:ext cx="3302000" cy="92053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80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</a:t>
            </a: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 Load</a:t>
            </a:r>
            <a:endParaRPr 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AECCA592-F55A-F6EB-C571-84201B2C9241}"/>
              </a:ext>
            </a:extLst>
          </p:cNvPr>
          <p:cNvSpPr txBox="1"/>
          <p:nvPr/>
        </p:nvSpPr>
        <p:spPr>
          <a:xfrm>
            <a:off x="5334000" y="6967123"/>
            <a:ext cx="16916400" cy="2308181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태양광 발전을 고려한 실제 계통 부담을 나타내는 지표 </a:t>
            </a:r>
            <a:endParaRPr lang="en-US" altLang="ko-KR" sz="2666" spc="-8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정의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en-US" altLang="ko-KR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Net Load =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Load – PV Generation</a:t>
            </a: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목적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재생에너지 개입 이후에도 남는 실질 운영 부담 파악</a:t>
            </a:r>
            <a:endParaRPr lang="en-US" altLang="ko-KR" sz="2666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의미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일몰 시 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Net Load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급증은 </a:t>
            </a:r>
            <a:r>
              <a:rPr lang="ko-KR" altLang="en-US" sz="2666" spc="-8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램핑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리스크 및 유연성 자원 필요성의 직접적 지표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BDA29796-9923-78E8-7461-696CDD6D06E7}"/>
              </a:ext>
            </a:extLst>
          </p:cNvPr>
          <p:cNvSpPr txBox="1"/>
          <p:nvPr/>
        </p:nvSpPr>
        <p:spPr>
          <a:xfrm>
            <a:off x="5334000" y="9416395"/>
            <a:ext cx="16916400" cy="2308181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기반 지표를 바탕으로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서울 행정동 단위 부하를 다음 세 가지 유형으로 분류 </a:t>
            </a:r>
            <a:endParaRPr lang="en-US" altLang="ko-KR" sz="2666" spc="-8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A (PV-friendly): </a:t>
            </a:r>
            <a:r>
              <a:rPr lang="ko-KR" altLang="en-US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낮 시간대 부하 비중이 높고 </a:t>
            </a:r>
            <a:r>
              <a:rPr lang="en-US" altLang="ko-KR" sz="2666" i="0" u="none" strike="noStrike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Evening </a:t>
            </a:r>
            <a:r>
              <a:rPr lang="en-US" altLang="ko-KR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Peak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 낮은 구조</a:t>
            </a:r>
            <a:endParaRPr lang="en-US" alt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sz="2666" i="0" u="none" strike="noStrike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 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B (Evening-critical):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부하 집중도가 높아 태양광 단독 대응이 어려운 구조</a:t>
            </a:r>
            <a:endParaRPr lang="en-US" altLang="ko-KR" sz="2666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∙</a:t>
            </a:r>
            <a:r>
              <a:rPr lang="ko-KR" altLang="en-US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666" spc="-8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Type C (Mixed): 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</a:t>
            </a:r>
            <a:r>
              <a:rPr lang="en-US" altLang="ko-KR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666" spc="-8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야간 부하 특성이 혼재된 중간형 구조</a:t>
            </a:r>
            <a:endParaRPr lang="ko-KR" sz="2666" i="0" u="none" strike="noStrike" spc="-8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9FCE3345-18EF-1E82-E3A5-772C7980F83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  <a:duotone>
              <a:prstClr val="black"/>
              <a:srgbClr val="D1D1D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19200" y="9342750"/>
            <a:ext cx="3594100" cy="2324100"/>
          </a:xfrm>
          <a:prstGeom prst="rect">
            <a:avLst/>
          </a:prstGeom>
        </p:spPr>
      </p:pic>
      <p:sp>
        <p:nvSpPr>
          <p:cNvPr id="37" name="TextBox 12">
            <a:extLst>
              <a:ext uri="{FF2B5EF4-FFF2-40B4-BE49-F238E27FC236}">
                <a16:creationId xmlns:a16="http://schemas.microsoft.com/office/drawing/2014/main" id="{280616AB-934F-CA96-9536-183E8B51AB1C}"/>
              </a:ext>
            </a:extLst>
          </p:cNvPr>
          <p:cNvSpPr txBox="1"/>
          <p:nvPr/>
        </p:nvSpPr>
        <p:spPr>
          <a:xfrm>
            <a:off x="1365250" y="10047837"/>
            <a:ext cx="3302000" cy="920531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부하 유형 분류 기준</a:t>
            </a:r>
            <a:endParaRPr lang="en-US" alt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(Type A / B / C)</a:t>
            </a:r>
            <a:endParaRPr lang="ko-KR" sz="280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8280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DAA6-029E-B754-9ECB-52CAB7D9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A00DBFE9-BC1B-AFA0-488B-487377E9072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C770ECAA-6035-B38F-2083-CEFECBFFBD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85600"/>
            <a:ext cx="22593300" cy="11684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A29B2F4-72A1-3927-1120-ADE558729DF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06ABA35-05BC-97EB-F8CD-1A508F17974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  <a:grayscl/>
          </a:blip>
          <a:stretch>
            <a:fillRect/>
          </a:stretch>
        </p:blipFill>
        <p:spPr>
          <a:xfrm>
            <a:off x="16961082" y="4191000"/>
            <a:ext cx="6533917" cy="75946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64" y="4415224"/>
            <a:ext cx="14428741" cy="7099469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7D3A9C72-E123-25DD-D4C6-5BA0CEAC1985}"/>
              </a:ext>
            </a:extLst>
          </p:cNvPr>
          <p:cNvSpPr txBox="1"/>
          <p:nvPr/>
        </p:nvSpPr>
        <p:spPr>
          <a:xfrm>
            <a:off x="1282700" y="1968500"/>
            <a:ext cx="151003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산업 가동 중단이 초래하는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침묵의 과잉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(Silent Surplus)”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D5CA7CE-C893-21A6-DFEF-E8920DEABB54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평일 대비 주말 전력 수요 급감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약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20%)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과 고정된 태양광 발전의 구조적 </a:t>
            </a:r>
            <a:r>
              <a:rPr lang="ko-KR" altLang="en-US" sz="2933" spc="-88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미스매칭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(Mismatch)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분석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30AB06F8-9393-F180-4C7A-C2459875084D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</a:t>
            </a:r>
            <a:r>
              <a:rPr lang="en-US" sz="2000" dirty="0">
                <a:latin typeface="Gmarket Sans Bold" panose="020B0600000101010101" charset="-127"/>
                <a:ea typeface="Gmarket Sans Bold" panose="020B0600000101010101" charset="-127"/>
              </a:rPr>
              <a:t> Weekend Effect &amp; Low Load Risk</a:t>
            </a:r>
            <a:endParaRPr lang="en" sz="2000" b="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828ECDE6-DE4D-9E7B-1DEE-92200483848A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-US" sz="2000" b="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</a:t>
            </a:r>
            <a:r>
              <a:rPr lang="en" sz="2000" b="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-004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A2B78CAC-6EE4-35AB-EC2A-6824E4973F6B}"/>
              </a:ext>
            </a:extLst>
          </p:cNvPr>
          <p:cNvSpPr txBox="1"/>
          <p:nvPr/>
        </p:nvSpPr>
        <p:spPr>
          <a:xfrm>
            <a:off x="3581400" y="12153900"/>
            <a:ext cx="17233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주말의 낮은 전력 수요</a:t>
            </a:r>
            <a:r>
              <a:rPr lang="en-US" altLang="ko-KR" sz="2930" spc="-72" dirty="0">
                <a:latin typeface="Pretendard SemiBold" panose="020B0600000101010101" charset="-127"/>
                <a:ea typeface="Pretendard SemiBold" panose="020B0600000101010101" charset="-127"/>
              </a:rPr>
              <a:t> (Low Demand)</a:t>
            </a:r>
            <a:r>
              <a:rPr lang="ko-KR" altLang="en-US" sz="2930" spc="-72" dirty="0">
                <a:latin typeface="Pretendard SemiBold" panose="020B0600000101010101" charset="-127"/>
                <a:ea typeface="Pretendard SemiBold" panose="020B0600000101010101" charset="-127"/>
              </a:rPr>
              <a:t>는 태양광 과잉 공급 문제를 심화시켜</a:t>
            </a:r>
            <a:r>
              <a:rPr lang="en-US" altLang="ko-KR" sz="2930" spc="-72" dirty="0"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930" spc="-72" dirty="0">
                <a:latin typeface="Pretendard SemiBold" panose="020B0600000101010101" charset="-127"/>
                <a:ea typeface="Pretendard SemiBold" panose="020B0600000101010101" charset="-127"/>
              </a:rPr>
              <a:t>계통 운영의 </a:t>
            </a:r>
            <a:r>
              <a:rPr lang="en-US" altLang="ko-KR" sz="2930" spc="-72" dirty="0"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spc="-72" dirty="0">
                <a:latin typeface="Pretendard SemiBold" panose="020B0600000101010101" charset="-127"/>
                <a:ea typeface="Pretendard SemiBold" panose="020B0600000101010101" charset="-127"/>
              </a:rPr>
              <a:t>최저 부하 제약</a:t>
            </a:r>
            <a:r>
              <a:rPr lang="en-US" altLang="ko-KR" sz="2930" spc="-72" dirty="0"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930" spc="-72" dirty="0">
                <a:latin typeface="Pretendard SemiBold" panose="020B0600000101010101" charset="-127"/>
                <a:ea typeface="Pretendard SemiBold" panose="020B0600000101010101" charset="-127"/>
              </a:rPr>
              <a:t>을 위협</a:t>
            </a:r>
            <a:endParaRPr lang="en-US" sz="2930" b="0" i="0" u="none" strike="noStrike" spc="-72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91A77-D328-CB44-6718-FB0EDA0123B5}"/>
              </a:ext>
            </a:extLst>
          </p:cNvPr>
          <p:cNvSpPr txBox="1"/>
          <p:nvPr/>
        </p:nvSpPr>
        <p:spPr>
          <a:xfrm>
            <a:off x="16961081" y="5095201"/>
            <a:ext cx="6510105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The Weekend Effect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주말 효과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Observation</a:t>
            </a:r>
            <a:endParaRPr lang="en-US" altLang="ko-KR" sz="2400" b="1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평일 대비 주말의 전력 수요가 약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20 ~ 30%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감소함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Reason</a:t>
            </a:r>
          </a:p>
          <a:p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산업체 조업 중단 및 대형 오피스 빌딩 냉난방 부하 감소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Silent High Generation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조용한 과잉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Issue</a:t>
            </a:r>
          </a:p>
          <a:p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태양광 발전량은 요일과 무관하게 일정함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자연현상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Risk</a:t>
            </a:r>
          </a:p>
          <a:p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수요는 바닥인데 발전량은 그대로라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순 부하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(Net Load)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가</a:t>
            </a:r>
            <a:b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최저 한계선 미만으로 추락할 위험 급증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Impact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영향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Constraint</a:t>
            </a:r>
          </a:p>
          <a:p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대형 석탄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/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원전의 </a:t>
            </a:r>
            <a:r>
              <a:rPr lang="ko-KR" altLang="en-US" sz="2000" dirty="0" err="1">
                <a:latin typeface="Pretendard Regular" panose="020B0600000101010101" charset="-127"/>
                <a:ea typeface="Pretendard Regular" panose="020B0600000101010101" charset="-127"/>
              </a:rPr>
              <a:t>감발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 운전 한계 도달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⇒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출력 제어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(Curtailment)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외에 대안 없음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5AFA0-03C2-6CED-3F8C-8A74300147C5}"/>
              </a:ext>
            </a:extLst>
          </p:cNvPr>
          <p:cNvSpPr txBox="1"/>
          <p:nvPr/>
        </p:nvSpPr>
        <p:spPr>
          <a:xfrm>
            <a:off x="11976286" y="11162784"/>
            <a:ext cx="3800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※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서울시 전체 행정동의 시간대별 평균값</a:t>
            </a:r>
          </a:p>
        </p:txBody>
      </p:sp>
    </p:spTree>
    <p:extLst>
      <p:ext uri="{BB962C8B-B14F-4D97-AF65-F5344CB8AC3E}">
        <p14:creationId xmlns:p14="http://schemas.microsoft.com/office/powerpoint/2010/main" val="7315958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DAA6-029E-B754-9ECB-52CAB7D9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>
            <a:extLst>
              <a:ext uri="{FF2B5EF4-FFF2-40B4-BE49-F238E27FC236}">
                <a16:creationId xmlns:a16="http://schemas.microsoft.com/office/drawing/2014/main" id="{8CE4E00A-997A-F63E-A27B-7291E609AFA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699" y="4191000"/>
            <a:ext cx="22593300" cy="8763000"/>
          </a:xfrm>
          <a:prstGeom prst="rect">
            <a:avLst/>
          </a:prstGeom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B8AE63EF-D98C-B4DF-3118-8297D17F2FF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85600"/>
            <a:ext cx="22593300" cy="11684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29805428-33F5-29E7-9534-554B89E2172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  <a:grayscl/>
          </a:blip>
          <a:stretch>
            <a:fillRect/>
          </a:stretch>
        </p:blipFill>
        <p:spPr>
          <a:xfrm>
            <a:off x="16961082" y="4191000"/>
            <a:ext cx="6533917" cy="759460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074BDCF-A23C-3A6B-489C-6A6AE38804A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69" name="TextBox 69">
            <a:extLst>
              <a:ext uri="{FF2B5EF4-FFF2-40B4-BE49-F238E27FC236}">
                <a16:creationId xmlns:a16="http://schemas.microsoft.com/office/drawing/2014/main" id="{7D3A9C72-E123-25DD-D4C6-5BA0CEAC1985}"/>
              </a:ext>
            </a:extLst>
          </p:cNvPr>
          <p:cNvSpPr txBox="1"/>
          <p:nvPr/>
        </p:nvSpPr>
        <p:spPr>
          <a:xfrm>
            <a:off x="1282700" y="1968500"/>
            <a:ext cx="151003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봄의 역설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(Spring Paradox): “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전기가 남아서 위기다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.”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D5CA7CE-C893-21A6-DFEF-E8920DEABB54}"/>
              </a:ext>
            </a:extLst>
          </p:cNvPr>
          <p:cNvSpPr txBox="1"/>
          <p:nvPr/>
        </p:nvSpPr>
        <p:spPr>
          <a:xfrm>
            <a:off x="1282700" y="3111500"/>
            <a:ext cx="139954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연중 최저 부하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(Spring)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와 태양광 피크의 중첩으로 인한 출력 제어 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(Curtailment)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리스크 심화</a:t>
            </a:r>
            <a:endParaRPr 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30AB06F8-9393-F180-4C7A-C2459875084D}"/>
              </a:ext>
            </a:extLst>
          </p:cNvPr>
          <p:cNvSpPr txBox="1"/>
          <p:nvPr/>
        </p:nvSpPr>
        <p:spPr>
          <a:xfrm>
            <a:off x="1270000" y="901700"/>
            <a:ext cx="7251700" cy="3429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</a:t>
            </a:r>
            <a:r>
              <a:rPr lang="en-US" sz="2000" dirty="0">
                <a:latin typeface="Gmarket Sans Bold" panose="020B0600000101010101" charset="-127"/>
                <a:ea typeface="Gmarket Sans Bold" panose="020B0600000101010101" charset="-127"/>
              </a:rPr>
              <a:t>Seasonal Load Asymmetry</a:t>
            </a:r>
            <a:endParaRPr lang="en" sz="2000" b="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828ECDE6-DE4D-9E7B-1DEE-92200483848A}"/>
              </a:ext>
            </a:extLst>
          </p:cNvPr>
          <p:cNvSpPr txBox="1"/>
          <p:nvPr/>
        </p:nvSpPr>
        <p:spPr>
          <a:xfrm>
            <a:off x="21932900" y="889000"/>
            <a:ext cx="1168400" cy="355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-US" altLang="ko-KR" sz="2000" spc="40" dirty="0">
                <a:latin typeface="Gmarket Sans Bold" panose="020B0600000101010101" charset="-127"/>
                <a:ea typeface="Gmarket Sans Bold" panose="020B0600000101010101" charset="-127"/>
              </a:rPr>
              <a:t>A-0</a:t>
            </a:r>
            <a:r>
              <a:rPr lang="en" altLang="ko-KR" sz="2000" spc="40" dirty="0">
                <a:latin typeface="Gmarket Sans Bold" panose="020B0600000101010101" charset="-127"/>
                <a:ea typeface="Gmarket Sans Bold" panose="020B0600000101010101" charset="-127"/>
              </a:rPr>
              <a:t>0</a:t>
            </a:r>
            <a:r>
              <a:rPr lang="en" sz="2000" b="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5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A2B78CAC-6EE4-35AB-EC2A-6824E4973F6B}"/>
              </a:ext>
            </a:extLst>
          </p:cNvPr>
          <p:cNvSpPr txBox="1"/>
          <p:nvPr/>
        </p:nvSpPr>
        <p:spPr>
          <a:xfrm>
            <a:off x="3581400" y="12153900"/>
            <a:ext cx="172339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전력망은 이제 </a:t>
            </a:r>
            <a:r>
              <a:rPr lang="en-US" altLang="ko-KR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여름철 피크</a:t>
            </a:r>
            <a:r>
              <a:rPr lang="en-US" altLang="ko-KR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en-US" altLang="ko-KR" sz="2930" spc="-72" dirty="0">
                <a:latin typeface="Pretendard SemiBold" panose="020B0600000101010101" charset="-127"/>
                <a:ea typeface="Pretendard SemiBold" panose="020B0600000101010101" charset="-127"/>
              </a:rPr>
              <a:t>Peak)</a:t>
            </a:r>
            <a:r>
              <a:rPr lang="en-US" altLang="ko-KR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” </a:t>
            </a:r>
            <a:r>
              <a:rPr lang="ko-KR" altLang="en-US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방어가 아닌</a:t>
            </a:r>
            <a:r>
              <a:rPr lang="en-US" altLang="ko-KR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, “</a:t>
            </a:r>
            <a:r>
              <a:rPr lang="ko-KR" altLang="en-US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봄철 잉여</a:t>
            </a:r>
            <a:r>
              <a:rPr lang="en-US" altLang="ko-KR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(Surplus)” </a:t>
            </a:r>
            <a:r>
              <a:rPr lang="ko-KR" altLang="en-US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관리라는 새로운 숙제를 안게 되었다</a:t>
            </a:r>
            <a:r>
              <a:rPr lang="en-US" altLang="ko-KR" sz="2930" b="0" i="0" u="none" strike="noStrike" spc="-72" dirty="0"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sz="2930" b="0" i="0" u="none" strike="noStrike" spc="-72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91A77-D328-CB44-6718-FB0EDA0123B5}"/>
              </a:ext>
            </a:extLst>
          </p:cNvPr>
          <p:cNvSpPr txBox="1"/>
          <p:nvPr/>
        </p:nvSpPr>
        <p:spPr>
          <a:xfrm>
            <a:off x="17006101" y="4844358"/>
            <a:ext cx="6443877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Extreme Low Load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극단적 저 부하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0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냉난방 수요가 없는 봄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/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가을철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평균 부하가 여름 대비 </a:t>
            </a:r>
            <a:b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약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40%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이상 급감함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태양광 발전 효율은 연중 최고 수준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맑은 날씨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낮은 기온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b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이라 발전량은 폭증   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Curtailment Risk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출력 제어 공포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Issue</a:t>
            </a:r>
          </a:p>
          <a:p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수요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&lt;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공급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”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역전 현상이 발생하여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계통 주파수 상승 방지를 </a:t>
            </a:r>
            <a:b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위한 강제 출력 차단 불가피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Fact</a:t>
            </a:r>
          </a:p>
          <a:p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실제 전력 계통 운영상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블랙아웃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”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위험은 여름 피크보다</a:t>
            </a:r>
            <a:b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봄철 경 부하 때 기술적으로 더 높음 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400" b="1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✔ 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The Flexibility Gap (</a:t>
            </a:r>
            <a:r>
              <a:rPr lang="ko-KR" altLang="en-US" sz="2400" b="1" dirty="0">
                <a:latin typeface="Pretendard SemiBold" panose="020B0600000101010101" charset="-127"/>
                <a:ea typeface="Pretendard SemiBold" panose="020B0600000101010101" charset="-127"/>
              </a:rPr>
              <a:t>유연성의 부재</a:t>
            </a:r>
            <a:r>
              <a:rPr lang="en-US" altLang="ko-KR" sz="2400" b="1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r>
              <a:rPr lang="en-US" altLang="ko-KR" sz="22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여름엔 더 만드는 능력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(Capacity)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이 필요하지만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,</a:t>
            </a:r>
            <a:b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봄엔 줄이거나 저장하는 능력 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(Flexibility)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이 필요함</a:t>
            </a:r>
            <a:endParaRPr lang="en-US" altLang="ko-KR" sz="2200" b="1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기존 경직성 자원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석탄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원전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만으로는 이 두 가지 상반된 </a:t>
            </a:r>
            <a:b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000" dirty="0">
                <a:latin typeface="Pretendard Regular" panose="020B0600000101010101" charset="-127"/>
                <a:ea typeface="Pretendard Regular" panose="020B0600000101010101" charset="-127"/>
              </a:rPr>
              <a:t>요구를 동시에 충족 불가</a:t>
            </a:r>
            <a:endParaRPr lang="en-US" altLang="ko-KR" sz="20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379" y="4401099"/>
            <a:ext cx="14451931" cy="71262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BC7FAA-5A5F-9B02-FD79-64043FD9F6A3}"/>
              </a:ext>
            </a:extLst>
          </p:cNvPr>
          <p:cNvSpPr txBox="1"/>
          <p:nvPr/>
        </p:nvSpPr>
        <p:spPr>
          <a:xfrm>
            <a:off x="11976286" y="11162784"/>
            <a:ext cx="3800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※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서울시 전체 행정동의 시간대별 평균값</a:t>
            </a:r>
          </a:p>
        </p:txBody>
      </p:sp>
    </p:spTree>
    <p:extLst>
      <p:ext uri="{BB962C8B-B14F-4D97-AF65-F5344CB8AC3E}">
        <p14:creationId xmlns:p14="http://schemas.microsoft.com/office/powerpoint/2010/main" val="2249299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5FA0C-C617-0C50-FEFF-9D177844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F13FAF59-970A-6A02-2371-1C157D4D39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4140200"/>
            <a:ext cx="10947400" cy="8814350"/>
          </a:xfrm>
          <a:prstGeom prst="rect">
            <a:avLst/>
          </a:prstGeom>
        </p:spPr>
      </p:pic>
      <p:pic>
        <p:nvPicPr>
          <p:cNvPr id="34" name="Picture 3">
            <a:extLst>
              <a:ext uri="{FF2B5EF4-FFF2-40B4-BE49-F238E27FC236}">
                <a16:creationId xmlns:a16="http://schemas.microsoft.com/office/drawing/2014/main" id="{52603A68-CB99-6AE9-E6A8-C8C7A50B894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4140200"/>
            <a:ext cx="10947400" cy="881435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B2F67F8-C8F8-E6D2-61CB-E2600A3E5D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duotone>
              <a:prstClr val="black"/>
              <a:srgbClr val="D2D2D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192747" y="5051423"/>
            <a:ext cx="10420350" cy="1279526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85CBF7C3-B2F2-6DD3-3DE8-4D6DCB026663}"/>
              </a:ext>
            </a:extLst>
          </p:cNvPr>
          <p:cNvSpPr txBox="1"/>
          <p:nvPr/>
        </p:nvSpPr>
        <p:spPr>
          <a:xfrm>
            <a:off x="1397000" y="43624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사례 지역 선정의 기본 원칙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96BD2F7-5261-8B77-D1EA-085E4B4A43E5}"/>
              </a:ext>
            </a:extLst>
          </p:cNvPr>
          <p:cNvSpPr txBox="1"/>
          <p:nvPr/>
        </p:nvSpPr>
        <p:spPr>
          <a:xfrm>
            <a:off x="1221322" y="5110439"/>
            <a:ext cx="10363200" cy="1114424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본</a:t>
            </a:r>
            <a:r>
              <a:rPr lang="en-US" altLang="ko-KR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사례 분석은 특정 지역의 특수성을 강조하기 위함이 아니라</a:t>
            </a:r>
            <a:r>
              <a:rPr lang="en-US" altLang="ko-KR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28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불일치 문제가 구조적으로 드러나는 부하 유형을 관찰</a:t>
            </a:r>
            <a:endParaRPr lang="ko-KR" sz="28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C81CA32-E7D0-A99E-2CBB-E88AB5980D7B}"/>
              </a:ext>
            </a:extLst>
          </p:cNvPr>
          <p:cNvSpPr txBox="1"/>
          <p:nvPr/>
        </p:nvSpPr>
        <p:spPr>
          <a:xfrm>
            <a:off x="1282700" y="1968500"/>
            <a:ext cx="14947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대표 사례 지역 선정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왜 중계동인가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60264280-4AB7-D96E-F58F-6E5AB9E9FAF4}"/>
              </a:ext>
            </a:extLst>
          </p:cNvPr>
          <p:cNvSpPr txBox="1"/>
          <p:nvPr/>
        </p:nvSpPr>
        <p:spPr>
          <a:xfrm>
            <a:off x="1282700" y="3111500"/>
            <a:ext cx="167005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 기반 지표를 실제 운영 맥락에서 검증하기 위해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부하 구조적 특성이 뚜렷한 대표 사례 지역을 선정한다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en-US" alt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1C28CCD0-8F30-FC3A-AD88-B99751574596}"/>
              </a:ext>
            </a:extLst>
          </p:cNvPr>
          <p:cNvSpPr txBox="1"/>
          <p:nvPr/>
        </p:nvSpPr>
        <p:spPr>
          <a:xfrm>
            <a:off x="1192746" y="6423022"/>
            <a:ext cx="10391775" cy="19113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단일 지표가 아닌</a:t>
            </a:r>
            <a:r>
              <a:rPr lang="en-US" altLang="ko-KR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Evening Peak + Net Load</a:t>
            </a:r>
            <a:r>
              <a:rPr lang="ko-KR" altLang="en-US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종합적으로 고려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부하 특성이 명확하고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해석이 직관적인 지역 우선 선정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서울시 평균 대비 운영 리스크가 구조적으로 집중된 유형을 대표해야 함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41100"/>
              </a:lnSpc>
            </a:pPr>
            <a:endParaRPr lang="en-US" altLang="ko-KR" sz="2200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A77EDC-3975-B0D8-EE4C-9B2FB86FA38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87585737-526B-8A19-8985-D8C7BBBD750E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Case Selection &amp; Representativeness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9DB00275-E490-7E0A-0BCC-C7DAC06AF0E8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A-006</a:t>
            </a:r>
          </a:p>
        </p:txBody>
      </p:sp>
      <p:pic>
        <p:nvPicPr>
          <p:cNvPr id="35" name="Picture 6">
            <a:extLst>
              <a:ext uri="{FF2B5EF4-FFF2-40B4-BE49-F238E27FC236}">
                <a16:creationId xmlns:a16="http://schemas.microsoft.com/office/drawing/2014/main" id="{69A5BECB-2EAF-A3B3-5970-CBF2D5212B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duotone>
              <a:prstClr val="black"/>
              <a:srgbClr val="D2D2D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192747" y="9337668"/>
            <a:ext cx="10420350" cy="1279526"/>
          </a:xfrm>
          <a:prstGeom prst="rect">
            <a:avLst/>
          </a:prstGeom>
        </p:spPr>
      </p:pic>
      <p:sp>
        <p:nvSpPr>
          <p:cNvPr id="36" name="TextBox 30">
            <a:extLst>
              <a:ext uri="{FF2B5EF4-FFF2-40B4-BE49-F238E27FC236}">
                <a16:creationId xmlns:a16="http://schemas.microsoft.com/office/drawing/2014/main" id="{A3A1CD70-DC72-9E4F-0045-2EDD34EE43D9}"/>
              </a:ext>
            </a:extLst>
          </p:cNvPr>
          <p:cNvSpPr txBox="1"/>
          <p:nvPr/>
        </p:nvSpPr>
        <p:spPr>
          <a:xfrm>
            <a:off x="1397000" y="8648695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중계동의 부하 구조적 특성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3" name="TextBox 31">
            <a:extLst>
              <a:ext uri="{FF2B5EF4-FFF2-40B4-BE49-F238E27FC236}">
                <a16:creationId xmlns:a16="http://schemas.microsoft.com/office/drawing/2014/main" id="{E0C4B2DA-D4BD-92EC-C6E5-D7E824AAFEC0}"/>
              </a:ext>
            </a:extLst>
          </p:cNvPr>
          <p:cNvSpPr txBox="1"/>
          <p:nvPr/>
        </p:nvSpPr>
        <p:spPr>
          <a:xfrm>
            <a:off x="1221322" y="9396684"/>
            <a:ext cx="10363200" cy="1114424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중계동은 시간대 기반 지표 관점에서</a:t>
            </a:r>
            <a:endParaRPr lang="en-US" altLang="ko-KR" sz="2800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28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</a:t>
            </a:r>
            <a:r>
              <a:rPr lang="en-US" altLang="ko-KR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vening-Critical(Type B) </a:t>
            </a:r>
            <a:r>
              <a:rPr lang="ko-KR" altLang="en-US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특성이 가장 뚜렷하게 나타나는 지역 중 하나</a:t>
            </a:r>
            <a:endParaRPr lang="ko-KR" sz="28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4" name="TextBox 30">
            <a:extLst>
              <a:ext uri="{FF2B5EF4-FFF2-40B4-BE49-F238E27FC236}">
                <a16:creationId xmlns:a16="http://schemas.microsoft.com/office/drawing/2014/main" id="{286476ED-4FFF-9ECE-A1E1-A23C5F500D4F}"/>
              </a:ext>
            </a:extLst>
          </p:cNvPr>
          <p:cNvSpPr txBox="1"/>
          <p:nvPr/>
        </p:nvSpPr>
        <p:spPr>
          <a:xfrm>
            <a:off x="1192746" y="10709267"/>
            <a:ext cx="10391775" cy="19113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저녁 시간대</a:t>
            </a:r>
            <a:r>
              <a:rPr lang="en-US" altLang="ko-KR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(18-21</a:t>
            </a:r>
            <a:r>
              <a:rPr lang="ko-KR" altLang="en-US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부하 비중이 높아 </a:t>
            </a:r>
            <a:r>
              <a:rPr lang="en-US" altLang="ko-KR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Evening 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Peak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지표 상위권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태양광 발전 종료 후 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Net Load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급증 구간이 명확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낮 시간대 대비 저녁 수요 집중도가 커 태양광 단독 대응의 한계가 드러남</a:t>
            </a:r>
            <a:endParaRPr lang="en-US" altLang="ko-KR" sz="2200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48" name="Picture 6">
            <a:extLst>
              <a:ext uri="{FF2B5EF4-FFF2-40B4-BE49-F238E27FC236}">
                <a16:creationId xmlns:a16="http://schemas.microsoft.com/office/drawing/2014/main" id="{CD71409D-A930-1CC0-5CEE-4C72BA0ECD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duotone>
              <a:prstClr val="black"/>
              <a:srgbClr val="D2D2D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838647" y="5051423"/>
            <a:ext cx="10420350" cy="1279526"/>
          </a:xfrm>
          <a:prstGeom prst="rect">
            <a:avLst/>
          </a:prstGeom>
        </p:spPr>
      </p:pic>
      <p:sp>
        <p:nvSpPr>
          <p:cNvPr id="49" name="TextBox 30">
            <a:extLst>
              <a:ext uri="{FF2B5EF4-FFF2-40B4-BE49-F238E27FC236}">
                <a16:creationId xmlns:a16="http://schemas.microsoft.com/office/drawing/2014/main" id="{36B0C1FA-C78D-CAE2-45F1-CE428E1A4FFC}"/>
              </a:ext>
            </a:extLst>
          </p:cNvPr>
          <p:cNvSpPr txBox="1"/>
          <p:nvPr/>
        </p:nvSpPr>
        <p:spPr>
          <a:xfrm>
            <a:off x="13042900" y="436245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대표성 확보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 “</a:t>
            </a: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특이 사례</a:t>
            </a:r>
            <a:r>
              <a:rPr lang="en-US" altLang="ko-KR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아닌 이유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0" name="TextBox 31">
            <a:extLst>
              <a:ext uri="{FF2B5EF4-FFF2-40B4-BE49-F238E27FC236}">
                <a16:creationId xmlns:a16="http://schemas.microsoft.com/office/drawing/2014/main" id="{A71DB8B3-D8D6-32AC-2877-62D793876708}"/>
              </a:ext>
            </a:extLst>
          </p:cNvPr>
          <p:cNvSpPr txBox="1"/>
          <p:nvPr/>
        </p:nvSpPr>
        <p:spPr>
          <a:xfrm>
            <a:off x="12867222" y="5110439"/>
            <a:ext cx="10363200" cy="1114424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중계동은 특정 이벤트나 일시적 요인에 의해 선택된 사례가 아니다</a:t>
            </a:r>
            <a:r>
              <a:rPr lang="en-US" altLang="ko-KR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ko-KR" sz="28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1" name="TextBox 30">
            <a:extLst>
              <a:ext uri="{FF2B5EF4-FFF2-40B4-BE49-F238E27FC236}">
                <a16:creationId xmlns:a16="http://schemas.microsoft.com/office/drawing/2014/main" id="{0FB8730C-6A18-C59D-8C5D-94747648BCF7}"/>
              </a:ext>
            </a:extLst>
          </p:cNvPr>
          <p:cNvSpPr txBox="1"/>
          <p:nvPr/>
        </p:nvSpPr>
        <p:spPr>
          <a:xfrm>
            <a:off x="12838646" y="6423022"/>
            <a:ext cx="10391775" cy="19113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주거 중심 지역으로 서울시 다수 생활권과 유사한 수요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패턴 보유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학원가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베드타운 특성으로 저녁 수요 집중 현상이 상시적으로 반복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동일 유형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(Type B)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지역 분석 시 중계동과 유사한 시간대 패턴 반복 관찰됨</a:t>
            </a:r>
            <a:endParaRPr lang="en-US" altLang="ko-KR" sz="2200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52" name="Picture 6">
            <a:extLst>
              <a:ext uri="{FF2B5EF4-FFF2-40B4-BE49-F238E27FC236}">
                <a16:creationId xmlns:a16="http://schemas.microsoft.com/office/drawing/2014/main" id="{3255BD67-0666-9F86-3494-D18E9D0DD5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duotone>
              <a:prstClr val="black"/>
              <a:srgbClr val="D2D2D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838647" y="9337668"/>
            <a:ext cx="10420350" cy="1279526"/>
          </a:xfrm>
          <a:prstGeom prst="rect">
            <a:avLst/>
          </a:prstGeom>
        </p:spPr>
      </p:pic>
      <p:sp>
        <p:nvSpPr>
          <p:cNvPr id="53" name="TextBox 30">
            <a:extLst>
              <a:ext uri="{FF2B5EF4-FFF2-40B4-BE49-F238E27FC236}">
                <a16:creationId xmlns:a16="http://schemas.microsoft.com/office/drawing/2014/main" id="{9E0F7E8E-8E79-D134-8590-9838CE133B45}"/>
              </a:ext>
            </a:extLst>
          </p:cNvPr>
          <p:cNvSpPr txBox="1"/>
          <p:nvPr/>
        </p:nvSpPr>
        <p:spPr>
          <a:xfrm>
            <a:off x="13042900" y="8648695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사례 분석 범위 및 활용 목적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4" name="TextBox 31">
            <a:extLst>
              <a:ext uri="{FF2B5EF4-FFF2-40B4-BE49-F238E27FC236}">
                <a16:creationId xmlns:a16="http://schemas.microsoft.com/office/drawing/2014/main" id="{81437B0A-C634-9361-4D51-701395C07C45}"/>
              </a:ext>
            </a:extLst>
          </p:cNvPr>
          <p:cNvSpPr txBox="1"/>
          <p:nvPr/>
        </p:nvSpPr>
        <p:spPr>
          <a:xfrm>
            <a:off x="12867222" y="9396684"/>
            <a:ext cx="10363200" cy="1114424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정책</a:t>
            </a:r>
            <a:r>
              <a:rPr lang="en-US" altLang="ko-KR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설비 규모 산정의 직접적 결론 도출이 아닌</a:t>
            </a:r>
            <a:r>
              <a:rPr lang="en-US" altLang="ko-KR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28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시간대 불일치 문제가 실제 운영 시나리오에서 어떻게 표출되는지 초점</a:t>
            </a:r>
            <a:endParaRPr lang="ko-KR" sz="28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80565D7D-C94E-06B8-A010-2837991E69BA}"/>
              </a:ext>
            </a:extLst>
          </p:cNvPr>
          <p:cNvSpPr txBox="1"/>
          <p:nvPr/>
        </p:nvSpPr>
        <p:spPr>
          <a:xfrm>
            <a:off x="12838646" y="10709267"/>
            <a:ext cx="10391775" cy="19113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u="none" strike="noStrike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지표 기반 해석의 현실 적용 가능성 검증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단일 설비 접근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(ESS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단독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의 한계 확인</a:t>
            </a:r>
            <a:endParaRPr lang="en-US" altLang="ko-KR" sz="2800" spc="-100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이후 하이브리드 운영 전략 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(ESS +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연료전지</a:t>
            </a:r>
            <a:r>
              <a:rPr lang="en-US" altLang="ko-KR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800" spc="-100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논의의 출발점 제공</a:t>
            </a:r>
            <a:endParaRPr lang="en-US" altLang="ko-KR" sz="2200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087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986B-615B-A08D-CC18-7D6020E0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DCB096E5-0DC2-5901-6CD6-D3AE6BEB57E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4140200"/>
            <a:ext cx="10947400" cy="8814350"/>
          </a:xfrm>
          <a:prstGeom prst="rect">
            <a:avLst/>
          </a:prstGeom>
        </p:spPr>
      </p:pic>
      <p:pic>
        <p:nvPicPr>
          <p:cNvPr id="34" name="Picture 3">
            <a:extLst>
              <a:ext uri="{FF2B5EF4-FFF2-40B4-BE49-F238E27FC236}">
                <a16:creationId xmlns:a16="http://schemas.microsoft.com/office/drawing/2014/main" id="{035CA1BB-BC62-9D78-E222-320175C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4038050"/>
            <a:ext cx="10947400" cy="881435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33CDF859-406B-054F-0387-5CDF218D0D03}"/>
              </a:ext>
            </a:extLst>
          </p:cNvPr>
          <p:cNvSpPr txBox="1"/>
          <p:nvPr/>
        </p:nvSpPr>
        <p:spPr>
          <a:xfrm>
            <a:off x="13970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중계동 평균 부하 곡선 그래프 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5C28C9A-2E5E-C574-D51F-17A0370FB523}"/>
              </a:ext>
            </a:extLst>
          </p:cNvPr>
          <p:cNvSpPr txBox="1"/>
          <p:nvPr/>
        </p:nvSpPr>
        <p:spPr>
          <a:xfrm>
            <a:off x="1282700" y="1968500"/>
            <a:ext cx="14947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중계동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기준 평균 전력 부하 곡선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0D87209-41D8-AAF5-CDBC-144B1DBADAC7}"/>
              </a:ext>
            </a:extLst>
          </p:cNvPr>
          <p:cNvSpPr txBox="1"/>
          <p:nvPr/>
        </p:nvSpPr>
        <p:spPr>
          <a:xfrm>
            <a:off x="1282700" y="3111500"/>
            <a:ext cx="196723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주거지역의 시간대별 부하 구조와 저녁 피크 특성</a:t>
            </a:r>
            <a:endParaRPr lang="en-US" alt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C92482-F836-B00E-32B5-1B75A5058AE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824DA709-ADE2-D7BB-A74C-9B49A3ECF86E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Baseline Definition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B2D42C79-890F-C80B-F87A-36289E4C9426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A-007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086D50A6-44A4-BC5D-87E8-E2EF187B2BCC}"/>
              </a:ext>
            </a:extLst>
          </p:cNvPr>
          <p:cNvSpPr txBox="1"/>
          <p:nvPr/>
        </p:nvSpPr>
        <p:spPr>
          <a:xfrm>
            <a:off x="130429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중계동 평균 부하 곡선 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생성 </a:t>
            </a:r>
            <a:r>
              <a:rPr lang="ko-KR" altLang="en-US" sz="3333" spc="-10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로직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E4289766-9D71-CF7C-311A-35805CFDBF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47500"/>
            <a:ext cx="10947400" cy="1206500"/>
          </a:xfrm>
          <a:prstGeom prst="rect">
            <a:avLst/>
          </a:prstGeom>
        </p:spPr>
      </p:pic>
      <p:sp>
        <p:nvSpPr>
          <p:cNvPr id="9" name="TextBox 31">
            <a:extLst>
              <a:ext uri="{FF2B5EF4-FFF2-40B4-BE49-F238E27FC236}">
                <a16:creationId xmlns:a16="http://schemas.microsoft.com/office/drawing/2014/main" id="{DEC8F02A-1FB0-4038-AB08-98D60E49D48D}"/>
              </a:ext>
            </a:extLst>
          </p:cNvPr>
          <p:cNvSpPr txBox="1"/>
          <p:nvPr/>
        </p:nvSpPr>
        <p:spPr>
          <a:xfrm>
            <a:off x="901700" y="11814176"/>
            <a:ext cx="10947400" cy="1114424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중계동 권역의 평균 전력 부하는 저녁 시간대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(18-22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에 집중되는 주거지역 특성을 보인다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</a:p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문제는 총 전력 사용량이 아니라 특정 시간대에 집중되는 주거지역 부하 구조에 있다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ko-KR" sz="24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4EA82-3FB6-C94C-BB82-5978FB0812BD}"/>
              </a:ext>
            </a:extLst>
          </p:cNvPr>
          <p:cNvSpPr txBox="1"/>
          <p:nvPr/>
        </p:nvSpPr>
        <p:spPr>
          <a:xfrm>
            <a:off x="1282700" y="4977300"/>
            <a:ext cx="8305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중계동 권역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중계본동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중계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1~4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동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을 주거지역 대표군으로 정의하고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</a:t>
            </a:r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시간대별 평균 전력 부하 곡선을 산출하였다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본 곡선은 이후 태양광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·ESS·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연료전지 개입 효과를 평가하기 위한 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기준선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(Baseline)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으로 활용된다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en-US" sz="24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16" name="그림 15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6B8966-7F77-678E-6092-FF0B0AB7AA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5" y="6741246"/>
            <a:ext cx="10773110" cy="48119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9426" y="5210570"/>
            <a:ext cx="10483748" cy="6183560"/>
          </a:xfrm>
          <a:prstGeom prst="rect">
            <a:avLst/>
          </a:prstGeom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E4289766-9D71-CF7C-311A-35805CFDBF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11747500"/>
            <a:ext cx="10947400" cy="1206500"/>
          </a:xfrm>
          <a:prstGeom prst="rect">
            <a:avLst/>
          </a:prstGeom>
        </p:spPr>
      </p:pic>
      <p:sp>
        <p:nvSpPr>
          <p:cNvPr id="19" name="TextBox 31">
            <a:extLst>
              <a:ext uri="{FF2B5EF4-FFF2-40B4-BE49-F238E27FC236}">
                <a16:creationId xmlns:a16="http://schemas.microsoft.com/office/drawing/2014/main" id="{DEC8F02A-1FB0-4038-AB08-98D60E49D48D}"/>
              </a:ext>
            </a:extLst>
          </p:cNvPr>
          <p:cNvSpPr txBox="1"/>
          <p:nvPr/>
        </p:nvSpPr>
        <p:spPr>
          <a:xfrm>
            <a:off x="12547600" y="11814176"/>
            <a:ext cx="10947400" cy="1114424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Method Note</a:t>
            </a:r>
          </a:p>
          <a:p>
            <a:pPr lvl="0">
              <a:lnSpc>
                <a:spcPct val="141100"/>
              </a:lnSpc>
            </a:pP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본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코드는 중계동 권역의 시간대별 평균 부하 곡선을 생성하기 위한 </a:t>
            </a:r>
            <a:r>
              <a:rPr lang="ko-KR" altLang="en-US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핵심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200" b="0" u="none" strike="noStrike" spc="-72" dirty="0" err="1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로직을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요약한 것이다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sz="2200" b="0" u="none" strike="noStrike" spc="-72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48659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986B-615B-A08D-CC18-7D6020E0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DCB096E5-0DC2-5901-6CD6-D3AE6BEB57E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4140200"/>
            <a:ext cx="10947400" cy="8814350"/>
          </a:xfrm>
          <a:prstGeom prst="rect">
            <a:avLst/>
          </a:prstGeom>
        </p:spPr>
      </p:pic>
      <p:pic>
        <p:nvPicPr>
          <p:cNvPr id="34" name="Picture 3">
            <a:extLst>
              <a:ext uri="{FF2B5EF4-FFF2-40B4-BE49-F238E27FC236}">
                <a16:creationId xmlns:a16="http://schemas.microsoft.com/office/drawing/2014/main" id="{035CA1BB-BC62-9D78-E222-320175C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4038050"/>
            <a:ext cx="10947400" cy="881435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33CDF859-406B-054F-0387-5CDF218D0D03}"/>
              </a:ext>
            </a:extLst>
          </p:cNvPr>
          <p:cNvSpPr txBox="1"/>
          <p:nvPr/>
        </p:nvSpPr>
        <p:spPr>
          <a:xfrm>
            <a:off x="13970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이론적 태양광 발전 곡선 그래프 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5C28C9A-2E5E-C574-D51F-17A0370FB523}"/>
              </a:ext>
            </a:extLst>
          </p:cNvPr>
          <p:cNvSpPr txBox="1"/>
          <p:nvPr/>
        </p:nvSpPr>
        <p:spPr>
          <a:xfrm>
            <a:off x="1282700" y="1968500"/>
            <a:ext cx="14947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이론적 태양광 발전 곡선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0D87209-41D8-AAF5-CDBC-144B1DBADAC7}"/>
              </a:ext>
            </a:extLst>
          </p:cNvPr>
          <p:cNvSpPr txBox="1"/>
          <p:nvPr/>
        </p:nvSpPr>
        <p:spPr>
          <a:xfrm>
            <a:off x="1282700" y="3111500"/>
            <a:ext cx="196723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시간대 </a:t>
            </a:r>
            <a:r>
              <a:rPr lang="ko-KR" altLang="en-US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기반 태양광 발전 패턴의 이상적 분포</a:t>
            </a:r>
            <a:endParaRPr lang="en-US" alt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C92482-F836-B00E-32B5-1B75A5058AE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824DA709-ADE2-D7BB-A74C-9B49A3ECF86E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Theoretical Generation Model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B2D42C79-890F-C80B-F87A-36289E4C9426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A-008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086D50A6-44A4-BC5D-87E8-E2EF187B2BCC}"/>
              </a:ext>
            </a:extLst>
          </p:cNvPr>
          <p:cNvSpPr txBox="1"/>
          <p:nvPr/>
        </p:nvSpPr>
        <p:spPr>
          <a:xfrm>
            <a:off x="130429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이론적 태양광 곡선 생성 </a:t>
            </a:r>
            <a:r>
              <a:rPr lang="ko-KR" altLang="en-US" sz="3333" b="0" i="0" u="none" strike="noStrike" spc="-10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로직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E4289766-9D71-CF7C-311A-35805CFDBF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47500"/>
            <a:ext cx="10947400" cy="1206500"/>
          </a:xfrm>
          <a:prstGeom prst="rect">
            <a:avLst/>
          </a:prstGeom>
        </p:spPr>
      </p:pic>
      <p:sp>
        <p:nvSpPr>
          <p:cNvPr id="9" name="TextBox 31">
            <a:extLst>
              <a:ext uri="{FF2B5EF4-FFF2-40B4-BE49-F238E27FC236}">
                <a16:creationId xmlns:a16="http://schemas.microsoft.com/office/drawing/2014/main" id="{DEC8F02A-1FB0-4038-AB08-98D60E49D48D}"/>
              </a:ext>
            </a:extLst>
          </p:cNvPr>
          <p:cNvSpPr txBox="1"/>
          <p:nvPr/>
        </p:nvSpPr>
        <p:spPr>
          <a:xfrm>
            <a:off x="901700" y="11814176"/>
            <a:ext cx="10947400" cy="1114424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태양광 발전은 주간 시간대에 집중되며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피크 시간대와 구조적으로 불일치하다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</a:p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 시간대 불일치가 덕 커브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(Duck Curve)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현상의 출발점이다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ko-KR" sz="24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4EA82-3FB6-C94C-BB82-5978FB0812BD}"/>
              </a:ext>
            </a:extLst>
          </p:cNvPr>
          <p:cNvSpPr txBox="1"/>
          <p:nvPr/>
        </p:nvSpPr>
        <p:spPr>
          <a:xfrm>
            <a:off x="1270000" y="4977300"/>
            <a:ext cx="113935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실제 발전량이 아닌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일사 기반 시간대 분포를 단순화한 이론 곡선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정오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(12-13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최대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오전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오후 대칭 구조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실제 설비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기상 데이터는 사용하지 않으며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이후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Net Load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분석을 위한 비교 기준 활용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0512" y="4857200"/>
            <a:ext cx="10461575" cy="782261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43" y="6596062"/>
            <a:ext cx="10622313" cy="473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935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986B-615B-A08D-CC18-7D6020E0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">
            <a:extLst>
              <a:ext uri="{FF2B5EF4-FFF2-40B4-BE49-F238E27FC236}">
                <a16:creationId xmlns:a16="http://schemas.microsoft.com/office/drawing/2014/main" id="{035CA1BB-BC62-9D78-E222-320175C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4038050"/>
            <a:ext cx="10947400" cy="881435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DCB096E5-0DC2-5901-6CD6-D3AE6BEB57E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4140200"/>
            <a:ext cx="10947400" cy="881435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33CDF859-406B-054F-0387-5CDF218D0D03}"/>
              </a:ext>
            </a:extLst>
          </p:cNvPr>
          <p:cNvSpPr txBox="1"/>
          <p:nvPr/>
        </p:nvSpPr>
        <p:spPr>
          <a:xfrm>
            <a:off x="13970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Net Load (Load – PV) 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곡선 그래프 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5C28C9A-2E5E-C574-D51F-17A0370FB523}"/>
              </a:ext>
            </a:extLst>
          </p:cNvPr>
          <p:cNvSpPr txBox="1"/>
          <p:nvPr/>
        </p:nvSpPr>
        <p:spPr>
          <a:xfrm>
            <a:off x="1282700" y="1968500"/>
            <a:ext cx="14947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Net  Load 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기반 덕 커브 형성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0D87209-41D8-AAF5-CDBC-144B1DBADAC7}"/>
              </a:ext>
            </a:extLst>
          </p:cNvPr>
          <p:cNvSpPr txBox="1"/>
          <p:nvPr/>
        </p:nvSpPr>
        <p:spPr>
          <a:xfrm>
            <a:off x="1282700" y="3111500"/>
            <a:ext cx="19672300" cy="520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전력 수요와 태양광 발전의 시간대 불일치</a:t>
            </a:r>
            <a:endParaRPr lang="en-US" alt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C92482-F836-B00E-32B5-1B75A5058AE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824DA709-ADE2-D7BB-A74C-9B49A3ECF86E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Net Load Formation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B2D42C79-890F-C80B-F87A-36289E4C9426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A-009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086D50A6-44A4-BC5D-87E8-E2EF187B2BCC}"/>
              </a:ext>
            </a:extLst>
          </p:cNvPr>
          <p:cNvSpPr txBox="1"/>
          <p:nvPr/>
        </p:nvSpPr>
        <p:spPr>
          <a:xfrm>
            <a:off x="130429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Net Load</a:t>
            </a:r>
            <a:r>
              <a:rPr lang="ko-KR" altLang="en-US" sz="3333" b="0" i="0" u="none" strike="noStrike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생성 </a:t>
            </a:r>
            <a:r>
              <a:rPr lang="ko-KR" altLang="en-US" sz="3333" spc="-10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로직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E4289766-9D71-CF7C-311A-35805CFDBF1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47500"/>
            <a:ext cx="10947400" cy="1206500"/>
          </a:xfrm>
          <a:prstGeom prst="rect">
            <a:avLst/>
          </a:prstGeom>
        </p:spPr>
      </p:pic>
      <p:sp>
        <p:nvSpPr>
          <p:cNvPr id="9" name="TextBox 31">
            <a:extLst>
              <a:ext uri="{FF2B5EF4-FFF2-40B4-BE49-F238E27FC236}">
                <a16:creationId xmlns:a16="http://schemas.microsoft.com/office/drawing/2014/main" id="{DEC8F02A-1FB0-4038-AB08-98D60E49D48D}"/>
              </a:ext>
            </a:extLst>
          </p:cNvPr>
          <p:cNvSpPr txBox="1"/>
          <p:nvPr/>
        </p:nvSpPr>
        <p:spPr>
          <a:xfrm>
            <a:off x="901700" y="11814176"/>
            <a:ext cx="10947400" cy="1114424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태양광 발전이 증가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⇒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주간 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Net Load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는 감소하지만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시간대 </a:t>
            </a:r>
            <a:r>
              <a:rPr lang="ko-KR" altLang="en-US" sz="2400" spc="-72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램핑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부담은 오히려 증가</a:t>
            </a:r>
            <a:endParaRPr lang="en-US" altLang="ko-KR" sz="2400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덕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커브는 발전량의 문제가 아니라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수요와 공급의 시간대 불일치가 만든 구조적 결과이다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ko-KR" sz="24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4EA82-3FB6-C94C-BB82-5978FB0812BD}"/>
              </a:ext>
            </a:extLst>
          </p:cNvPr>
          <p:cNvSpPr txBox="1"/>
          <p:nvPr/>
        </p:nvSpPr>
        <p:spPr>
          <a:xfrm>
            <a:off x="1282699" y="4977300"/>
            <a:ext cx="104792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중계동 평균 전력 부하에서 이론적 태양광 발전을 차감하여 순 부하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(Net Load)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산출</a:t>
            </a:r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주간 시간대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Net Load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급감과 일몰 이후 급격한 </a:t>
            </a:r>
            <a:r>
              <a:rPr lang="ko-KR" altLang="en-US" sz="2400" dirty="0" err="1">
                <a:latin typeface="Pretendard Regular" panose="020B0600000101010101" charset="-127"/>
                <a:ea typeface="Pretendard Regular" panose="020B0600000101010101" charset="-127"/>
              </a:rPr>
              <a:t>랩핑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(Ramping)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구조가 동시에 발생</a:t>
            </a:r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E4289766-9D71-CF7C-311A-35805CFDBF1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11506200"/>
            <a:ext cx="10947400" cy="1447800"/>
          </a:xfrm>
          <a:prstGeom prst="rect">
            <a:avLst/>
          </a:prstGeom>
        </p:spPr>
      </p:pic>
      <p:sp>
        <p:nvSpPr>
          <p:cNvPr id="19" name="TextBox 31">
            <a:extLst>
              <a:ext uri="{FF2B5EF4-FFF2-40B4-BE49-F238E27FC236}">
                <a16:creationId xmlns:a16="http://schemas.microsoft.com/office/drawing/2014/main" id="{DEC8F02A-1FB0-4038-AB08-98D60E49D48D}"/>
              </a:ext>
            </a:extLst>
          </p:cNvPr>
          <p:cNvSpPr txBox="1"/>
          <p:nvPr/>
        </p:nvSpPr>
        <p:spPr>
          <a:xfrm>
            <a:off x="12547600" y="11506200"/>
            <a:ext cx="10947400" cy="14224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Method Note</a:t>
            </a:r>
          </a:p>
          <a:p>
            <a:pPr lvl="0">
              <a:lnSpc>
                <a:spcPct val="141100"/>
              </a:lnSpc>
            </a:pP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Net Load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는 전력 수요와 태양광 발전 간 시간대 불일치를 정량적으로 표현하기 위한 지표</a:t>
            </a:r>
            <a:b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이후 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ESS·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연료전지 개입 효과를 평가하는 기준선으로 활용된다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sz="2200" b="0" u="none" strike="noStrike" spc="-72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108" y="6457498"/>
            <a:ext cx="10418583" cy="464080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9426" y="5973684"/>
            <a:ext cx="10429350" cy="441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966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986B-615B-A08D-CC18-7D6020E0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">
            <a:extLst>
              <a:ext uri="{FF2B5EF4-FFF2-40B4-BE49-F238E27FC236}">
                <a16:creationId xmlns:a16="http://schemas.microsoft.com/office/drawing/2014/main" id="{035CA1BB-BC62-9D78-E222-320175C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4038050"/>
            <a:ext cx="10947400" cy="881435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DCB096E5-0DC2-5901-6CD6-D3AE6BEB57E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4140200"/>
            <a:ext cx="10947400" cy="881435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33CDF859-406B-054F-0387-5CDF218D0D03}"/>
              </a:ext>
            </a:extLst>
          </p:cNvPr>
          <p:cNvSpPr txBox="1"/>
          <p:nvPr/>
        </p:nvSpPr>
        <p:spPr>
          <a:xfrm>
            <a:off x="13970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용량 기준 설정 배경 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5C28C9A-2E5E-C574-D51F-17A0370FB523}"/>
              </a:ext>
            </a:extLst>
          </p:cNvPr>
          <p:cNvSpPr txBox="1"/>
          <p:nvPr/>
        </p:nvSpPr>
        <p:spPr>
          <a:xfrm>
            <a:off x="1282700" y="1968500"/>
            <a:ext cx="14947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용량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효율 가정 설정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0D87209-41D8-AAF5-CDBC-144B1DBADAC7}"/>
              </a:ext>
            </a:extLst>
          </p:cNvPr>
          <p:cNvSpPr txBox="1"/>
          <p:nvPr/>
        </p:nvSpPr>
        <p:spPr>
          <a:xfrm>
            <a:off x="1282700" y="3111500"/>
            <a:ext cx="19672300" cy="520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구조적 검증을 위한 기준선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(Anchor)</a:t>
            </a:r>
            <a:r>
              <a:rPr lang="en-US" altLang="ko-KR" sz="2933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3200" dirty="0">
                <a:latin typeface="Pretendard Regular" panose="020B0600000101010101" charset="-127"/>
                <a:ea typeface="Pretendard Regular" panose="020B0600000101010101" charset="-127"/>
              </a:rPr>
              <a:t>고정</a:t>
            </a:r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  <a: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 3.5MWh, </a:t>
            </a:r>
            <a:r>
              <a:rPr lang="el-GR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η=0.95</a:t>
            </a:r>
            <a:endParaRPr lang="en-US" alt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C92482-F836-B00E-32B5-1B75A5058AE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824DA709-ADE2-D7BB-A74C-9B49A3ECF86E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ESS Capacity &amp; Efficiency Assumption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B2D42C79-890F-C80B-F87A-36289E4C9426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A-010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086D50A6-44A4-BC5D-87E8-E2EF187B2BCC}"/>
              </a:ext>
            </a:extLst>
          </p:cNvPr>
          <p:cNvSpPr txBox="1"/>
          <p:nvPr/>
        </p:nvSpPr>
        <p:spPr>
          <a:xfrm>
            <a:off x="130429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용량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효율 가정 </a:t>
            </a:r>
            <a:r>
              <a:rPr lang="ko-KR" altLang="en-US" sz="3333" spc="-100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로직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E4289766-9D71-CF7C-311A-35805CFDBF1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47500"/>
            <a:ext cx="10947400" cy="1206500"/>
          </a:xfrm>
          <a:prstGeom prst="rect">
            <a:avLst/>
          </a:prstGeom>
        </p:spPr>
      </p:pic>
      <p:sp>
        <p:nvSpPr>
          <p:cNvPr id="9" name="TextBox 31">
            <a:extLst>
              <a:ext uri="{FF2B5EF4-FFF2-40B4-BE49-F238E27FC236}">
                <a16:creationId xmlns:a16="http://schemas.microsoft.com/office/drawing/2014/main" id="{DEC8F02A-1FB0-4038-AB08-98D60E49D48D}"/>
              </a:ext>
            </a:extLst>
          </p:cNvPr>
          <p:cNvSpPr txBox="1"/>
          <p:nvPr/>
        </p:nvSpPr>
        <p:spPr>
          <a:xfrm>
            <a:off x="901700" y="11814176"/>
            <a:ext cx="10947400" cy="1114424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Anchor 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Point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를 최적 설비 용량이 아닌 구조 </a:t>
            </a:r>
            <a:r>
              <a:rPr lang="ko-KR" altLang="en-US" sz="2400" spc="-72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검증용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기준선으로 설정하였다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</a:p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ESS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는 저녁 피크를 완화할 수 있으나 일정 용량 이후에는 한계 </a:t>
            </a:r>
            <a:r>
              <a:rPr lang="ko-KR" altLang="en-US" sz="2400" b="0" u="none" strike="noStrike" spc="-72" dirty="0" err="1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효익이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빠르게 감소한다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altLang="ko-KR" sz="24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4EA82-3FB6-C94C-BB82-5978FB0812BD}"/>
              </a:ext>
            </a:extLst>
          </p:cNvPr>
          <p:cNvSpPr txBox="1"/>
          <p:nvPr/>
        </p:nvSpPr>
        <p:spPr>
          <a:xfrm>
            <a:off x="1282699" y="4977300"/>
            <a:ext cx="104792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주거 </a:t>
            </a:r>
            <a:r>
              <a:rPr lang="ko-KR" altLang="en-US" sz="2400" dirty="0" err="1">
                <a:latin typeface="Pretendard Regular" panose="020B0600000101010101" charset="-127"/>
                <a:ea typeface="Pretendard Regular" panose="020B0600000101010101" charset="-127"/>
              </a:rPr>
              <a:t>밀집형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(Type B)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부하의 저녁 피크 시간대 기준으로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ESS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용량 증가에 따른 </a:t>
            </a:r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피크 상쇄 효율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(Marginal Utility)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변화를 분석 </a:t>
            </a:r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ESS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용량이 증가할수록 피크 완화 효과는 커지지만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약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3.5MWh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이후부터는 추가 용량 대비 효율 개선 폭이 급격히 감소</a:t>
            </a:r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E4289766-9D71-CF7C-311A-35805CFDBF1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11100350"/>
            <a:ext cx="10947400" cy="1853650"/>
          </a:xfrm>
          <a:prstGeom prst="rect">
            <a:avLst/>
          </a:prstGeom>
        </p:spPr>
      </p:pic>
      <p:sp>
        <p:nvSpPr>
          <p:cNvPr id="19" name="TextBox 31">
            <a:extLst>
              <a:ext uri="{FF2B5EF4-FFF2-40B4-BE49-F238E27FC236}">
                <a16:creationId xmlns:a16="http://schemas.microsoft.com/office/drawing/2014/main" id="{DEC8F02A-1FB0-4038-AB08-98D60E49D48D}"/>
              </a:ext>
            </a:extLst>
          </p:cNvPr>
          <p:cNvSpPr txBox="1"/>
          <p:nvPr/>
        </p:nvSpPr>
        <p:spPr>
          <a:xfrm>
            <a:off x="12547600" y="11100350"/>
            <a:ext cx="10947400" cy="182825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Method Note</a:t>
            </a:r>
          </a:p>
          <a:p>
            <a:pPr lvl="0">
              <a:lnSpc>
                <a:spcPct val="141100"/>
              </a:lnSpc>
            </a:pP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본 </a:t>
            </a:r>
            <a:r>
              <a:rPr lang="en-US" altLang="ko-KR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용량</a:t>
            </a:r>
            <a:r>
              <a:rPr lang="en-US" altLang="ko-KR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(3.5MWh) </a:t>
            </a:r>
            <a:r>
              <a:rPr lang="ko-KR" altLang="en-US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및 효율</a:t>
            </a:r>
            <a:r>
              <a:rPr lang="en-US" altLang="ko-KR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el-GR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η = 0.95</a:t>
            </a:r>
            <a:r>
              <a:rPr lang="en-US" altLang="ko-KR" sz="22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200" dirty="0">
                <a:latin typeface="Pretendard Regular" panose="020B0600000101010101" charset="-127"/>
                <a:ea typeface="Pretendard Regular" panose="020B0600000101010101" charset="-127"/>
              </a:rPr>
              <a:t>가정은 이후 모든 시나리오에서 변경되지 않는 공통 기준 조건으로 적용</a:t>
            </a:r>
            <a:b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목적은 설비 최적화가 아니라 동일 조건에서 단일 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구조의 한계를 명확히 드러내기 위함 </a:t>
            </a:r>
            <a:endParaRPr lang="ko-KR" sz="2200" b="0" u="none" strike="noStrike" spc="-72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5" name="그림 4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0CD2C-5CEA-3D8A-F68A-5163F8E7F5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067" y="6445808"/>
            <a:ext cx="8994666" cy="5330963"/>
          </a:xfrm>
          <a:prstGeom prst="rect">
            <a:avLst/>
          </a:prstGeom>
        </p:spPr>
      </p:pic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CF4B61-2911-7B8F-B25A-D346C612EBA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2126" y="5776403"/>
            <a:ext cx="10538347" cy="440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059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A965-013A-55C0-700E-3478DB53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">
            <a:extLst>
              <a:ext uri="{FF2B5EF4-FFF2-40B4-BE49-F238E27FC236}">
                <a16:creationId xmlns:a16="http://schemas.microsoft.com/office/drawing/2014/main" id="{4E966293-3CA3-A0AC-430C-CF393BFE31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4038050"/>
            <a:ext cx="10947400" cy="881435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02529BAE-0030-747C-CF51-999B96FD7A4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4140200"/>
            <a:ext cx="10947400" cy="881435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4D562395-A3C0-F084-74C3-52794CD8216C}"/>
              </a:ext>
            </a:extLst>
          </p:cNvPr>
          <p:cNvSpPr txBox="1"/>
          <p:nvPr/>
        </p:nvSpPr>
        <p:spPr>
          <a:xfrm>
            <a:off x="13970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시나리오 설정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BB52AED9-5D1F-5E33-47DC-600472696026}"/>
              </a:ext>
            </a:extLst>
          </p:cNvPr>
          <p:cNvSpPr txBox="1"/>
          <p:nvPr/>
        </p:nvSpPr>
        <p:spPr>
          <a:xfrm>
            <a:off x="1282700" y="1968500"/>
            <a:ext cx="14947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</a:t>
            </a:r>
            <a:r>
              <a:rPr lang="en-US" altLang="ko-KR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5333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적용 한계 검증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AD84B27-16E2-D218-FBA5-B45D7D4DC3F5}"/>
              </a:ext>
            </a:extLst>
          </p:cNvPr>
          <p:cNvSpPr txBox="1"/>
          <p:nvPr/>
        </p:nvSpPr>
        <p:spPr>
          <a:xfrm>
            <a:off x="1282700" y="3111500"/>
            <a:ext cx="19672300" cy="520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동일 기준선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3.5MWh, </a:t>
            </a:r>
            <a:r>
              <a:rPr lang="el-GR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η=0.95</a:t>
            </a:r>
            <a:r>
              <a:rPr lang="en-US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800" dirty="0">
                <a:latin typeface="Pretendard Regular" panose="020B0600000101010101" charset="-127"/>
                <a:ea typeface="Pretendard Regular" panose="020B0600000101010101" charset="-127"/>
              </a:rPr>
              <a:t>에서도 저녁 리스크는 잔존</a:t>
            </a:r>
            <a:endParaRPr lang="en-US" alt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77F9497-3D6E-D22F-619E-C604A00E616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31884CC5-70C6-3AD5-1D4B-35483E1270AF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Single ESS Limitation Check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35C9288D-173F-443B-9AEA-B9482A1C3B97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A-011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F576A292-2532-52FE-3D4B-1D572B8B143F}"/>
              </a:ext>
            </a:extLst>
          </p:cNvPr>
          <p:cNvSpPr txBox="1"/>
          <p:nvPr/>
        </p:nvSpPr>
        <p:spPr>
          <a:xfrm>
            <a:off x="130429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적용 로직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B1D09459-DB33-B2FE-3449-74AAEC67443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47500"/>
            <a:ext cx="10947400" cy="1206500"/>
          </a:xfrm>
          <a:prstGeom prst="rect">
            <a:avLst/>
          </a:prstGeom>
        </p:spPr>
      </p:pic>
      <p:sp>
        <p:nvSpPr>
          <p:cNvPr id="9" name="TextBox 31">
            <a:extLst>
              <a:ext uri="{FF2B5EF4-FFF2-40B4-BE49-F238E27FC236}">
                <a16:creationId xmlns:a16="http://schemas.microsoft.com/office/drawing/2014/main" id="{1DF6FB95-10FD-9AC6-EC7B-891E47C78EC9}"/>
              </a:ext>
            </a:extLst>
          </p:cNvPr>
          <p:cNvSpPr txBox="1"/>
          <p:nvPr/>
        </p:nvSpPr>
        <p:spPr>
          <a:xfrm>
            <a:off x="901700" y="11814176"/>
            <a:ext cx="10947400" cy="1114424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는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시간 이동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은 가능하지만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피크의 구조 자체를 제거하진 못했다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altLang="ko-KR" sz="2400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즉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Evening Risk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는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만으로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완전 상쇄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아니라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“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부분 완화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”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 끝난다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C07618-85A1-0A52-C1C8-135A30530102}"/>
              </a:ext>
            </a:extLst>
          </p:cNvPr>
          <p:cNvSpPr txBox="1"/>
          <p:nvPr/>
        </p:nvSpPr>
        <p:spPr>
          <a:xfrm>
            <a:off x="1282699" y="4977300"/>
            <a:ext cx="104792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Anchor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고정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ESS 3.5MWh,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효율 </a:t>
            </a:r>
            <a:r>
              <a:rPr lang="el-G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η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= 0.95</a:t>
            </a: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운영 가정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주간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(11-14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충전 ⇒ 저녁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(18-21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방전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검증 목적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최적화가 아니라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단일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만으로 구조 해결이 가능한가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?”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확인 </a:t>
            </a:r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D675DFF3-D074-FF86-0257-0CB41C31884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11100350"/>
            <a:ext cx="10947400" cy="1853650"/>
          </a:xfrm>
          <a:prstGeom prst="rect">
            <a:avLst/>
          </a:prstGeom>
        </p:spPr>
      </p:pic>
      <p:sp>
        <p:nvSpPr>
          <p:cNvPr id="19" name="TextBox 31">
            <a:extLst>
              <a:ext uri="{FF2B5EF4-FFF2-40B4-BE49-F238E27FC236}">
                <a16:creationId xmlns:a16="http://schemas.microsoft.com/office/drawing/2014/main" id="{CBD2AA4D-819F-C6E5-1654-DF9425246AA9}"/>
              </a:ext>
            </a:extLst>
          </p:cNvPr>
          <p:cNvSpPr txBox="1"/>
          <p:nvPr/>
        </p:nvSpPr>
        <p:spPr>
          <a:xfrm>
            <a:off x="12547600" y="11100350"/>
            <a:ext cx="10947400" cy="182825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Method Note</a:t>
            </a:r>
          </a:p>
          <a:p>
            <a:pPr lvl="0">
              <a:lnSpc>
                <a:spcPct val="141100"/>
              </a:lnSpc>
            </a:pP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본 시나리오는 용량 </a:t>
            </a:r>
            <a:r>
              <a:rPr lang="en-US" altLang="ko-KR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/ </a:t>
            </a:r>
            <a:r>
              <a:rPr lang="ko-KR" altLang="en-US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효율을 고정한 구조 검증이며</a:t>
            </a:r>
            <a:r>
              <a:rPr lang="en-US" altLang="ko-KR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최적 제어를 목표로 하지 않는다</a:t>
            </a:r>
            <a:r>
              <a:rPr lang="en-US" altLang="ko-KR" sz="2200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b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결과는 단일 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 저녁 피크를 완화하더라도 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“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잔존 리스크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”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 남는 구조임을 확인한다</a:t>
            </a:r>
            <a:r>
              <a:rPr lang="en-US" altLang="ko-KR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r>
              <a:rPr lang="ko-KR" altLang="en-US" sz="2200" b="0" u="none" strike="noStrike" spc="-72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ko-KR" sz="2200" b="0" u="none" strike="noStrike" spc="-72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16" name="그림 15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1F8644-6414-7153-3D31-6AA3943FE5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846" y="6578384"/>
            <a:ext cx="10637108" cy="4768360"/>
          </a:xfrm>
          <a:prstGeom prst="rect">
            <a:avLst/>
          </a:prstGeom>
        </p:spPr>
      </p:pic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6E2A7F-8589-D479-5F9E-DFFA9DBD41E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8198" y="5079450"/>
            <a:ext cx="10646204" cy="578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07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6347-59F8-FE80-0CC6-B5880DA8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">
            <a:extLst>
              <a:ext uri="{FF2B5EF4-FFF2-40B4-BE49-F238E27FC236}">
                <a16:creationId xmlns:a16="http://schemas.microsoft.com/office/drawing/2014/main" id="{DBD7FD56-01EB-F39B-0D1F-659217CC664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47600" y="4038050"/>
            <a:ext cx="10947400" cy="881435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A51E47F3-3887-3129-D48D-9B4B1F369D8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4140200"/>
            <a:ext cx="10947400" cy="881435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659ECDC8-1938-5977-CCA4-FD105843A24E}"/>
              </a:ext>
            </a:extLst>
          </p:cNvPr>
          <p:cNvSpPr txBox="1"/>
          <p:nvPr/>
        </p:nvSpPr>
        <p:spPr>
          <a:xfrm>
            <a:off x="13970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Hybrid ESS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+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Fuel Cell </a:t>
            </a: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적용 결과 </a:t>
            </a:r>
            <a:r>
              <a:rPr lang="en-US" altLang="ko-KR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(Net Load)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5D38A2C9-69B4-CA78-D588-7A9E3E9CAE33}"/>
              </a:ext>
            </a:extLst>
          </p:cNvPr>
          <p:cNvSpPr txBox="1"/>
          <p:nvPr/>
        </p:nvSpPr>
        <p:spPr>
          <a:xfrm>
            <a:off x="1282700" y="1968500"/>
            <a:ext cx="14947900" cy="952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5333" b="0" i="0" u="none" strike="noStrike" spc="-16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하이브리드 설비 조합 효과 검증</a:t>
            </a:r>
            <a:endParaRPr lang="ko-KR" sz="5333" b="0" i="0" u="none" strike="noStrike" spc="-16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ACD3E85C-13B6-35FC-2245-663E7EC43CE7}"/>
              </a:ext>
            </a:extLst>
          </p:cNvPr>
          <p:cNvSpPr txBox="1"/>
          <p:nvPr/>
        </p:nvSpPr>
        <p:spPr>
          <a:xfrm>
            <a:off x="1282700" y="3111500"/>
            <a:ext cx="19672300" cy="520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Net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Load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기준에서 단일 </a:t>
            </a:r>
            <a:r>
              <a:rPr lang="en-US" altLang="ko-KR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933" b="0" i="0" u="none" strike="noStrike" spc="-88" dirty="0">
                <a:solidFill>
                  <a:srgbClr val="22222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한계를 보완하는 역할 분담 구조</a:t>
            </a:r>
            <a:endParaRPr lang="en-US" altLang="ko-KR" sz="2933" b="0" i="0" u="none" strike="noStrike" spc="-88" dirty="0">
              <a:solidFill>
                <a:srgbClr val="22222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26943D5-6D5D-82BA-9DB8-1215383F848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01700" y="685800"/>
            <a:ext cx="22593300" cy="762000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C6F76067-4900-7CE6-3519-8775A016F298}"/>
              </a:ext>
            </a:extLst>
          </p:cNvPr>
          <p:cNvSpPr txBox="1"/>
          <p:nvPr/>
        </p:nvSpPr>
        <p:spPr>
          <a:xfrm>
            <a:off x="1270000" y="901700"/>
            <a:ext cx="9702800" cy="355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dirty="0">
                <a:latin typeface="Gmarket Sans Bold" panose="020B0600000101010101" charset="-127"/>
                <a:ea typeface="Gmarket Sans Bold" panose="020B0600000101010101" charset="-127"/>
              </a:rPr>
              <a:t>[Appendix] Hybrid Resource Validation (Net Load Baseline)</a:t>
            </a:r>
            <a:endParaRPr lang="en" sz="2000" i="0" u="none" strike="noStrike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0ADB0275-229F-6C01-3FC9-E4249BA0B5BA}"/>
              </a:ext>
            </a:extLst>
          </p:cNvPr>
          <p:cNvSpPr txBox="1"/>
          <p:nvPr/>
        </p:nvSpPr>
        <p:spPr>
          <a:xfrm>
            <a:off x="21945600" y="889000"/>
            <a:ext cx="1155700" cy="368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en" sz="2000" i="0" u="none" strike="noStrike" spc="40" dirty="0">
                <a:latin typeface="Gmarket Sans Bold" panose="020B0600000101010101" charset="-127"/>
                <a:ea typeface="Gmarket Sans Bold" panose="020B0600000101010101" charset="-127"/>
              </a:rPr>
              <a:t>A-012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B6AE1694-3A47-6246-BB4D-7625573B9DFD}"/>
              </a:ext>
            </a:extLst>
          </p:cNvPr>
          <p:cNvSpPr txBox="1"/>
          <p:nvPr/>
        </p:nvSpPr>
        <p:spPr>
          <a:xfrm>
            <a:off x="13042900" y="4260300"/>
            <a:ext cx="8978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333" spc="-1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하이브리드 적용 로직</a:t>
            </a:r>
            <a:endParaRPr lang="ko-KR" sz="3333" b="0" i="0" u="none" strike="noStrike" spc="-100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700B16BA-3079-A08C-0458-AA258177EBB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1700" y="11747500"/>
            <a:ext cx="10947400" cy="1206500"/>
          </a:xfrm>
          <a:prstGeom prst="rect">
            <a:avLst/>
          </a:prstGeom>
        </p:spPr>
      </p:pic>
      <p:sp>
        <p:nvSpPr>
          <p:cNvPr id="9" name="TextBox 31">
            <a:extLst>
              <a:ext uri="{FF2B5EF4-FFF2-40B4-BE49-F238E27FC236}">
                <a16:creationId xmlns:a16="http://schemas.microsoft.com/office/drawing/2014/main" id="{D705767C-5656-0271-48A6-E78FD3C34AAD}"/>
              </a:ext>
            </a:extLst>
          </p:cNvPr>
          <p:cNvSpPr txBox="1"/>
          <p:nvPr/>
        </p:nvSpPr>
        <p:spPr>
          <a:xfrm>
            <a:off x="901700" y="11814176"/>
            <a:ext cx="10947400" cy="1114424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41100"/>
              </a:lnSpc>
            </a:pP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단일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ESS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는 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Net Load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시간 이동만 수행하며</a:t>
            </a: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저녁 시간대의 구조적 불일치 해소하지 못함</a:t>
            </a:r>
            <a:endParaRPr lang="en-US" altLang="ko-KR" sz="24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>
              <a:lnSpc>
                <a:spcPct val="141100"/>
              </a:lnSpc>
            </a:pPr>
            <a:r>
              <a:rPr lang="en-US" altLang="ko-KR" sz="2400" b="0" u="none" strike="noStrike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연료전지를 결합할 경우 기저부하 감소 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+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피크 완화 동시에 발생하며</a:t>
            </a:r>
            <a:r>
              <a:rPr lang="en-US" altLang="ko-KR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400" spc="-72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구조적 완화 가능</a:t>
            </a:r>
            <a:endParaRPr lang="en-US" altLang="ko-KR" sz="2400" b="0" u="none" strike="noStrike" spc="-72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89E3C-D4CC-39FD-D861-BDA56416CEFE}"/>
              </a:ext>
            </a:extLst>
          </p:cNvPr>
          <p:cNvSpPr txBox="1"/>
          <p:nvPr/>
        </p:nvSpPr>
        <p:spPr>
          <a:xfrm>
            <a:off x="1282699" y="4977300"/>
            <a:ext cx="104792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Baseline: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태양광 반영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Net Load  </a:t>
            </a: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ESS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3.5MWh, </a:t>
            </a:r>
            <a:r>
              <a:rPr lang="el-G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η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= 0.95</a:t>
            </a: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Fuel Cell: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고정 출력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(Base Load)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가정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목적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단일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ESS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이후에도 남는 시간대 리스크 완화 가능성 검증 </a:t>
            </a:r>
          </a:p>
        </p:txBody>
      </p:sp>
      <p:pic>
        <p:nvPicPr>
          <p:cNvPr id="5" name="그림 4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12DBA0-F5AD-884E-E104-EB0835EFE3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04" y="6953287"/>
            <a:ext cx="10726991" cy="4387885"/>
          </a:xfrm>
          <a:prstGeom prst="rect">
            <a:avLst/>
          </a:prstGeom>
        </p:spPr>
      </p:pic>
      <p:pic>
        <p:nvPicPr>
          <p:cNvPr id="6" name="그림 5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2966CD-D5FD-D883-58B0-79C4D04E95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850" y="4977300"/>
            <a:ext cx="8978900" cy="779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34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5947</TotalTime>
  <Words>11183</Words>
  <Application>Microsoft Office PowerPoint</Application>
  <PresentationFormat>사용자 지정</PresentationFormat>
  <Paragraphs>1184</Paragraphs>
  <Slides>50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2" baseType="lpstr">
      <vt:lpstr>Pretendard SemiBold</vt:lpstr>
      <vt:lpstr>Pretendard Regular</vt:lpstr>
      <vt:lpstr>Pretendard ExtraLight</vt:lpstr>
      <vt:lpstr>Consolas</vt:lpstr>
      <vt:lpstr>Pretendard Medium</vt:lpstr>
      <vt:lpstr>Calibri</vt:lpstr>
      <vt:lpstr>나눔고딕</vt:lpstr>
      <vt:lpstr>Gmarket Sans Bold</vt:lpstr>
      <vt:lpstr>Arial</vt:lpstr>
      <vt:lpstr>Noto Sans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Doo Hee Won</cp:lastModifiedBy>
  <cp:revision>143</cp:revision>
  <dcterms:created xsi:type="dcterms:W3CDTF">2006-08-16T00:00:00Z</dcterms:created>
  <dcterms:modified xsi:type="dcterms:W3CDTF">2026-01-13T12:46:08Z</dcterms:modified>
</cp:coreProperties>
</file>